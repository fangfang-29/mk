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6.svg" ContentType="image/svg+xml"/>
  <Override PartName="/ppt/media/image18.svg" ContentType="image/svg+xml"/>
  <Override PartName="/ppt/media/image2.svg" ContentType="image/svg+xml"/>
  <Override PartName="/ppt/media/image23.svg" ContentType="image/svg+xml"/>
  <Override PartName="/ppt/media/image25.svg" ContentType="image/svg+xml"/>
  <Override PartName="/ppt/media/image36.svg" ContentType="image/svg+xml"/>
  <Override PartName="/ppt/media/image4.svg" ContentType="image/svg+xml"/>
  <Override PartName="/ppt/media/image50.svg" ContentType="image/svg+xml"/>
  <Override PartName="/ppt/media/image52.svg" ContentType="image/svg+xml"/>
  <Override PartName="/ppt/media/image54.svg" ContentType="image/svg+xml"/>
  <Override PartName="/ppt/media/image6.svg" ContentType="image/svg+xml"/>
  <Override PartName="/ppt/media/image6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34"/>
  </p:handoutMasterIdLst>
  <p:sldIdLst>
    <p:sldId id="16768026" r:id="rId3"/>
    <p:sldId id="16768066" r:id="rId5"/>
    <p:sldId id="14999385" r:id="rId6"/>
    <p:sldId id="16768067" r:id="rId7"/>
    <p:sldId id="16768069" r:id="rId8"/>
    <p:sldId id="16768071" r:id="rId9"/>
    <p:sldId id="16768057" r:id="rId10"/>
    <p:sldId id="16768072" r:id="rId11"/>
    <p:sldId id="16768073" r:id="rId12"/>
    <p:sldId id="16768088" r:id="rId13"/>
    <p:sldId id="16768058" r:id="rId14"/>
    <p:sldId id="16768077" r:id="rId15"/>
    <p:sldId id="295" r:id="rId16"/>
    <p:sldId id="16768089" r:id="rId17"/>
    <p:sldId id="14999384" r:id="rId18"/>
    <p:sldId id="16768078" r:id="rId19"/>
    <p:sldId id="16768093" r:id="rId20"/>
    <p:sldId id="16768084" r:id="rId21"/>
    <p:sldId id="16768079" r:id="rId22"/>
    <p:sldId id="16768083" r:id="rId23"/>
    <p:sldId id="16768082" r:id="rId24"/>
    <p:sldId id="16768085" r:id="rId25"/>
    <p:sldId id="16768086" r:id="rId26"/>
    <p:sldId id="16768087" r:id="rId27"/>
    <p:sldId id="298" r:id="rId28"/>
    <p:sldId id="16768074" r:id="rId29"/>
    <p:sldId id="16768075" r:id="rId30"/>
    <p:sldId id="16768095" r:id="rId31"/>
    <p:sldId id="16768094" r:id="rId32"/>
    <p:sldId id="16768097" r:id="rId33"/>
  </p:sldIdLst>
  <p:sldSz cx="12192000" cy="6858000"/>
  <p:notesSz cx="6858000" cy="9144000"/>
  <p:embeddedFontLst>
    <p:embeddedFont>
      <p:font typeface="Boehringer Forward Text" panose="02000500000000020000" pitchFamily="2" charset="0"/>
      <p:regular r:id="rId39"/>
      <p:bold r:id="rId40"/>
      <p:italic r:id="rId41"/>
      <p:boldItalic r:id="rId42"/>
    </p:embeddedFont>
    <p:embeddedFont>
      <p:font typeface="Cambria Math" panose="02040503050406030204" pitchFamily="18" charset="0"/>
      <p:regular r:id="rId43"/>
    </p:embeddedFont>
    <p:embeddedFont>
      <p:font typeface="Boehringer Forward Head" panose="02000500000000020000" pitchFamily="34" charset="0"/>
      <p:regular r:id="rId44"/>
      <p:bold r:id="rId45"/>
      <p:italic r:id="rId46"/>
      <p:boldItalic r:id="rId47"/>
    </p:embeddedFont>
    <p:embeddedFont>
      <p:font typeface="League Gothic" panose="020B0604020202020204"/>
      <p:regular r:id="rId48"/>
    </p:embeddedFont>
    <p:embeddedFont>
      <p:font typeface="Roboto" panose="02000000000000000000"/>
      <p:regular r:id="rId49"/>
      <p:bold r:id="rId50"/>
      <p:italic r:id="rId51"/>
      <p:boldItalic r:id="rId52"/>
    </p:embeddedFont>
    <p:embeddedFont>
      <p:font typeface="Montserrat Bold" panose="00000800000000000000"/>
      <p:bold r:id="rId53"/>
    </p:embeddedFont>
    <p:embeddedFont>
      <p:font typeface="Montserrat" panose="00000500000000000000"/>
      <p:regular r:id="rId54"/>
      <p:bold r:id="rId55"/>
      <p:italic r:id="rId56"/>
      <p:boldItalic r:id="rId57"/>
    </p:embeddedFont>
  </p:embeddedFontLst>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4E3F5B00-FF7A-4FA2-9329-3390D206BCD0}">
          <p14:sldIdLst>
            <p14:sldId id="16768026"/>
            <p14:sldId id="16768066"/>
            <p14:sldId id="14999385"/>
            <p14:sldId id="16768067"/>
            <p14:sldId id="16768069"/>
            <p14:sldId id="16768071"/>
            <p14:sldId id="16768057"/>
            <p14:sldId id="16768072"/>
            <p14:sldId id="16768073"/>
            <p14:sldId id="16768088"/>
            <p14:sldId id="16768058"/>
            <p14:sldId id="16768077"/>
            <p14:sldId id="295"/>
            <p14:sldId id="16768089"/>
            <p14:sldId id="14999384"/>
            <p14:sldId id="16768078"/>
            <p14:sldId id="16768093"/>
            <p14:sldId id="16768084"/>
            <p14:sldId id="16768079"/>
            <p14:sldId id="16768083"/>
            <p14:sldId id="16768082"/>
            <p14:sldId id="16768085"/>
            <p14:sldId id="16768086"/>
            <p14:sldId id="16768087"/>
            <p14:sldId id="298"/>
            <p14:sldId id="16768074"/>
            <p14:sldId id="16768075"/>
            <p14:sldId id="16768095"/>
            <p14:sldId id="16768094"/>
            <p14:sldId id="16768097"/>
          </p14:sldIdLst>
        </p14:section>
        <p14:section name="Appendix" id="{DF53BB78-2793-584E-843A-1D5DBD7841D6}">
          <p14:sldIdLst/>
        </p14:section>
        <p14:section name="Relationship and comparison" id="{55B4F77A-16AD-49E0-99FD-09E76E03A023}">
          <p14:sldIdLst/>
        </p14:section>
        <p14:section name="Images" id="{D8B4B6C0-2570-4F35-963C-A21B9462D0E9}">
          <p14:sldIdLst/>
        </p14:section>
        <p14:section name="Processes, phases and timelines" id="{38EC3280-B20D-42C4-A1EF-3E573354439F}">
          <p14:sldIdLst/>
        </p14:section>
        <p14:section name="Organization" id="{46F6AB8C-71E6-49BE-BB9A-217198764CE0}">
          <p14:sldIdLst/>
        </p14:section>
        <p14:section name="Tables" id="{6A76B202-AFBE-45B9-8F25-54007BB1C8B4}">
          <p14:sldIdLst/>
        </p14:section>
        <p14:section name="Data visualization" id="{F69075F6-322E-40AD-837D-3BB0F7F74063}">
          <p14:sldIdLst/>
        </p14:section>
        <p14:section name="Maps" id="{A39E0F27-E25A-4BDE-B699-C2C10F919716}">
          <p14:sldIdLst/>
        </p14:section>
        <p14:section name="Static elements" id="{52D273A9-8C6E-4236-ACA1-D6B3CFB6C555}">
          <p14:sldIdLst/>
        </p14:section>
        <p14:section name="Dynamic elements" id="{8CF8B2C5-BE98-4D6D-BF6D-0FA75FB85BA2}">
          <p14:sldIdLst/>
        </p14:section>
        <p14:section name="Title slides with internal branding" id="{58F22B56-BA93-4CF6-B91E-9612A113A2D5}">
          <p14:sldIdLst/>
        </p14:section>
        <p14:section name="Outro slides" id="{078342A2-34F1-2C48-834B-85C43680668E}">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47C"/>
    <a:srgbClr val="08312A"/>
    <a:srgbClr val="EFEEEB"/>
    <a:srgbClr val="FFFFFF"/>
    <a:srgbClr val="F6F5F3"/>
    <a:srgbClr val="E5F5E1"/>
    <a:srgbClr val="E5E3DE"/>
    <a:srgbClr val="EDFAFC"/>
    <a:srgbClr val="CFFAFB"/>
    <a:srgbClr val="D2F2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D7B26C5-4107-4FEC-AEDC-1716B250A1EF}">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8321" autoAdjust="0"/>
  </p:normalViewPr>
  <p:slideViewPr>
    <p:cSldViewPr>
      <p:cViewPr varScale="1">
        <p:scale>
          <a:sx n="65" d="100"/>
          <a:sy n="65" d="100"/>
        </p:scale>
        <p:origin x="736" y="80"/>
      </p:cViewPr>
      <p:guideLst/>
    </p:cSldViewPr>
  </p:slideViewPr>
  <p:outlineViewPr>
    <p:cViewPr>
      <p:scale>
        <a:sx n="33" d="100"/>
        <a:sy n="33" d="100"/>
      </p:scale>
      <p:origin x="0" y="-3192"/>
    </p:cViewPr>
  </p:outlineViewPr>
  <p:notesTextViewPr>
    <p:cViewPr>
      <p:scale>
        <a:sx n="75" d="100"/>
        <a:sy n="75" d="100"/>
      </p:scale>
      <p:origin x="0" y="0"/>
    </p:cViewPr>
  </p:notesTextViewPr>
  <p:sorterViewPr>
    <p:cViewPr varScale="1">
      <p:scale>
        <a:sx n="1" d="1"/>
        <a:sy n="1" d="1"/>
      </p:scale>
      <p:origin x="0" y="-49098"/>
    </p:cViewPr>
  </p:sorterViewPr>
  <p:notesViewPr>
    <p:cSldViewPr>
      <p:cViewPr varScale="1">
        <p:scale>
          <a:sx n="122" d="100"/>
          <a:sy n="122" d="100"/>
        </p:scale>
        <p:origin x="3096" y="19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1" Type="http://schemas.openxmlformats.org/officeDocument/2006/relationships/tags" Target="tags/tag13.xml"/><Relationship Id="rId60" Type="http://schemas.openxmlformats.org/officeDocument/2006/relationships/customXml" Target="../customXml/item3.xml"/><Relationship Id="rId6" Type="http://schemas.openxmlformats.org/officeDocument/2006/relationships/slide" Target="slides/slide3.xml"/><Relationship Id="rId59" Type="http://schemas.openxmlformats.org/officeDocument/2006/relationships/customXml" Target="../customXml/item2.xml"/><Relationship Id="rId58" Type="http://schemas.openxmlformats.org/officeDocument/2006/relationships/customXml" Target="../customXml/item1.xml"/><Relationship Id="rId57" Type="http://schemas.openxmlformats.org/officeDocument/2006/relationships/font" Target="fonts/font19.fntdata"/><Relationship Id="rId56" Type="http://schemas.openxmlformats.org/officeDocument/2006/relationships/font" Target="fonts/font18.fntdata"/><Relationship Id="rId55" Type="http://schemas.openxmlformats.org/officeDocument/2006/relationships/font" Target="fonts/font17.fntdata"/><Relationship Id="rId54" Type="http://schemas.openxmlformats.org/officeDocument/2006/relationships/font" Target="fonts/font16.fntdata"/><Relationship Id="rId53" Type="http://schemas.openxmlformats.org/officeDocument/2006/relationships/font" Target="fonts/font15.fntdata"/><Relationship Id="rId52" Type="http://schemas.openxmlformats.org/officeDocument/2006/relationships/font" Target="fonts/font14.fntdata"/><Relationship Id="rId51" Type="http://schemas.openxmlformats.org/officeDocument/2006/relationships/font" Target="fonts/font13.fntdata"/><Relationship Id="rId50" Type="http://schemas.openxmlformats.org/officeDocument/2006/relationships/font" Target="fonts/font12.fntdata"/><Relationship Id="rId5" Type="http://schemas.openxmlformats.org/officeDocument/2006/relationships/slide" Target="slides/slide2.xml"/><Relationship Id="rId49" Type="http://schemas.openxmlformats.org/officeDocument/2006/relationships/font" Target="fonts/font11.fntdata"/><Relationship Id="rId48" Type="http://schemas.openxmlformats.org/officeDocument/2006/relationships/font" Target="fonts/font10.fntdata"/><Relationship Id="rId47" Type="http://schemas.openxmlformats.org/officeDocument/2006/relationships/font" Target="fonts/font9.fntdata"/><Relationship Id="rId46" Type="http://schemas.openxmlformats.org/officeDocument/2006/relationships/font" Target="fonts/font8.fntdata"/><Relationship Id="rId45" Type="http://schemas.openxmlformats.org/officeDocument/2006/relationships/font" Target="fonts/font7.fntdata"/><Relationship Id="rId44" Type="http://schemas.openxmlformats.org/officeDocument/2006/relationships/font" Target="fonts/font6.fntdata"/><Relationship Id="rId43" Type="http://schemas.openxmlformats.org/officeDocument/2006/relationships/font" Target="fonts/font5.fntdata"/><Relationship Id="rId42" Type="http://schemas.openxmlformats.org/officeDocument/2006/relationships/font" Target="fonts/font4.fntdata"/><Relationship Id="rId41" Type="http://schemas.openxmlformats.org/officeDocument/2006/relationships/font" Target="fonts/font3.fntdata"/><Relationship Id="rId40" Type="http://schemas.openxmlformats.org/officeDocument/2006/relationships/font" Target="fonts/font2.fntdata"/><Relationship Id="rId4" Type="http://schemas.openxmlformats.org/officeDocument/2006/relationships/notesMaster" Target="notesMasters/notesMaster1.xml"/><Relationship Id="rId39" Type="http://schemas.openxmlformats.org/officeDocument/2006/relationships/font" Target="fonts/font1.fntdata"/><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dirty="0">
                <a:solidFill>
                  <a:schemeClr val="bg2"/>
                </a:solidFill>
                <a:latin typeface="Boehringer Forward Text" panose="02000500000000020000" pitchFamily="2" charset="0"/>
              </a:rPr>
              <a:t>Presentation title    |    ONLY FOR INTERNAL USE</a:t>
            </a:r>
            <a:endParaRPr lang="en-US" sz="800" dirty="0">
              <a:solidFill>
                <a:schemeClr val="bg2"/>
              </a:solidFill>
              <a:latin typeface="Boehringer Forward Text" panose="02000500000000020000" pitchFamily="2" charset="0"/>
            </a:endParaRPr>
          </a:p>
        </p:txBody>
      </p:sp>
      <p:sp>
        <p:nvSpPr>
          <p:cNvPr id="5" name="Slide Number Placeholder 4"/>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fld>
            <a:endParaRPr lang="en-US" sz="800" dirty="0">
              <a:solidFill>
                <a:schemeClr val="bg2"/>
              </a:solidFill>
              <a:latin typeface="Boehringer Forward Text" panose="02000500000000020000" pitchFamily="2" charset="0"/>
            </a:endParaRPr>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Nineth level</a:t>
            </a:r>
            <a:endParaRPr lang="en-US" dirty="0"/>
          </a:p>
        </p:txBody>
      </p:sp>
      <p:sp>
        <p:nvSpPr>
          <p:cNvPr id="8" name="Footer Placeholder 3"/>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dirty="0">
                <a:solidFill>
                  <a:schemeClr val="bg2"/>
                </a:solidFill>
              </a:rPr>
              <a:t>Presentation title    |    ONLY FOR INTERNAL USE</a:t>
            </a:r>
            <a:endParaRPr lang="en-US" sz="800" dirty="0">
              <a:solidFill>
                <a:schemeClr val="bg2"/>
              </a:solidFill>
            </a:endParaRPr>
          </a:p>
        </p:txBody>
      </p:sp>
      <p:sp>
        <p:nvSpPr>
          <p:cNvPr id="9" name="Slide Number Placeholder 4"/>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fld>
            <a:endParaRPr lang="en-US" sz="800" dirty="0">
              <a:solidFill>
                <a:schemeClr val="bg2"/>
              </a:solidFill>
            </a:endParaRPr>
          </a:p>
        </p:txBody>
      </p:sp>
    </p:spTree>
  </p:cSld>
  <p:clrMap bg1="lt1" tx1="dk1" bg2="lt2" tx2="dk2" accent1="accent1" accent2="accent2" accent3="accent3" accent4="accent4" accent5="accent5" accent6="accent6" hlink="hlink" folHlink="folHlink"/>
  <p:hf hdr="0" dt="0"/>
  <p:notesStyle>
    <a:lvl1pPr marL="144145"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2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180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5945"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90" indent="-144145"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lienbildplatzhalter 13"/>
          <p:cNvSpPr>
            <a:spLocks noGrp="1" noRot="1" noChangeAspect="1"/>
          </p:cNvSpPr>
          <p:nvPr>
            <p:ph type="sldImg"/>
          </p:nvPr>
        </p:nvSpPr>
        <p:spPr>
          <a:xfrm>
            <a:off x="476250" y="611188"/>
            <a:ext cx="5903913" cy="3321050"/>
          </a:xfrm>
        </p:spPr>
      </p:sp>
      <p:sp>
        <p:nvSpPr>
          <p:cNvPr id="15" name="Notizenplatzhalter 14"/>
          <p:cNvSpPr>
            <a:spLocks noGrp="1"/>
          </p:cNvSpPr>
          <p:nvPr>
            <p:ph type="body" idx="1"/>
          </p:nvPr>
        </p:nvSpPr>
        <p:spPr/>
        <p:txBody>
          <a:bodyPr/>
          <a:lstStyle/>
          <a:p>
            <a:endParaRPr lang="de-DE"/>
          </a:p>
        </p:txBody>
      </p:sp>
      <p:sp>
        <p:nvSpPr>
          <p:cNvPr id="16"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7"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a:solidFill>
                <a:schemeClr val="bg2"/>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r>
              <a:rPr lang="de-DE" sz="4000" dirty="0"/>
              <a:t>Why Predictive probability? – Because we typically use Bayesian models and it‘s based on some data that we have, like our Phase II data, external data, or something else. We are predicting the likelihood of succes of the Phase III trial.</a:t>
            </a:r>
            <a:endParaRPr lang="de-DE" sz="4000"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a:solidFill>
                <a:schemeClr val="bg2"/>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a:solidFill>
                <a:schemeClr val="bg2"/>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43CEB81-BC61-4A84-8DAE-DBAB1497A1FC}" type="slidenum">
              <a:rPr lang="de-DE" smtClean="0"/>
            </a:fld>
            <a:endParaRPr lang="de-D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r>
              <a:rPr lang="de-DE" sz="4800" b="1" dirty="0"/>
              <a:t>The intuition is that in our project, the indication historically shows large gaps between Phase II and Phase III performance, so incorporating past evidence helps us capture the indication effect rather than attributing everything to the compound.</a:t>
            </a:r>
            <a:endParaRPr lang="de-DE" sz="4800" b="1" dirty="0"/>
          </a:p>
          <a:p>
            <a:endParaRPr lang="de-DE" sz="4800" dirty="0"/>
          </a:p>
          <a:p>
            <a:r>
              <a:rPr lang="de-DE" sz="4800" dirty="0"/>
              <a:t>We try to look for compounds that have similar mechanisms of action and try to identify compounds.</a:t>
            </a:r>
            <a:endParaRPr lang="de-DE" sz="4800" dirty="0"/>
          </a:p>
          <a:p>
            <a:r>
              <a:rPr lang="de-DE" sz="4800" dirty="0"/>
              <a:t>Phase III trials historically have a very low success rate, even when Phase II results look promising. So when we incorporate data into the model, the intention is to capture what may be an indication effect rather than a compund-specific effect. In other word, this disease area is inherently difficult.</a:t>
            </a:r>
            <a:endParaRPr lang="de-DE" sz="4800" dirty="0"/>
          </a:p>
          <a:p>
            <a:r>
              <a:rPr lang="de-DE" sz="4800" dirty="0"/>
              <a:t>There might be more of an indication effect rather than a compund. Causes: unclear disease mechanism</a:t>
            </a:r>
            <a:endParaRPr lang="de-DE" sz="4800" dirty="0"/>
          </a:p>
        </p:txBody>
      </p:sp>
      <p:sp>
        <p:nvSpPr>
          <p:cNvPr id="4" name="Foliennummernplatzhalter 3"/>
          <p:cNvSpPr>
            <a:spLocks noGrp="1"/>
          </p:cNvSpPr>
          <p:nvPr>
            <p:ph type="sldNum" sz="quarter" idx="10"/>
          </p:nvPr>
        </p:nvSpPr>
        <p:spPr/>
        <p:txBody>
          <a:bodyPr/>
          <a:lstStyle/>
          <a:p>
            <a:fld id="{543CEB81-BC61-4A84-8DAE-DBAB1497A1FC}" type="slidenum">
              <a:rPr lang="de-DE" smtClean="0"/>
            </a:fld>
            <a:endParaRPr lang="de-D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r>
              <a:rPr lang="de-DE" dirty="0"/>
              <a:t>The likelihood: one is normal, the other is truncated normal.</a:t>
            </a:r>
            <a:endParaRPr lang="de-DE" dirty="0"/>
          </a:p>
        </p:txBody>
      </p:sp>
      <p:sp>
        <p:nvSpPr>
          <p:cNvPr id="4" name="Foliennummernplatzhalter 3"/>
          <p:cNvSpPr>
            <a:spLocks noGrp="1"/>
          </p:cNvSpPr>
          <p:nvPr>
            <p:ph type="sldNum" sz="quarter" idx="10"/>
          </p:nvPr>
        </p:nvSpPr>
        <p:spPr/>
        <p:txBody>
          <a:bodyPr/>
          <a:lstStyle/>
          <a:p>
            <a:fld id="{543CEB81-BC61-4A84-8DAE-DBAB1497A1FC}" type="slidenum">
              <a:rPr lang="de-DE" smtClean="0"/>
            </a:fld>
            <a:endParaRPr lang="de-D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dirty="0"/>
              <a:t>Phase II showed a significant effect, the three Phase III trials did not show the same thing. This discrepancy suggest the Phase II result may be influence by selection bias . The rationale for using bias adjustment methods in this case is to address potential inflation of the observed Phase II effect.</a:t>
            </a:r>
            <a:endParaRPr 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dirty="0"/>
              <a:t>The go-decision threshold was an approximate value based on the data and the dose-response patterns we saw in this study. (be less definitive)</a:t>
            </a:r>
            <a:endParaRPr 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dirty="0"/>
              <a:t>Because the PB method gives almost the same estimate regardless of the observed Phase II effect, we leave it out of the simulation study.</a:t>
            </a:r>
            <a:endParaRPr lang="en-US" dirty="0"/>
          </a:p>
          <a:p>
            <a:r>
              <a:rPr lang="en-US" dirty="0"/>
              <a:t>It’s doing what we would expect.</a:t>
            </a:r>
            <a:endParaRPr lang="en-US" dirty="0"/>
          </a:p>
          <a:p>
            <a:r>
              <a:rPr lang="en-US" sz="1200" dirty="0"/>
              <a:t>However, since we don’t know the truth, it is hard to get much takeaway from a single analysis.</a:t>
            </a:r>
            <a:endParaRPr lang="en-US" sz="1200"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Just say we cover the results for m=100 due to time.</a:t>
            </a:r>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We wanted to look at two cases, one where the historical data was positive, one where the historical data was negative compared to our thresholds.</a:t>
            </a:r>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Ph2 bias is what we basically would not expect an unadjusted effect change. It should be near 0. and bias adjustment method is hoped to shrink back to smaller.</a:t>
            </a:r>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We only display the bias boxplots for positive scenario due to the amount of time.</a:t>
            </a:r>
            <a:endParaRPr lang="de-DE" dirty="0"/>
          </a:p>
          <a:p>
            <a:r>
              <a:rPr lang="de-DE" dirty="0"/>
              <a:t>Negative scenario always induces bias and estimation bias is not the key metric in this case. The false-go operating characteristics are more meaningful. (False positive for negative scenario)</a:t>
            </a:r>
            <a:endParaRPr lang="de-DE" dirty="0"/>
          </a:p>
          <a:p>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2nd plot: our delta_0 is lower than the threshold. So no matter if we adjust it to the truth, we would end up not going to Phase III. This is by design.</a:t>
            </a:r>
            <a:endParaRPr lang="de-DE" dirty="0"/>
          </a:p>
          <a:p>
            <a:r>
              <a:rPr lang="de-DE" dirty="0"/>
              <a:t>Tradeoff: shifting method adjusted the heaviest, which results in a higher Phase III power while we have a lot fewer Phase II trials with a “Go“ decision. That‘s why our program power is important, </a:t>
            </a:r>
            <a:r>
              <a:rPr lang="en-US" dirty="0"/>
              <a:t>the joint probability of a Go decision in Phase II and a successful outcome in Phase III.</a:t>
            </a:r>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1st plot: some of these methods are going to adjust the bias more and that‘s going to result in a lower false positive, i.e., the negative scenario results. But accordingly, just because the way things work, we end up getting a lower true positive go rate. People could tune the decision rules toward their target program power, like how much false-positive rate they want.</a:t>
            </a:r>
            <a:endParaRPr lang="de-DE" dirty="0"/>
          </a:p>
          <a:p>
            <a:r>
              <a:rPr lang="de-DE" dirty="0"/>
              <a:t>2nd plot: But for a fair comparision, we switch to the right plot, which calculates the difference in program power between positive and negative scenarios. The discrmination ability is the fifference between the two scenarios. MAP1 is our optimistic prior.</a:t>
            </a:r>
            <a:endParaRPr lang="de-DE" dirty="0"/>
          </a:p>
          <a:p>
            <a:r>
              <a:rPr lang="de-DE" dirty="0"/>
              <a:t>That‘s not hurting us very much in the false positive when using a negative prior.</a:t>
            </a:r>
            <a:endParaRPr lang="de-DE" dirty="0"/>
          </a:p>
          <a:p>
            <a:r>
              <a:rPr lang="de-DE" dirty="0"/>
              <a:t>Takeaways:</a:t>
            </a:r>
            <a:endParaRPr lang="de-DE" dirty="0"/>
          </a:p>
          <a:p>
            <a:pPr lvl="1"/>
            <a:r>
              <a:rPr lang="de-DE" dirty="0"/>
              <a:t>The bias subtraction methods, like CLWB seems to be doing pretty well, whereas like the likelihood weighted bias which doesn‘t use truncated normal distribution doesn‘t do well. </a:t>
            </a:r>
            <a:endParaRPr lang="de-DE" dirty="0"/>
          </a:p>
          <a:p>
            <a:pPr lvl="1"/>
            <a:r>
              <a:rPr lang="de-DE" dirty="0"/>
              <a:t>Some methods, they are doing worse than unadjusted method.</a:t>
            </a:r>
            <a:endParaRPr lang="de-DE" dirty="0"/>
          </a:p>
          <a:p>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dirty="0"/>
              <a:t>Our key point is that everything shown here is specific to this particular design and the historical data assumption we used. If the design or data change, the operating characteristics will change as well. That’s why we need to run simulations tailored to each study rather than applying one set of results across different projects.</a:t>
            </a:r>
            <a:endParaRPr lang="en-US" dirty="0"/>
          </a:p>
          <a:p>
            <a:r>
              <a:rPr lang="en-US" dirty="0"/>
              <a:t>For example, we want to optimize our study design to target a false-positive rate of 20% and I want to make sure every single method does that. We can play with other parameters, like decision rules, sample sizes for each method to make that a fair comparison. </a:t>
            </a:r>
            <a:endParaRPr 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43CEB81-BC61-4A84-8DAE-DBAB1497A1FC}" type="slidenum">
              <a:rPr lang="de-DE" smtClean="0"/>
            </a:fld>
            <a:endParaRPr lang="de-DE"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fld>
            <a:endParaRPr lang="en-US" sz="800">
              <a:solidFill>
                <a:schemeClr val="bg2"/>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We only display the bias boxplots for positive scenario due to the amount of time.</a:t>
            </a:r>
            <a:endParaRPr lang="de-DE" dirty="0"/>
          </a:p>
          <a:p>
            <a:r>
              <a:rPr lang="de-DE" dirty="0"/>
              <a:t>Negative scenario always induces bias and estimation bias is not the key metric in this case. The false-go operating characteristics are more meaningful. (False positive for negative scenario)</a:t>
            </a:r>
            <a:endParaRPr lang="de-DE" dirty="0"/>
          </a:p>
          <a:p>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p:cNvSpPr>
            <a:spLocks noGrp="1" noRot="1" noChangeAspect="1"/>
          </p:cNvSpPr>
          <p:nvPr>
            <p:ph type="sldImg"/>
          </p:nvPr>
        </p:nvSpPr>
        <p:spPr>
          <a:xfrm>
            <a:off x="476250" y="611188"/>
            <a:ext cx="5903913" cy="3321050"/>
          </a:xfrm>
        </p:spPr>
      </p:sp>
      <p:sp>
        <p:nvSpPr>
          <p:cNvPr id="7" name="Notizenplatzhalter 6"/>
          <p:cNvSpPr>
            <a:spLocks noGrp="1"/>
          </p:cNvSpPr>
          <p:nvPr>
            <p:ph type="body" idx="1"/>
          </p:nvPr>
        </p:nvSpPr>
        <p:spPr/>
        <p:txBody>
          <a:bodyPr/>
          <a:lstStyle/>
          <a:p>
            <a:r>
              <a:rPr lang="de-DE" dirty="0"/>
              <a:t>2nd plot: our delta_0 is lower than the threshold. So no matter if we adjust it to the truth, we would end up not going to Phase III. This is by design.</a:t>
            </a:r>
            <a:endParaRPr lang="de-DE" dirty="0"/>
          </a:p>
        </p:txBody>
      </p:sp>
      <p:sp>
        <p:nvSpPr>
          <p:cNvPr id="8" name="Fußzeilenplatzhalter 3"/>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fld>
            <a:endParaRPr lang="en-US" sz="800" dirty="0">
              <a:solidFill>
                <a:schemeClr val="bg2"/>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rand.boehringer-ingelheim.com/document/650#/color/introduction-col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dirty="0"/>
              <a:t>Presentation title</a:t>
            </a:r>
            <a:endParaRPr lang="en-US" dirty="0"/>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endParaRPr lang="en-US" dirty="0"/>
          </a:p>
          <a:p>
            <a:pPr lvl="1"/>
            <a:r>
              <a:rPr lang="en-US" dirty="0"/>
              <a:t>Author | Date | Place</a:t>
            </a:r>
            <a:endParaRPr lang="en-US" dirty="0"/>
          </a:p>
        </p:txBody>
      </p:sp>
      <p:sp>
        <p:nvSpPr>
          <p:cNvPr id="10" name="Rechteck 9"/>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lvl1pPr>
          </a:lstStyle>
          <a:p>
            <a:r>
              <a:rPr lang="en-US"/>
              <a:t>Slide library     |     ONLY FOR INTERNAL USE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dirty="0"/>
              <a:t>Presentation title</a:t>
            </a:r>
            <a:endParaRPr lang="en-US" dirty="0"/>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endParaRPr lang="en-US" dirty="0"/>
          </a:p>
          <a:p>
            <a:pPr lvl="1"/>
            <a:r>
              <a:rPr lang="en-US" dirty="0"/>
              <a:t>Author | Date | Place</a:t>
            </a:r>
            <a:endParaRPr lang="en-US" dirty="0"/>
          </a:p>
        </p:txBody>
      </p:sp>
      <p:sp>
        <p:nvSpPr>
          <p:cNvPr id="10" name="Rechteck 9"/>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Slide library     |     ONLY FOR INTERNAL USE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r>
              <a:rPr lang="en-US" dirty="0"/>
              <a:t>Add picture</a:t>
            </a:r>
            <a:endParaRPr lang="en-US" dirty="0"/>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dirty="0"/>
              <a:t>Presentation title</a:t>
            </a:r>
            <a:endParaRPr lang="en-US" dirty="0"/>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endParaRPr lang="en-US" dirty="0"/>
          </a:p>
          <a:p>
            <a:pPr lvl="1"/>
            <a:r>
              <a:rPr lang="en-US" dirty="0"/>
              <a:t>Author | Date | Place</a:t>
            </a:r>
            <a:endParaRPr lang="en-US" dirty="0"/>
          </a:p>
        </p:txBody>
      </p:sp>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Slide library     |     ONLY FOR INTERNAL USE</a:t>
            </a:r>
            <a:endParaRPr lang="en-US" dirty="0"/>
          </a:p>
        </p:txBody>
      </p:sp>
      <p:sp>
        <p:nvSpPr>
          <p:cNvPr id="5" name="Text Placeholder 8"/>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sp>
        <p:nvSpPr>
          <p:cNvPr id="6" name="Text Placeholder 8"/>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7" name="Group 6"/>
          <p:cNvGrpSpPr/>
          <p:nvPr userDrawn="1"/>
        </p:nvGrpSpPr>
        <p:grpSpPr bwMode="gray">
          <a:xfrm>
            <a:off x="-1896888" y="0"/>
            <a:ext cx="1715078" cy="3744416"/>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‘Insert’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is located</a:t>
              </a:r>
              <a:endParaRPr lang="en-US" sz="900" dirty="0">
                <a:solidFill>
                  <a:schemeClr val="tx1"/>
                </a:solidFill>
                <a:latin typeface="+mn-lt"/>
              </a:endParaRPr>
            </a:p>
          </p:txBody>
        </p:sp>
        <p:pic>
          <p:nvPicPr>
            <p:cNvPr id="9" name="Picture 8"/>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Bildplatzhalter 10"/>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dirty="0"/>
              <a:t>Presentation title</a:t>
            </a:r>
            <a:endParaRPr lang="en-US" dirty="0"/>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endParaRPr lang="en-US" dirty="0"/>
          </a:p>
          <a:p>
            <a:pPr lvl="1"/>
            <a:r>
              <a:rPr lang="en-US" dirty="0"/>
              <a:t>Author | Date | Place</a:t>
            </a:r>
            <a:endParaRPr lang="en-US" dirty="0"/>
          </a:p>
        </p:txBody>
      </p:sp>
      <p:sp>
        <p:nvSpPr>
          <p:cNvPr id="5" name="Fußzeilenplatzhalter 3"/>
          <p:cNvSpPr>
            <a:spLocks noGrp="1"/>
          </p:cNvSpPr>
          <p:nvPr>
            <p:ph type="ftr" sz="quarter" idx="19"/>
          </p:nvPr>
        </p:nvSpPr>
        <p:spPr bwMode="gray">
          <a:xfrm>
            <a:off x="479936" y="6165328"/>
            <a:ext cx="5040000" cy="216000"/>
          </a:xfrm>
        </p:spPr>
        <p:txBody>
          <a:bodyPr/>
          <a:lstStyle>
            <a:lvl1pPr algn="l">
              <a:defRPr/>
            </a:lvl1pPr>
          </a:lstStyle>
          <a:p>
            <a:r>
              <a:rPr lang="en-US" dirty="0"/>
              <a:t>Slide library     |     ONLY FOR INTERNAL USE</a:t>
            </a:r>
            <a:endParaRPr lang="en-US" dirty="0"/>
          </a:p>
        </p:txBody>
      </p:sp>
      <p:sp>
        <p:nvSpPr>
          <p:cNvPr id="9" name="Text Placeholder 8"/>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sp>
        <p:nvSpPr>
          <p:cNvPr id="13" name="Text Placeholder 8"/>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12" name="Group 11"/>
          <p:cNvGrpSpPr/>
          <p:nvPr userDrawn="1"/>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‘Insert’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is located</a:t>
              </a:r>
              <a:endParaRPr lang="en-US" sz="900" dirty="0">
                <a:solidFill>
                  <a:schemeClr val="tx1"/>
                </a:solidFill>
                <a:latin typeface="+mn-lt"/>
              </a:endParaRPr>
            </a:p>
          </p:txBody>
        </p:sp>
        <p:pic>
          <p:nvPicPr>
            <p:cNvPr id="15" name="Picture 14"/>
            <p:cNvPicPr>
              <a:picLocks noChangeAspect="1"/>
            </p:cNvPicPr>
            <p:nvPr userDrawn="1"/>
          </p:nvPicPr>
          <p:blipFill rotWithShape="1">
            <a:blip r:embed="rId6"/>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dirty="0"/>
              <a:t>Presentation title</a:t>
            </a:r>
            <a:endParaRPr lang="en-US" dirty="0"/>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endParaRPr lang="en-US" dirty="0"/>
          </a:p>
          <a:p>
            <a:pPr lvl="1"/>
            <a:r>
              <a:rPr lang="en-US" dirty="0"/>
              <a:t>Author | Date | Place</a:t>
            </a:r>
            <a:endParaRPr lang="en-US" dirty="0"/>
          </a:p>
        </p:txBody>
      </p:sp>
      <p:sp>
        <p:nvSpPr>
          <p:cNvPr id="11" name="Bildplatzhalter 10"/>
          <p:cNvSpPr>
            <a:spLocks noGrp="1"/>
          </p:cNvSpPr>
          <p:nvPr>
            <p:ph type="pic" sz="quarter" idx="10" hasCustomPrompt="1"/>
          </p:nvPr>
        </p:nvSpPr>
        <p:spPr bwMode="gray">
          <a:xfrm>
            <a:off x="8124825" y="0"/>
            <a:ext cx="4067175" cy="6858000"/>
          </a:xfrm>
          <a:solidFill>
            <a:srgbClr val="E5E3DE"/>
          </a:solidFill>
        </p:spPr>
        <p:txBody>
          <a:bodyPr tIns="720000" anchor="ctr" anchorCtr="0"/>
          <a:lstStyle>
            <a:lvl1pPr marL="0" indent="0" algn="ctr">
              <a:spcBef>
                <a:spcPts val="0"/>
              </a:spcBef>
              <a:spcAft>
                <a:spcPts val="0"/>
              </a:spcAft>
              <a:buFontTx/>
              <a:buNone/>
              <a:defRPr sz="1200" b="0"/>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dirty="0"/>
              <a:t>Add picture</a:t>
            </a:r>
            <a:endParaRPr lang="en-US"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Slide library     |     ONLY FOR INTERNAL USE</a:t>
            </a:r>
            <a:endParaRPr lang="en-US" dirty="0"/>
          </a:p>
        </p:txBody>
      </p:sp>
      <p:sp>
        <p:nvSpPr>
          <p:cNvPr id="5" name="Text Placeholder 8"/>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7" name="Group 6"/>
          <p:cNvGrpSpPr/>
          <p:nvPr userDrawn="1"/>
        </p:nvGrpSpPr>
        <p:grpSpPr>
          <a:xfrm>
            <a:off x="-1896888" y="-1"/>
            <a:ext cx="1715078" cy="3968906"/>
            <a:chOff x="-1896888" y="-1"/>
            <a:chExt cx="1715078" cy="3968906"/>
          </a:xfrm>
        </p:grpSpPr>
        <p:grpSp>
          <p:nvGrpSpPr>
            <p:cNvPr id="8" name="Group 7"/>
            <p:cNvGrpSpPr/>
            <p:nvPr userDrawn="1"/>
          </p:nvGrpSpPr>
          <p:grpSpPr bwMode="gray">
            <a:xfrm>
              <a:off x="-1896888" y="-1"/>
              <a:ext cx="1715078" cy="3968906"/>
              <a:chOff x="-1824880" y="2708919"/>
              <a:chExt cx="1715078" cy="3968906"/>
            </a:xfrm>
          </p:grpSpPr>
          <p:sp>
            <p:nvSpPr>
              <p:cNvPr id="10" name="TextBox 9"/>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6" name="TextBox 15"/>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9" name="Picture 8"/>
            <p:cNvPicPr>
              <a:picLocks noChangeAspect="1"/>
            </p:cNvPicPr>
            <p:nvPr userDrawn="1"/>
          </p:nvPicPr>
          <p:blipFill>
            <a:blip r:embed="rId6"/>
            <a:stretch>
              <a:fillRect/>
            </a:stretch>
          </p:blipFill>
          <p:spPr>
            <a:xfrm>
              <a:off x="-1752872" y="2087812"/>
              <a:ext cx="1080120" cy="984668"/>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agenda title</a:t>
            </a:r>
            <a:endParaRPr lang="en-US" dirty="0"/>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45" indent="-360045">
              <a:spcBef>
                <a:spcPts val="1800"/>
              </a:spcBef>
              <a:buFont typeface="+mj-lt"/>
              <a:buAutoNum type="arabicPeriod"/>
              <a:defRPr sz="2000"/>
            </a:lvl1pPr>
            <a:lvl2pPr marL="539750" indent="-179705">
              <a:spcBef>
                <a:spcPts val="200"/>
              </a:spcBef>
              <a:spcAft>
                <a:spcPts val="200"/>
              </a:spcAft>
              <a:buFont typeface="Arial" panose="020B0604020202020204" pitchFamily="34" charset="0"/>
              <a:buChar char="•"/>
              <a:defRPr/>
            </a:lvl2pPr>
            <a:lvl3pPr marL="539750" indent="-179705">
              <a:spcBef>
                <a:spcPts val="200"/>
              </a:spcBef>
              <a:spcAft>
                <a:spcPts val="200"/>
              </a:spcAft>
              <a:buFont typeface="Arial" panose="020B0604020202020204" pitchFamily="34" charset="0"/>
              <a:buChar char="•"/>
              <a:defRPr/>
            </a:lvl3pPr>
            <a:lvl4pPr marL="539750" indent="-179705">
              <a:spcBef>
                <a:spcPts val="200"/>
              </a:spcBef>
              <a:spcAft>
                <a:spcPts val="200"/>
              </a:spcAft>
              <a:buFont typeface="Arial" panose="020B0604020202020204" pitchFamily="34" charset="0"/>
              <a:buChar char="•"/>
              <a:defRPr/>
            </a:lvl4pPr>
            <a:lvl5pPr marL="539750" indent="-179705">
              <a:spcBef>
                <a:spcPts val="200"/>
              </a:spcBef>
              <a:spcAft>
                <a:spcPts val="200"/>
              </a:spcAft>
              <a:buFont typeface="Arial" panose="020B0604020202020204" pitchFamily="34" charset="0"/>
              <a:buChar char="•"/>
              <a:defRPr sz="1600"/>
            </a:lvl5pPr>
            <a:lvl6pPr marL="539750" indent="-179705">
              <a:spcBef>
                <a:spcPts val="200"/>
              </a:spcBef>
              <a:spcAft>
                <a:spcPts val="200"/>
              </a:spcAft>
              <a:buFont typeface="Arial" panose="020B0604020202020204" pitchFamily="34" charset="0"/>
              <a:buChar char="•"/>
              <a:defRPr sz="1600"/>
            </a:lvl6pPr>
            <a:lvl7pPr marL="539750" indent="-179705">
              <a:spcBef>
                <a:spcPts val="200"/>
              </a:spcBef>
              <a:spcAft>
                <a:spcPts val="200"/>
              </a:spcAft>
              <a:buFont typeface="Arial" panose="020B0604020202020204" pitchFamily="34" charset="0"/>
              <a:buChar char="•"/>
              <a:defRPr sz="1600"/>
            </a:lvl7pPr>
            <a:lvl8pPr marL="539750" indent="-179705">
              <a:spcBef>
                <a:spcPts val="200"/>
              </a:spcBef>
              <a:spcAft>
                <a:spcPts val="200"/>
              </a:spcAft>
              <a:buFont typeface="Arial" panose="020B0604020202020204" pitchFamily="34" charset="0"/>
              <a:buChar char="•"/>
              <a:defRPr sz="1600"/>
            </a:lvl8pPr>
            <a:lvl9pPr marL="539750" indent="-179705">
              <a:spcBef>
                <a:spcPts val="200"/>
              </a:spcBef>
              <a:spcAft>
                <a:spcPts val="200"/>
              </a:spcAft>
              <a:buFont typeface="Arial" panose="020B0604020202020204" pitchFamily="34" charset="0"/>
              <a:buChar char="•"/>
              <a:defRPr sz="1600"/>
            </a:lvl9pPr>
          </a:lstStyle>
          <a:p>
            <a:pPr lvl="0"/>
            <a:r>
              <a:rPr lang="en-US" dirty="0"/>
              <a:t>Edit text by clicking. Use the "Increase/decrease list level" buttons on the Start tab to switch between the set up text levels.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6" name="Fußzeilenplatzhalter 5"/>
          <p:cNvSpPr>
            <a:spLocks noGrp="1"/>
          </p:cNvSpPr>
          <p:nvPr>
            <p:ph type="ftr" sz="quarter" idx="16"/>
          </p:nvPr>
        </p:nvSpPr>
        <p:spPr bwMode="gray"/>
        <p:txBody>
          <a:bodyPr/>
          <a:lstStyle/>
          <a:p>
            <a:r>
              <a:rPr lang="en-US"/>
              <a:t>Slide library     |     ONLY FOR INTERNAL USE</a:t>
            </a:r>
            <a:endParaRPr lang="en-US" dirty="0"/>
          </a:p>
        </p:txBody>
      </p:sp>
      <p:sp>
        <p:nvSpPr>
          <p:cNvPr id="7" name="Foliennummernplatzhalter 6"/>
          <p:cNvSpPr>
            <a:spLocks noGrp="1"/>
          </p:cNvSpPr>
          <p:nvPr>
            <p:ph type="sldNum" sz="quarter" idx="17"/>
          </p:nvPr>
        </p:nvSpPr>
        <p:spPr bwMode="gray"/>
        <p:txBody>
          <a:bodyPr/>
          <a:lstStyle/>
          <a:p>
            <a:fld id="{8FF9B0DE-3FEB-4AA0-B465-B80EF7C1333D}"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dirty="0"/>
              <a:t>Add agenda title</a:t>
            </a:r>
            <a:endParaRPr lang="en-US" dirty="0"/>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r>
              <a:rPr lang="en-US"/>
              <a:t>Slide library     |     ONLY FOR INTERNAL USE</a:t>
            </a:r>
            <a:endParaRPr lang="en-US" dirty="0"/>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fld>
            <a:endParaRPr lang="en-US" dirty="0"/>
          </a:p>
        </p:txBody>
      </p:sp>
      <p:sp>
        <p:nvSpPr>
          <p:cNvPr id="15" name="Textplatzhalter 8"/>
          <p:cNvSpPr>
            <a:spLocks noGrp="1"/>
          </p:cNvSpPr>
          <p:nvPr>
            <p:ph type="body" sz="quarter" idx="48" hasCustomPrompt="1"/>
          </p:nvPr>
        </p:nvSpPr>
        <p:spPr bwMode="white">
          <a:xfrm>
            <a:off x="479480"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dirty="0"/>
              <a:t>00</a:t>
            </a:r>
            <a:endParaRPr lang="en-US" dirty="0"/>
          </a:p>
        </p:txBody>
      </p:sp>
      <p:sp>
        <p:nvSpPr>
          <p:cNvPr id="9" name="Textplatzhalter 8"/>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26" name="Textplatzhalter 8"/>
          <p:cNvSpPr>
            <a:spLocks noGrp="1"/>
          </p:cNvSpPr>
          <p:nvPr>
            <p:ph type="body" sz="quarter" idx="30" hasCustomPrompt="1"/>
          </p:nvPr>
        </p:nvSpPr>
        <p:spPr bwMode="white">
          <a:xfrm>
            <a:off x="479480"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7" name="Textplatzhalter 8"/>
          <p:cNvSpPr>
            <a:spLocks noGrp="1"/>
          </p:cNvSpPr>
          <p:nvPr>
            <p:ph type="body" sz="quarter" idx="31" hasCustomPrompt="1"/>
          </p:nvPr>
        </p:nvSpPr>
        <p:spPr bwMode="white">
          <a:xfrm>
            <a:off x="479376"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8" name="Textplatzhalter 8"/>
          <p:cNvSpPr>
            <a:spLocks noGrp="1"/>
          </p:cNvSpPr>
          <p:nvPr>
            <p:ph type="body" sz="quarter" idx="32" hasCustomPrompt="1"/>
          </p:nvPr>
        </p:nvSpPr>
        <p:spPr bwMode="white">
          <a:xfrm>
            <a:off x="479376"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0" name="Textplatzhalter 8"/>
          <p:cNvSpPr>
            <a:spLocks noGrp="1"/>
          </p:cNvSpPr>
          <p:nvPr>
            <p:ph type="body" sz="quarter" idx="34" hasCustomPrompt="1"/>
          </p:nvPr>
        </p:nvSpPr>
        <p:spPr bwMode="white">
          <a:xfrm>
            <a:off x="6252635" y="1412776"/>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4" name="Textplatzhalter 8"/>
          <p:cNvSpPr>
            <a:spLocks noGrp="1"/>
          </p:cNvSpPr>
          <p:nvPr>
            <p:ph type="body" sz="quarter" idx="38" hasCustomPrompt="1"/>
          </p:nvPr>
        </p:nvSpPr>
        <p:spPr bwMode="white">
          <a:xfrm>
            <a:off x="6252531" y="2529950"/>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5" name="Textplatzhalter 8"/>
          <p:cNvSpPr>
            <a:spLocks noGrp="1"/>
          </p:cNvSpPr>
          <p:nvPr>
            <p:ph type="body" sz="quarter" idx="39" hasCustomPrompt="1"/>
          </p:nvPr>
        </p:nvSpPr>
        <p:spPr bwMode="white">
          <a:xfrm>
            <a:off x="6252427" y="3646074"/>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6" name="Textplatzhalter 8"/>
          <p:cNvSpPr>
            <a:spLocks noGrp="1"/>
          </p:cNvSpPr>
          <p:nvPr>
            <p:ph type="body" sz="quarter" idx="40" hasCustomPrompt="1"/>
          </p:nvPr>
        </p:nvSpPr>
        <p:spPr bwMode="white">
          <a:xfrm>
            <a:off x="6252427" y="4762198"/>
            <a:ext cx="792000" cy="540000"/>
          </a:xfrm>
          <a:solidFill>
            <a:schemeClr val="bg2"/>
          </a:solidFill>
          <a:effectLst/>
        </p:spPr>
        <p:txBody>
          <a:bodyPr wrap="none" rIns="0" bIns="0" anchor="ctr" anchorCtr="0"/>
          <a:lstStyle>
            <a:lvl1pPr marL="0" indent="0" algn="l">
              <a:lnSpc>
                <a:spcPct val="100000"/>
              </a:lnSpc>
              <a:spcAft>
                <a:spcPts val="0"/>
              </a:spcAft>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 name="Textplatzhalter 8"/>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3" name="Textplatzhalter 8"/>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8" name="Textplatzhalter 8"/>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10" name="Textplatzhalter 8"/>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12" name="Textplatzhalter 8"/>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13" name="Textplatzhalter 8"/>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sp>
        <p:nvSpPr>
          <p:cNvPr id="14" name="Textplatzhalter 8"/>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endParaRPr lang="en-US" dirty="0"/>
          </a:p>
          <a:p>
            <a:pPr lvl="1"/>
            <a:r>
              <a:rPr lang="en-US" dirty="0"/>
              <a:t>Second level</a:t>
            </a:r>
            <a:endParaRPr lang="en-US" dirty="0"/>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dirty="0"/>
              <a:t>Name of the current chapter</a:t>
            </a:r>
            <a:endParaRPr lang="en-US" dirty="0"/>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dirty="0"/>
              <a:t>Optional short description</a:t>
            </a:r>
            <a:endParaRPr lang="en-US" dirty="0"/>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fld>
            <a:endParaRPr lang="en-US" dirty="0"/>
          </a:p>
        </p:txBody>
      </p:sp>
      <p:sp>
        <p:nvSpPr>
          <p:cNvPr id="6" name="Fußzeilenplatzhalter 5"/>
          <p:cNvSpPr>
            <a:spLocks noGrp="1"/>
          </p:cNvSpPr>
          <p:nvPr>
            <p:ph type="ftr" sz="quarter" idx="19"/>
          </p:nvPr>
        </p:nvSpPr>
        <p:spPr bwMode="gray"/>
        <p:txBody>
          <a:bodyPr/>
          <a:lstStyle/>
          <a:p>
            <a:r>
              <a:rPr lang="en-US"/>
              <a:t>Slide library     |     ONLY FOR INTERNAL USE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dirty="0"/>
              <a:t>Name of the current chapter</a:t>
            </a:r>
            <a:endParaRPr lang="en-US" dirty="0"/>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endParaRPr lang="en-US" dirty="0"/>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fld>
            <a:endParaRPr lang="en-US" dirty="0"/>
          </a:p>
        </p:txBody>
      </p:sp>
      <p:pic>
        <p:nvPicPr>
          <p:cNvPr id="4" name="Grafik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r>
              <a:rPr lang="en-US"/>
              <a:t>Slide library     |     ONLY FOR INTERNAL USE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hapter divider (3)">
    <p:bg>
      <p:bgPr>
        <a:solidFill>
          <a:srgbClr val="F5CDB9"/>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dirty="0"/>
              <a:t>Name of the current chapter</a:t>
            </a:r>
            <a:endParaRPr lang="en-US" dirty="0"/>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dirty="0"/>
              <a:t>Optional short description</a:t>
            </a:r>
            <a:endParaRPr lang="en-US" dirty="0"/>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fld>
            <a:endParaRPr lang="en-US" dirty="0"/>
          </a:p>
        </p:txBody>
      </p:sp>
      <p:sp>
        <p:nvSpPr>
          <p:cNvPr id="6" name="Fußzeilenplatzhalter 5"/>
          <p:cNvSpPr>
            <a:spLocks noGrp="1"/>
          </p:cNvSpPr>
          <p:nvPr>
            <p:ph type="ftr" sz="quarter" idx="19"/>
          </p:nvPr>
        </p:nvSpPr>
        <p:spPr bwMode="gray"/>
        <p:txBody>
          <a:bodyPr/>
          <a:lstStyle/>
          <a:p>
            <a:r>
              <a:rPr lang="en-US"/>
              <a:t>Slide library     |     ONLY FOR INTERNAL USE</a:t>
            </a:r>
            <a:endParaRPr lang="en-US" dirty="0"/>
          </a:p>
        </p:txBody>
      </p:sp>
      <p:sp>
        <p:nvSpPr>
          <p:cNvPr id="4" name="TextBox 7"/>
          <p:cNvSpPr txBox="1"/>
          <p:nvPr userDrawn="1"/>
        </p:nvSpPr>
        <p:spPr bwMode="gray">
          <a:xfrm>
            <a:off x="-1896888" y="1"/>
            <a:ext cx="1715078" cy="5028593"/>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i="0" dirty="0">
                <a:solidFill>
                  <a:schemeClr val="tx1"/>
                </a:solidFill>
                <a:effectLst/>
                <a:latin typeface="+mj-lt"/>
              </a:rPr>
              <a:t>To change the background color:</a:t>
            </a:r>
            <a:endParaRPr lang="en-US" sz="1100" b="1" i="0" dirty="0">
              <a:solidFill>
                <a:schemeClr val="tx1"/>
              </a:solidFill>
              <a:effectLst/>
              <a:latin typeface="+mj-lt"/>
            </a:endParaRPr>
          </a:p>
          <a:p>
            <a:pPr marL="144145" indent="-144145">
              <a:lnSpc>
                <a:spcPct val="120000"/>
              </a:lnSpc>
              <a:spcAft>
                <a:spcPts val="600"/>
              </a:spcAft>
              <a:buFont typeface="+mj-lt"/>
              <a:buAutoNum type="arabicPeriod"/>
            </a:pPr>
            <a:r>
              <a:rPr lang="en-US" sz="900" i="0" dirty="0">
                <a:solidFill>
                  <a:schemeClr val="tx1"/>
                </a:solidFill>
                <a:effectLst/>
                <a:latin typeface="+mn-lt"/>
              </a:rPr>
              <a:t>Open the menu </a:t>
            </a:r>
            <a:r>
              <a:rPr lang="en-US" sz="900" i="0" dirty="0">
                <a:solidFill>
                  <a:schemeClr val="tx1"/>
                </a:solidFill>
              </a:rPr>
              <a:t>‘Format</a:t>
            </a:r>
            <a:r>
              <a:rPr lang="en-US" sz="900" i="0" dirty="0">
                <a:solidFill>
                  <a:schemeClr val="tx1"/>
                </a:solidFill>
                <a:effectLst/>
                <a:latin typeface="+mn-lt"/>
              </a:rPr>
              <a:t>’</a:t>
            </a:r>
            <a:endParaRPr lang="en-US" sz="900" i="0" dirty="0">
              <a:solidFill>
                <a:schemeClr val="tx1"/>
              </a:solidFill>
              <a:effectLst/>
              <a:latin typeface="+mn-lt"/>
            </a:endParaRPr>
          </a:p>
          <a:p>
            <a:pPr marL="144145" indent="-144145">
              <a:lnSpc>
                <a:spcPct val="120000"/>
              </a:lnSpc>
              <a:spcAft>
                <a:spcPts val="600"/>
              </a:spcAft>
              <a:buFont typeface="+mj-lt"/>
              <a:buAutoNum type="arabicPeriod"/>
            </a:pPr>
            <a:r>
              <a:rPr lang="en-US" sz="900" i="0" dirty="0">
                <a:solidFill>
                  <a:schemeClr val="tx1"/>
                </a:solidFill>
                <a:effectLst/>
                <a:latin typeface="+mn-lt"/>
              </a:rPr>
              <a:t>Choose ’Slide Background…’ </a:t>
            </a:r>
            <a:r>
              <a:rPr lang="en-US" sz="900" i="0" dirty="0">
                <a:solidFill>
                  <a:schemeClr val="tx1"/>
                </a:solidFill>
              </a:rPr>
              <a:t>and then the preferred secondary color via the color fill selection on the left.</a:t>
            </a:r>
            <a:endParaRPr lang="en-US" sz="900" i="0" dirty="0">
              <a:solidFill>
                <a:schemeClr val="tx1"/>
              </a:solidFill>
            </a:endParaRPr>
          </a:p>
          <a:p>
            <a:pPr marL="144145" indent="-144145">
              <a:lnSpc>
                <a:spcPct val="120000"/>
              </a:lnSpc>
              <a:spcAft>
                <a:spcPts val="600"/>
              </a:spcAft>
              <a:buFont typeface="+mj-lt"/>
              <a:buAutoNum type="arabicPeriod"/>
            </a:pPr>
            <a:r>
              <a:rPr lang="en-US" sz="900" i="0" dirty="0">
                <a:solidFill>
                  <a:schemeClr val="tx1"/>
                </a:solidFill>
              </a:rPr>
              <a:t>Please choose only between the first two shades to ensure readability.</a:t>
            </a: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indent="-144145">
              <a:lnSpc>
                <a:spcPct val="120000"/>
              </a:lnSpc>
              <a:spcAft>
                <a:spcPts val="600"/>
              </a:spcAft>
              <a:buFont typeface="+mj-lt"/>
              <a:buAutoNum type="arabicPeriod"/>
            </a:pPr>
            <a:endParaRPr lang="en-US" sz="900" i="0" dirty="0">
              <a:solidFill>
                <a:schemeClr val="tx1"/>
              </a:solidFill>
            </a:endParaRPr>
          </a:p>
          <a:p>
            <a:pPr marL="144145" marR="0" lvl="0" indent="-144145" algn="l" defTabSz="914400" rtl="0" eaLnBrk="1" fontAlgn="auto" latinLnBrk="0" hangingPunct="1">
              <a:lnSpc>
                <a:spcPct val="120000"/>
              </a:lnSpc>
              <a:spcBef>
                <a:spcPts val="0"/>
              </a:spcBef>
              <a:spcAft>
                <a:spcPts val="600"/>
              </a:spcAft>
              <a:buClrTx/>
              <a:buSzTx/>
              <a:buFont typeface="+mj-lt"/>
              <a:buAutoNum type="arabicPeriod"/>
              <a:defRPr/>
            </a:pPr>
            <a:r>
              <a:rPr lang="en-US" sz="900" i="0" dirty="0">
                <a:solidFill>
                  <a:schemeClr val="tx1"/>
                </a:solidFill>
                <a:latin typeface="+mn-lt"/>
              </a:rPr>
              <a:t>You can find more info on color combinations in our </a:t>
            </a:r>
            <a:r>
              <a:rPr lang="en-US" sz="900" i="0" dirty="0">
                <a:solidFill>
                  <a:schemeClr val="tx1"/>
                </a:solidFill>
                <a:latin typeface="+mn-lt"/>
                <a:hlinkClick r:id="rId2"/>
              </a:rPr>
              <a:t>Brand Hub ↗</a:t>
            </a:r>
            <a:r>
              <a:rPr lang="en-US" sz="900" i="0" dirty="0">
                <a:solidFill>
                  <a:schemeClr val="tx1"/>
                </a:solidFill>
                <a:latin typeface="+mn-lt"/>
              </a:rPr>
              <a:t>.</a:t>
            </a:r>
            <a:endParaRPr lang="en-US" sz="900" i="0" dirty="0">
              <a:solidFill>
                <a:schemeClr val="tx1"/>
              </a:solidFill>
              <a:latin typeface="+mn-lt"/>
            </a:endParaRPr>
          </a:p>
        </p:txBody>
      </p:sp>
      <p:grpSp>
        <p:nvGrpSpPr>
          <p:cNvPr id="15" name="Group 14"/>
          <p:cNvGrpSpPr/>
          <p:nvPr userDrawn="1"/>
        </p:nvGrpSpPr>
        <p:grpSpPr>
          <a:xfrm>
            <a:off x="-1661815" y="2492896"/>
            <a:ext cx="1220231" cy="1728192"/>
            <a:chOff x="-1661815" y="2708920"/>
            <a:chExt cx="1220231" cy="1728192"/>
          </a:xfrm>
        </p:grpSpPr>
        <p:pic>
          <p:nvPicPr>
            <p:cNvPr id="11" name="Picture 8"/>
            <p:cNvPicPr>
              <a:picLocks noChangeAspect="1"/>
            </p:cNvPicPr>
            <p:nvPr userDrawn="1"/>
          </p:nvPicPr>
          <p:blipFill rotWithShape="1">
            <a:blip r:embed="rId3"/>
            <a:srcRect b="17285"/>
            <a:stretch>
              <a:fillRect/>
            </a:stretch>
          </p:blipFill>
          <p:spPr bwMode="gray">
            <a:xfrm>
              <a:off x="-1661815" y="2708920"/>
              <a:ext cx="1220231" cy="1728192"/>
            </a:xfrm>
            <a:prstGeom prst="roundRect">
              <a:avLst>
                <a:gd name="adj" fmla="val 3514"/>
              </a:avLst>
            </a:prstGeom>
          </p:spPr>
        </p:pic>
        <p:sp>
          <p:nvSpPr>
            <p:cNvPr id="13" name="Rechteck 10"/>
            <p:cNvSpPr/>
            <p:nvPr userDrawn="1"/>
          </p:nvSpPr>
          <p:spPr bwMode="gray">
            <a:xfrm>
              <a:off x="-1555750" y="3969060"/>
              <a:ext cx="244626" cy="448121"/>
            </a:xfrm>
            <a:prstGeom prst="rect">
              <a:avLst/>
            </a:prstGeom>
            <a:solidFill>
              <a:schemeClr val="bg1">
                <a:alpha val="0"/>
              </a:scheme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dirty="0"/>
              <a:t>Name of the current chapter</a:t>
            </a:r>
            <a:endParaRPr lang="en-US" dirty="0"/>
          </a:p>
        </p:txBody>
      </p:sp>
      <p:sp>
        <p:nvSpPr>
          <p:cNvPr id="9" name="Untertitel 2"/>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endParaRPr lang="en-US" dirty="0"/>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fld>
            <a:endParaRPr lang="en-US" dirty="0"/>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r>
              <a:rPr lang="en-US"/>
              <a:t>Slide library     |     ONLY FOR INTERNAL USE</a:t>
            </a:r>
            <a:endParaRPr lang="en-US" dirty="0"/>
          </a:p>
        </p:txBody>
      </p:sp>
      <p:grpSp>
        <p:nvGrpSpPr>
          <p:cNvPr id="3" name="Group 2"/>
          <p:cNvGrpSpPr/>
          <p:nvPr userDrawn="1"/>
        </p:nvGrpSpPr>
        <p:grpSpPr>
          <a:xfrm>
            <a:off x="-1896888" y="-1"/>
            <a:ext cx="1715078" cy="3968906"/>
            <a:chOff x="-1896888" y="-1"/>
            <a:chExt cx="1715078" cy="3968906"/>
          </a:xfrm>
        </p:grpSpPr>
        <p:grpSp>
          <p:nvGrpSpPr>
            <p:cNvPr id="4" name="Group 3"/>
            <p:cNvGrpSpPr/>
            <p:nvPr userDrawn="1"/>
          </p:nvGrpSpPr>
          <p:grpSpPr bwMode="gray">
            <a:xfrm>
              <a:off x="-1896888" y="-1"/>
              <a:ext cx="1715078" cy="3968906"/>
              <a:chOff x="-1824880" y="2708919"/>
              <a:chExt cx="1715078" cy="3968906"/>
            </a:xfrm>
          </p:grpSpPr>
          <p:sp>
            <p:nvSpPr>
              <p:cNvPr id="10" name="TextBox 9"/>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1" name="TextBox 10"/>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 of the slide</a:t>
            </a:r>
            <a:endParaRPr lang="en-US" dirty="0"/>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4" name="Fußzeilenplatzhalter 3"/>
          <p:cNvSpPr>
            <a:spLocks noGrp="1"/>
          </p:cNvSpPr>
          <p:nvPr>
            <p:ph type="ftr" sz="quarter" idx="19"/>
          </p:nvPr>
        </p:nvSpPr>
        <p:spPr bwMode="gray"/>
        <p:txBody>
          <a:bodyPr/>
          <a:lstStyle/>
          <a:p>
            <a:r>
              <a:rPr lang="en-US"/>
              <a:t>Slide library     |     ONLY FOR INTERNAL USE</a:t>
            </a:r>
            <a:endParaRPr lang="en-US" dirty="0"/>
          </a:p>
        </p:txBody>
      </p:sp>
      <p:sp>
        <p:nvSpPr>
          <p:cNvPr id="5" name="Foliennummernplatzhalter 4"/>
          <p:cNvSpPr>
            <a:spLocks noGrp="1"/>
          </p:cNvSpPr>
          <p:nvPr>
            <p:ph type="sldNum" sz="quarter" idx="20"/>
          </p:nvPr>
        </p:nvSpPr>
        <p:spPr bwMode="gray"/>
        <p:txBody>
          <a:bodyPr/>
          <a:lstStyle/>
          <a:p>
            <a:fld id="{DF4E8F9F-5B1F-4F5B-BE49-3245D8C18D9F}"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dirty="0"/>
              <a:t>Add Title</a:t>
            </a:r>
            <a:endParaRPr lang="en-US" dirty="0"/>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Slide library     |     ONLY FOR INTERNAL USE</a:t>
            </a:r>
            <a:endParaRPr lang="en-US" dirty="0"/>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fld>
            <a:endParaRPr lang="en-US"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2" name="Rechteck 1"/>
          <p:cNvSpPr/>
          <p:nvPr userDrawn="1"/>
        </p:nvSpPr>
        <p:spPr bwMode="gray">
          <a:xfrm>
            <a:off x="-1" y="0"/>
            <a:ext cx="4062414"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Inhaltsplatzhalter 2"/>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7" name="Fußzeilenplatzhalter 6"/>
          <p:cNvSpPr>
            <a:spLocks noGrp="1"/>
          </p:cNvSpPr>
          <p:nvPr>
            <p:ph type="ftr" sz="quarter" idx="21"/>
          </p:nvPr>
        </p:nvSpPr>
        <p:spPr bwMode="gray"/>
        <p:txBody>
          <a:bodyPr/>
          <a:lstStyle/>
          <a:p>
            <a:r>
              <a:rPr lang="en-US"/>
              <a:t>Slide library     |     ONLY FOR INTERNAL USE</a:t>
            </a:r>
            <a:endParaRPr lang="en-US" dirty="0"/>
          </a:p>
        </p:txBody>
      </p:sp>
      <p:sp>
        <p:nvSpPr>
          <p:cNvPr id="8" name="Foliennummernplatzhalter 7"/>
          <p:cNvSpPr>
            <a:spLocks noGrp="1"/>
          </p:cNvSpPr>
          <p:nvPr>
            <p:ph type="sldNum" sz="quarter" idx="22"/>
          </p:nvPr>
        </p:nvSpPr>
        <p:spPr bwMode="gray"/>
        <p:txBody>
          <a:bodyPr/>
          <a:lstStyle/>
          <a:p>
            <a:fld id="{DF4E8F9F-5B1F-4F5B-BE49-3245D8C18D9F}" type="slidenum">
              <a:rPr lang="en-US" smtClean="0"/>
            </a:fld>
            <a:endParaRPr lang="en-US" dirty="0"/>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4" name="Titel 11"/>
          <p:cNvSpPr>
            <a:spLocks noGrp="1"/>
          </p:cNvSpPr>
          <p:nvPr>
            <p:ph type="title" hasCustomPrompt="1"/>
          </p:nvPr>
        </p:nvSpPr>
        <p:spPr bwMode="gray">
          <a:xfrm>
            <a:off x="4540176" y="475421"/>
            <a:ext cx="7172416" cy="720000"/>
          </a:xfrm>
        </p:spPr>
        <p:txBody>
          <a:bodyPr/>
          <a:lstStyle>
            <a:lvl1pPr>
              <a:defRPr/>
            </a:lvl1pPr>
          </a:lstStyle>
          <a:p>
            <a:r>
              <a:rPr lang="en-US" dirty="0"/>
              <a:t>Add Title</a:t>
            </a:r>
            <a:endParaRPr lang="en-US" dirty="0"/>
          </a:p>
        </p:txBody>
      </p:sp>
      <p:sp>
        <p:nvSpPr>
          <p:cNvPr id="15" name="Inhaltsplatzhalter 2"/>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16" name="Textplatzhalter 7"/>
          <p:cNvSpPr>
            <a:spLocks noGrp="1"/>
          </p:cNvSpPr>
          <p:nvPr>
            <p:ph type="body" sz="quarter" idx="13" hasCustomPrompt="1"/>
          </p:nvPr>
        </p:nvSpPr>
        <p:spPr bwMode="gray">
          <a:xfrm>
            <a:off x="4540174" y="5814746"/>
            <a:ext cx="7172417"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grpSp>
        <p:nvGrpSpPr>
          <p:cNvPr id="3" name="Group 2"/>
          <p:cNvGrpSpPr/>
          <p:nvPr userDrawn="1"/>
        </p:nvGrpSpPr>
        <p:grpSpPr>
          <a:xfrm>
            <a:off x="-1896888" y="-1"/>
            <a:ext cx="1715078" cy="3968906"/>
            <a:chOff x="-1896888" y="-1"/>
            <a:chExt cx="1715078" cy="3968906"/>
          </a:xfrm>
        </p:grpSpPr>
        <p:grpSp>
          <p:nvGrpSpPr>
            <p:cNvPr id="4" name="Group 3"/>
            <p:cNvGrpSpPr/>
            <p:nvPr userDrawn="1"/>
          </p:nvGrpSpPr>
          <p:grpSpPr bwMode="gray">
            <a:xfrm>
              <a:off x="-1896888" y="-1"/>
              <a:ext cx="1715078" cy="3968906"/>
              <a:chOff x="-1824880" y="2708919"/>
              <a:chExt cx="1715078" cy="3968906"/>
            </a:xfrm>
          </p:grpSpPr>
          <p:sp>
            <p:nvSpPr>
              <p:cNvPr id="6" name="TextBox 5"/>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0" name="TextBox 9"/>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4" name="Rechteck 3"/>
          <p:cNvSpPr/>
          <p:nvPr userDrawn="1"/>
        </p:nvSpPr>
        <p:spPr bwMode="gray">
          <a:xfrm>
            <a:off x="8124825" y="0"/>
            <a:ext cx="4067175"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 name="Inhaltsplatzhalter 2"/>
          <p:cNvSpPr>
            <a:spLocks noGrp="1"/>
          </p:cNvSpPr>
          <p:nvPr>
            <p:ph idx="16" hasCustomPrompt="1"/>
          </p:nvPr>
        </p:nvSpPr>
        <p:spPr bwMode="gray">
          <a:xfrm>
            <a:off x="854458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10" name="Foliennummernplatzhalter 9"/>
          <p:cNvSpPr>
            <a:spLocks noGrp="1"/>
          </p:cNvSpPr>
          <p:nvPr>
            <p:ph type="sldNum" sz="quarter" idx="18"/>
          </p:nvPr>
        </p:nvSpPr>
        <p:spPr bwMode="gray">
          <a:xfrm>
            <a:off x="11424592" y="6246836"/>
            <a:ext cx="288000" cy="288000"/>
          </a:xfrm>
        </p:spPr>
        <p:txBody>
          <a:bodyPr/>
          <a:lstStyle/>
          <a:p>
            <a:fld id="{8FF9B0DE-3FEB-4AA0-B465-B80EF7C1333D}" type="slidenum">
              <a:rPr lang="en-US" smtClean="0"/>
            </a:fld>
            <a:endParaRPr lang="en-US" dirty="0"/>
          </a:p>
        </p:txBody>
      </p:sp>
      <p:sp>
        <p:nvSpPr>
          <p:cNvPr id="7" name="Fußzeilenplatzhalter 6"/>
          <p:cNvSpPr>
            <a:spLocks noGrp="1"/>
          </p:cNvSpPr>
          <p:nvPr>
            <p:ph type="ftr" sz="quarter" idx="19"/>
          </p:nvPr>
        </p:nvSpPr>
        <p:spPr bwMode="gray">
          <a:xfrm>
            <a:off x="8904624" y="6246836"/>
            <a:ext cx="2447960" cy="288000"/>
          </a:xfrm>
        </p:spPr>
        <p:txBody>
          <a:bodyPr/>
          <a:lstStyle/>
          <a:p>
            <a:r>
              <a:rPr lang="en-US"/>
              <a:t>Slide library     |     ONLY FOR INTERNAL USE</a:t>
            </a:r>
            <a:endParaRPr lang="en-US" dirty="0"/>
          </a:p>
        </p:txBody>
      </p:sp>
      <p:sp>
        <p:nvSpPr>
          <p:cNvPr id="6" name="Arrow: Pentagon 5"/>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grpSp>
        <p:nvGrpSpPr>
          <p:cNvPr id="8" name="Group 7"/>
          <p:cNvGrpSpPr/>
          <p:nvPr userDrawn="1"/>
        </p:nvGrpSpPr>
        <p:grpSpPr>
          <a:xfrm>
            <a:off x="-1896888" y="-1"/>
            <a:ext cx="1715078" cy="3968906"/>
            <a:chOff x="-1896888" y="-1"/>
            <a:chExt cx="1715078" cy="3968906"/>
          </a:xfrm>
        </p:grpSpPr>
        <p:grpSp>
          <p:nvGrpSpPr>
            <p:cNvPr id="9" name="Group 8"/>
            <p:cNvGrpSpPr/>
            <p:nvPr userDrawn="1"/>
          </p:nvGrpSpPr>
          <p:grpSpPr bwMode="gray">
            <a:xfrm>
              <a:off x="-1896888" y="-1"/>
              <a:ext cx="1715078" cy="3968906"/>
              <a:chOff x="-1824880" y="2708919"/>
              <a:chExt cx="1715078" cy="3968906"/>
            </a:xfrm>
          </p:grpSpPr>
          <p:sp>
            <p:nvSpPr>
              <p:cNvPr id="13" name="TextBox 12"/>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4" name="TextBox 13"/>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1" name="Picture 10"/>
            <p:cNvPicPr>
              <a:picLocks noChangeAspect="1"/>
            </p:cNvPicPr>
            <p:nvPr userDrawn="1"/>
          </p:nvPicPr>
          <p:blipFill>
            <a:blip r:embed="rId2"/>
            <a:stretch>
              <a:fillRect/>
            </a:stretch>
          </p:blipFill>
          <p:spPr>
            <a:xfrm>
              <a:off x="-1752872" y="2087812"/>
              <a:ext cx="1080120" cy="984668"/>
            </a:xfrm>
            <a:prstGeom prst="rect">
              <a:avLst/>
            </a:prstGeom>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4" name="Rechteck 3"/>
          <p:cNvSpPr/>
          <p:nvPr userDrawn="1"/>
        </p:nvSpPr>
        <p:spPr bwMode="gray">
          <a:xfrm>
            <a:off x="-1" y="0"/>
            <a:ext cx="4062413"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dirty="0">
              <a:solidFill>
                <a:schemeClr val="tx1"/>
              </a:solidFill>
            </a:endParaRPr>
          </a:p>
        </p:txBody>
      </p:sp>
      <p:sp>
        <p:nvSpPr>
          <p:cNvPr id="12" name="Titel 11"/>
          <p:cNvSpPr>
            <a:spLocks noGrp="1"/>
          </p:cNvSpPr>
          <p:nvPr>
            <p:ph type="title" hasCustomPrompt="1"/>
          </p:nvPr>
        </p:nvSpPr>
        <p:spPr bwMode="gray">
          <a:xfrm>
            <a:off x="4540176" y="475421"/>
            <a:ext cx="7172416"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540176" y="1412874"/>
            <a:ext cx="7172416"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5" name="Textplatzhalter 7"/>
          <p:cNvSpPr>
            <a:spLocks noGrp="1"/>
          </p:cNvSpPr>
          <p:nvPr>
            <p:ph type="body" sz="quarter" idx="13" hasCustomPrompt="1"/>
          </p:nvPr>
        </p:nvSpPr>
        <p:spPr bwMode="gray">
          <a:xfrm>
            <a:off x="4540176" y="5804874"/>
            <a:ext cx="7172416"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13" name="Inhaltsplatzhalter 2"/>
          <p:cNvSpPr>
            <a:spLocks noGrp="1"/>
          </p:cNvSpPr>
          <p:nvPr>
            <p:ph idx="16" hasCustomPrompt="1"/>
          </p:nvPr>
        </p:nvSpPr>
        <p:spPr bwMode="white">
          <a:xfrm>
            <a:off x="479376"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1845" indent="-215900">
              <a:defRPr sz="1200">
                <a:solidFill>
                  <a:schemeClr val="bg1"/>
                </a:solidFill>
              </a:defRPr>
            </a:lvl5pPr>
            <a:lvl6pPr marL="791845" indent="-215900">
              <a:defRPr sz="1200">
                <a:solidFill>
                  <a:schemeClr val="bg1"/>
                </a:solidFill>
              </a:defRPr>
            </a:lvl6pPr>
            <a:lvl7pPr marL="791845" indent="-215900">
              <a:defRPr sz="1200">
                <a:solidFill>
                  <a:schemeClr val="bg1"/>
                </a:solidFill>
              </a:defRPr>
            </a:lvl7pPr>
            <a:lvl8pPr marL="791845" indent="-215900">
              <a:defRPr sz="1200">
                <a:solidFill>
                  <a:schemeClr val="bg1"/>
                </a:solidFill>
              </a:defRPr>
            </a:lvl8pPr>
            <a:lvl9pPr marL="791845" indent="-215900">
              <a:defRPr sz="1200">
                <a:solidFill>
                  <a:schemeClr val="bg1"/>
                </a:solidFill>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8" name="Fußzeilenplatzhalter 7"/>
          <p:cNvSpPr>
            <a:spLocks noGrp="1"/>
          </p:cNvSpPr>
          <p:nvPr>
            <p:ph type="ftr" sz="quarter" idx="21"/>
          </p:nvPr>
        </p:nvSpPr>
        <p:spPr bwMode="gray"/>
        <p:txBody>
          <a:bodyPr/>
          <a:lstStyle/>
          <a:p>
            <a:r>
              <a:rPr lang="en-US"/>
              <a:t>Slide library     |     ONLY FOR INTERNAL USE</a:t>
            </a:r>
            <a:endParaRPr lang="en-US" dirty="0"/>
          </a:p>
        </p:txBody>
      </p:sp>
      <p:sp>
        <p:nvSpPr>
          <p:cNvPr id="9" name="Foliennummernplatzhalter 8"/>
          <p:cNvSpPr>
            <a:spLocks noGrp="1"/>
          </p:cNvSpPr>
          <p:nvPr>
            <p:ph type="sldNum" sz="quarter" idx="22"/>
          </p:nvPr>
        </p:nvSpPr>
        <p:spPr bwMode="gray"/>
        <p:txBody>
          <a:bodyPr/>
          <a:lstStyle/>
          <a:p>
            <a:fld id="{DF4E8F9F-5B1F-4F5B-BE49-3245D8C18D9F}" type="slidenum">
              <a:rPr lang="en-US" smtClean="0"/>
            </a:fld>
            <a:endParaRPr lang="en-US"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1" name="Rechteck 10"/>
          <p:cNvSpPr/>
          <p:nvPr userDrawn="1"/>
        </p:nvSpPr>
        <p:spPr bwMode="gray">
          <a:xfrm>
            <a:off x="8124825" y="0"/>
            <a:ext cx="4067175" cy="68580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de-DE" sz="1600" dirty="0">
              <a:solidFill>
                <a:schemeClr val="tx1"/>
              </a:solidFill>
            </a:endParaRPr>
          </a:p>
        </p:txBody>
      </p:sp>
      <p:sp>
        <p:nvSpPr>
          <p:cNvPr id="5" name="Inhaltsplatzhalter 2"/>
          <p:cNvSpPr>
            <a:spLocks noGrp="1"/>
          </p:cNvSpPr>
          <p:nvPr>
            <p:ph idx="16" hasCustomPrompt="1"/>
          </p:nvPr>
        </p:nvSpPr>
        <p:spPr bwMode="white">
          <a:xfrm>
            <a:off x="8544584" y="476670"/>
            <a:ext cx="2808000" cy="5472000"/>
          </a:xfrm>
          <a:noFill/>
        </p:spPr>
        <p:txBody>
          <a:bodyPr lIns="0" tIns="0" rIns="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marL="791845" indent="-215900">
              <a:defRPr sz="1200">
                <a:solidFill>
                  <a:schemeClr val="bg1"/>
                </a:solidFill>
              </a:defRPr>
            </a:lvl5pPr>
            <a:lvl6pPr marL="791845" indent="-215900">
              <a:defRPr sz="1200">
                <a:solidFill>
                  <a:schemeClr val="bg1"/>
                </a:solidFill>
              </a:defRPr>
            </a:lvl6pPr>
            <a:lvl7pPr marL="791845" indent="-215900">
              <a:defRPr sz="1200">
                <a:solidFill>
                  <a:schemeClr val="bg1"/>
                </a:solidFill>
              </a:defRPr>
            </a:lvl7pPr>
            <a:lvl8pPr marL="791845" indent="-215900">
              <a:defRPr sz="1200">
                <a:solidFill>
                  <a:schemeClr val="bg1"/>
                </a:solidFill>
              </a:defRPr>
            </a:lvl8pPr>
            <a:lvl9pPr marL="791845" indent="-215900">
              <a:defRPr sz="1200">
                <a:solidFill>
                  <a:schemeClr val="bg1"/>
                </a:solidFill>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10" name="Foliennummernplatzhalter 9"/>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fld>
            <a:endParaRPr lang="en-US" dirty="0"/>
          </a:p>
        </p:txBody>
      </p:sp>
      <p:sp>
        <p:nvSpPr>
          <p:cNvPr id="6" name="Fußzeilenplatzhalter 5"/>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dirty="0"/>
              <a:t>Slide library     |     </a:t>
            </a:r>
            <a:endParaRPr lang="en-US" dirty="0"/>
          </a:p>
          <a:p>
            <a:r>
              <a:rPr lang="en-US" dirty="0"/>
              <a:t>ONLY FOR INTERNAL USE</a:t>
            </a:r>
            <a:endParaRPr lang="en-US" dirty="0"/>
          </a:p>
        </p:txBody>
      </p:sp>
      <p:sp>
        <p:nvSpPr>
          <p:cNvPr id="7" name="Arrow: Pentagon 6"/>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dirty="0"/>
              <a:t>Add Title</a:t>
            </a:r>
            <a:endParaRPr lang="en-US" dirty="0"/>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2" name="Inhaltsplatzhalter 2"/>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fld>
            <a:endParaRPr lang="en-US" dirty="0"/>
          </a:p>
        </p:txBody>
      </p:sp>
      <p:sp>
        <p:nvSpPr>
          <p:cNvPr id="7" name="Fußzeilenplatzhalter 6"/>
          <p:cNvSpPr>
            <a:spLocks noGrp="1"/>
          </p:cNvSpPr>
          <p:nvPr>
            <p:ph type="ftr" sz="quarter" idx="21"/>
          </p:nvPr>
        </p:nvSpPr>
        <p:spPr bwMode="gray"/>
        <p:txBody>
          <a:bodyPr/>
          <a:lstStyle/>
          <a:p>
            <a:r>
              <a:rPr lang="en-US"/>
              <a:t>Slide library     |     ONLY FOR INTERNAL USE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dirty="0"/>
          </a:p>
        </p:txBody>
      </p:sp>
      <p:sp>
        <p:nvSpPr>
          <p:cNvPr id="2" name="Inhaltsplatzhalter 2"/>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dirty="0"/>
          </a:p>
        </p:txBody>
      </p:sp>
      <p:sp>
        <p:nvSpPr>
          <p:cNvPr id="4" name="Inhaltsplatzhalter 2"/>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dirty="0"/>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fld>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7" name="Fußzeilenplatzhalter 6"/>
          <p:cNvSpPr>
            <a:spLocks noGrp="1"/>
          </p:cNvSpPr>
          <p:nvPr>
            <p:ph type="ftr" sz="quarter" idx="21"/>
          </p:nvPr>
        </p:nvSpPr>
        <p:spPr bwMode="gray"/>
        <p:txBody>
          <a:bodyPr/>
          <a:lstStyle/>
          <a:p>
            <a:r>
              <a:rPr lang="en-US"/>
              <a:t>Slide library     |     ONLY FOR INTERNAL USE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dirty="0"/>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6" name="Bildplatzhalter 10"/>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0" name="Foliennummernplatzhalter 9"/>
          <p:cNvSpPr>
            <a:spLocks noGrp="1"/>
          </p:cNvSpPr>
          <p:nvPr>
            <p:ph type="sldNum" sz="quarter" idx="15"/>
          </p:nvPr>
        </p:nvSpPr>
        <p:spPr bwMode="gray"/>
        <p:txBody>
          <a:bodyPr/>
          <a:lstStyle/>
          <a:p>
            <a:fld id="{8FF9B0DE-3FEB-4AA0-B465-B80EF7C1333D}" type="slidenum">
              <a:rPr lang="en-US" smtClean="0"/>
            </a:fld>
            <a:endParaRPr lang="en-US" dirty="0"/>
          </a:p>
        </p:txBody>
      </p:sp>
      <p:sp>
        <p:nvSpPr>
          <p:cNvPr id="7" name="Fußzeilenplatzhalter 6"/>
          <p:cNvSpPr>
            <a:spLocks noGrp="1"/>
          </p:cNvSpPr>
          <p:nvPr>
            <p:ph type="ftr" sz="quarter" idx="21"/>
          </p:nvPr>
        </p:nvSpPr>
        <p:spPr bwMode="gray"/>
        <p:txBody>
          <a:bodyPr/>
          <a:lstStyle/>
          <a:p>
            <a:r>
              <a:rPr lang="en-US"/>
              <a:t>Slide library     |     ONLY FOR INTERNAL USE</a:t>
            </a:r>
            <a:endParaRPr lang="en-US" dirty="0"/>
          </a:p>
        </p:txBody>
      </p:sp>
      <p:grpSp>
        <p:nvGrpSpPr>
          <p:cNvPr id="2" name="Group 1"/>
          <p:cNvGrpSpPr/>
          <p:nvPr userDrawn="1"/>
        </p:nvGrpSpPr>
        <p:grpSpPr>
          <a:xfrm>
            <a:off x="-1896888" y="-1"/>
            <a:ext cx="1715078" cy="3968906"/>
            <a:chOff x="-1896888" y="-1"/>
            <a:chExt cx="1715078" cy="3968906"/>
          </a:xfrm>
        </p:grpSpPr>
        <p:grpSp>
          <p:nvGrpSpPr>
            <p:cNvPr id="4" name="Group 3"/>
            <p:cNvGrpSpPr/>
            <p:nvPr userDrawn="1"/>
          </p:nvGrpSpPr>
          <p:grpSpPr bwMode="gray">
            <a:xfrm>
              <a:off x="-1896888" y="-1"/>
              <a:ext cx="1715078" cy="3968906"/>
              <a:chOff x="-1824880" y="2708919"/>
              <a:chExt cx="1715078" cy="3968906"/>
            </a:xfrm>
          </p:grpSpPr>
          <p:sp>
            <p:nvSpPr>
              <p:cNvPr id="9" name="TextBox 8"/>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1" name="TextBox 10"/>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p:cNvPicPr>
              <a:picLocks noChangeAspect="1"/>
            </p:cNvPicPr>
            <p:nvPr userDrawn="1"/>
          </p:nvPicPr>
          <p:blipFill>
            <a:blip r:embed="rId2"/>
            <a:stretch>
              <a:fillRect/>
            </a:stretch>
          </p:blipFill>
          <p:spPr>
            <a:xfrm>
              <a:off x="-1752872" y="2087812"/>
              <a:ext cx="1080120" cy="984668"/>
            </a:xfrm>
            <a:prstGeom prst="rect">
              <a:avLst/>
            </a:prstGeom>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112520"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425" y="1412876"/>
            <a:ext cx="5112520"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6" name="Bildplatzhalter 10"/>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fld>
            <a:endParaRPr lang="en-US" dirty="0"/>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r>
              <a:rPr lang="en-US"/>
              <a:t>Slide library     |     ONLY FOR INTERNAL USE</a:t>
            </a:r>
            <a:endParaRPr lang="en-US" dirty="0"/>
          </a:p>
        </p:txBody>
      </p:sp>
      <p:grpSp>
        <p:nvGrpSpPr>
          <p:cNvPr id="2" name="Group 1"/>
          <p:cNvGrpSpPr/>
          <p:nvPr userDrawn="1"/>
        </p:nvGrpSpPr>
        <p:grpSpPr>
          <a:xfrm>
            <a:off x="-1896888" y="-1"/>
            <a:ext cx="1715078" cy="3968906"/>
            <a:chOff x="-1896888" y="-1"/>
            <a:chExt cx="1715078" cy="3968906"/>
          </a:xfrm>
        </p:grpSpPr>
        <p:grpSp>
          <p:nvGrpSpPr>
            <p:cNvPr id="4" name="Group 3"/>
            <p:cNvGrpSpPr/>
            <p:nvPr userDrawn="1"/>
          </p:nvGrpSpPr>
          <p:grpSpPr bwMode="gray">
            <a:xfrm>
              <a:off x="-1896888" y="-1"/>
              <a:ext cx="1715078" cy="3968906"/>
              <a:chOff x="-1824880" y="2708919"/>
              <a:chExt cx="1715078" cy="3968906"/>
            </a:xfrm>
          </p:grpSpPr>
          <p:sp>
            <p:nvSpPr>
              <p:cNvPr id="7" name="TextBox 6"/>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9" name="TextBox 8"/>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p:cNvPicPr>
              <a:picLocks noChangeAspect="1"/>
            </p:cNvPicPr>
            <p:nvPr userDrawn="1"/>
          </p:nvPicPr>
          <p:blipFill>
            <a:blip r:embed="rId2"/>
            <a:stretch>
              <a:fillRect/>
            </a:stretch>
          </p:blipFill>
          <p:spPr>
            <a:xfrm>
              <a:off x="-1752872" y="2087812"/>
              <a:ext cx="1080120" cy="984668"/>
            </a:xfrm>
            <a:prstGeom prst="rect">
              <a:avLst/>
            </a:prstGeom>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7" name="Bildplatzhalter 10"/>
          <p:cNvSpPr>
            <a:spLocks noGrp="1"/>
          </p:cNvSpPr>
          <p:nvPr>
            <p:ph type="pic" sz="quarter" idx="10" hasCustomPrompt="1"/>
          </p:nvPr>
        </p:nvSpPr>
        <p:spPr bwMode="gray">
          <a:xfrm>
            <a:off x="8124825" y="0"/>
            <a:ext cx="4067175"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fld>
            <a:endParaRPr lang="en-US" dirty="0"/>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Slide library     |     ONLY FOR INTERNAL USE</a:t>
            </a:r>
            <a:endParaRPr lang="en-US" dirty="0"/>
          </a:p>
        </p:txBody>
      </p:sp>
      <p:grpSp>
        <p:nvGrpSpPr>
          <p:cNvPr id="4" name="Group 3"/>
          <p:cNvGrpSpPr/>
          <p:nvPr userDrawn="1"/>
        </p:nvGrpSpPr>
        <p:grpSpPr>
          <a:xfrm>
            <a:off x="-1896888" y="-1"/>
            <a:ext cx="1715078" cy="3968906"/>
            <a:chOff x="-1896888" y="-1"/>
            <a:chExt cx="1715078" cy="3968906"/>
          </a:xfrm>
        </p:grpSpPr>
        <p:grpSp>
          <p:nvGrpSpPr>
            <p:cNvPr id="5" name="Group 4"/>
            <p:cNvGrpSpPr/>
            <p:nvPr userDrawn="1"/>
          </p:nvGrpSpPr>
          <p:grpSpPr bwMode="gray">
            <a:xfrm>
              <a:off x="-1896888" y="-1"/>
              <a:ext cx="1715078" cy="3968906"/>
              <a:chOff x="-1824880" y="2708919"/>
              <a:chExt cx="1715078" cy="3968906"/>
            </a:xfrm>
          </p:grpSpPr>
          <p:sp>
            <p:nvSpPr>
              <p:cNvPr id="9" name="TextBox 8"/>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1" name="TextBox 10"/>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p:cNvPicPr>
              <a:picLocks noChangeAspect="1"/>
            </p:cNvPicPr>
            <p:nvPr userDrawn="1"/>
          </p:nvPicPr>
          <p:blipFill>
            <a:blip r:embed="rId2"/>
            <a:stretch>
              <a:fillRect/>
            </a:stretch>
          </p:blipFill>
          <p:spPr>
            <a:xfrm>
              <a:off x="-1752872" y="2087812"/>
              <a:ext cx="1080120" cy="984668"/>
            </a:xfrm>
            <a:prstGeom prst="rect">
              <a:avLst/>
            </a:prstGeom>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dirty="0"/>
              <a:t>Add Title</a:t>
            </a:r>
            <a:endParaRPr lang="en-US" dirty="0"/>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13" name="Bildplatzhalter 10"/>
          <p:cNvSpPr>
            <a:spLocks noGrp="1"/>
          </p:cNvSpPr>
          <p:nvPr>
            <p:ph type="pic" sz="quarter" idx="10" hasCustomPrompt="1"/>
          </p:nvPr>
        </p:nvSpPr>
        <p:spPr bwMode="gray">
          <a:xfrm>
            <a:off x="1" y="0"/>
            <a:ext cx="2030412"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4" name="Fußzeilenplatzhalter 13"/>
          <p:cNvSpPr>
            <a:spLocks noGrp="1"/>
          </p:cNvSpPr>
          <p:nvPr>
            <p:ph type="ftr" sz="quarter" idx="29"/>
          </p:nvPr>
        </p:nvSpPr>
        <p:spPr bwMode="gray"/>
        <p:txBody>
          <a:bodyPr/>
          <a:lstStyle/>
          <a:p>
            <a:r>
              <a:rPr lang="en-US"/>
              <a:t>Slide library     |     ONLY FOR INTERNAL USE</a:t>
            </a:r>
            <a:endParaRPr lang="en-US" dirty="0"/>
          </a:p>
        </p:txBody>
      </p:sp>
      <p:sp>
        <p:nvSpPr>
          <p:cNvPr id="15" name="Foliennummernplatzhalter 14"/>
          <p:cNvSpPr>
            <a:spLocks noGrp="1"/>
          </p:cNvSpPr>
          <p:nvPr>
            <p:ph type="sldNum" sz="quarter" idx="30"/>
          </p:nvPr>
        </p:nvSpPr>
        <p:spPr bwMode="gray"/>
        <p:txBody>
          <a:bodyPr/>
          <a:lstStyle/>
          <a:p>
            <a:fld id="{DF4E8F9F-5B1F-4F5B-BE49-3245D8C18D9F}" type="slidenum">
              <a:rPr lang="en-US" smtClean="0"/>
            </a:fld>
            <a:endParaRPr lang="en-US" dirty="0"/>
          </a:p>
        </p:txBody>
      </p:sp>
      <p:sp>
        <p:nvSpPr>
          <p:cNvPr id="2" name="Text Placeholder 8"/>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4" name="Group 3"/>
          <p:cNvGrpSpPr/>
          <p:nvPr userDrawn="1"/>
        </p:nvGrpSpPr>
        <p:grpSpPr>
          <a:xfrm>
            <a:off x="-1896888" y="-1"/>
            <a:ext cx="1715078" cy="3968906"/>
            <a:chOff x="-1896888" y="-1"/>
            <a:chExt cx="1715078" cy="3968906"/>
          </a:xfrm>
        </p:grpSpPr>
        <p:grpSp>
          <p:nvGrpSpPr>
            <p:cNvPr id="5" name="Group 4"/>
            <p:cNvGrpSpPr/>
            <p:nvPr userDrawn="1"/>
          </p:nvGrpSpPr>
          <p:grpSpPr bwMode="gray">
            <a:xfrm>
              <a:off x="-1896888" y="-1"/>
              <a:ext cx="1715078" cy="3968906"/>
              <a:chOff x="-1824880" y="2708919"/>
              <a:chExt cx="1715078" cy="3968906"/>
            </a:xfrm>
          </p:grpSpPr>
          <p:sp>
            <p:nvSpPr>
              <p:cNvPr id="7" name="TextBox 6"/>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9" name="TextBox 8"/>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dirty="0"/>
              <a:t>Add Title</a:t>
            </a:r>
            <a:endParaRPr lang="en-US" dirty="0"/>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7" name="Bildplatzhalter 10"/>
          <p:cNvSpPr>
            <a:spLocks noGrp="1"/>
          </p:cNvSpPr>
          <p:nvPr>
            <p:ph type="pic" sz="quarter" idx="10" hasCustomPrompt="1"/>
          </p:nvPr>
        </p:nvSpPr>
        <p:spPr bwMode="gray">
          <a:xfrm>
            <a:off x="6096000" y="0"/>
            <a:ext cx="6095999"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r>
              <a:rPr lang="en-US"/>
              <a:t>Slide library     |     ONLY FOR INTERNAL USE</a:t>
            </a:r>
            <a:endParaRPr lang="en-US" dirty="0"/>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fld>
            <a:endParaRPr lang="en-US"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2" name="Group 1"/>
          <p:cNvGrpSpPr/>
          <p:nvPr userDrawn="1"/>
        </p:nvGrpSpPr>
        <p:grpSpPr>
          <a:xfrm>
            <a:off x="-1896888" y="-1"/>
            <a:ext cx="1715078" cy="3968906"/>
            <a:chOff x="-1896888" y="-1"/>
            <a:chExt cx="1715078" cy="3968906"/>
          </a:xfrm>
        </p:grpSpPr>
        <p:grpSp>
          <p:nvGrpSpPr>
            <p:cNvPr id="4" name="Group 3"/>
            <p:cNvGrpSpPr/>
            <p:nvPr userDrawn="1"/>
          </p:nvGrpSpPr>
          <p:grpSpPr bwMode="gray">
            <a:xfrm>
              <a:off x="-1896888" y="-1"/>
              <a:ext cx="1715078" cy="3968906"/>
              <a:chOff x="-1824880" y="2708919"/>
              <a:chExt cx="1715078" cy="3968906"/>
            </a:xfrm>
          </p:grpSpPr>
          <p:sp>
            <p:nvSpPr>
              <p:cNvPr id="11" name="TextBox 10"/>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5" name="Picture 4"/>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dirty="0"/>
              <a:t>Add Title</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7" name="Bildplatzhalter 10"/>
          <p:cNvSpPr>
            <a:spLocks noGrp="1"/>
          </p:cNvSpPr>
          <p:nvPr>
            <p:ph type="pic" sz="quarter" idx="10" hasCustomPrompt="1"/>
          </p:nvPr>
        </p:nvSpPr>
        <p:spPr bwMode="gray">
          <a:xfrm>
            <a:off x="8124825" y="0"/>
            <a:ext cx="4067173"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fld>
            <a:endParaRPr lang="en-US"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r>
              <a:rPr lang="en-US"/>
              <a:t>Slide library     |     ONLY FOR INTERNAL USE</a:t>
            </a:r>
            <a:endParaRPr lang="en-US" dirty="0"/>
          </a:p>
        </p:txBody>
      </p:sp>
      <p:grpSp>
        <p:nvGrpSpPr>
          <p:cNvPr id="4" name="Group 3"/>
          <p:cNvGrpSpPr/>
          <p:nvPr userDrawn="1"/>
        </p:nvGrpSpPr>
        <p:grpSpPr>
          <a:xfrm>
            <a:off x="-1896888" y="-1"/>
            <a:ext cx="1715078" cy="3968906"/>
            <a:chOff x="-1896888" y="-1"/>
            <a:chExt cx="1715078" cy="3968906"/>
          </a:xfrm>
        </p:grpSpPr>
        <p:grpSp>
          <p:nvGrpSpPr>
            <p:cNvPr id="5" name="Group 4"/>
            <p:cNvGrpSpPr/>
            <p:nvPr userDrawn="1"/>
          </p:nvGrpSpPr>
          <p:grpSpPr bwMode="gray">
            <a:xfrm>
              <a:off x="-1896888" y="-1"/>
              <a:ext cx="1715078" cy="3968906"/>
              <a:chOff x="-1824880" y="2708919"/>
              <a:chExt cx="1715078" cy="3968906"/>
            </a:xfrm>
          </p:grpSpPr>
          <p:sp>
            <p:nvSpPr>
              <p:cNvPr id="11" name="TextBox 10"/>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9" name="Picture 8"/>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dirty="0"/>
              <a:t>Add Title</a:t>
            </a:r>
            <a:endParaRPr lang="en-US" dirty="0"/>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a:p>
            <a:pPr lvl="5"/>
            <a:r>
              <a:rPr lang="en-US"/>
              <a:t>Sixth level</a:t>
            </a:r>
            <a:endParaRPr lang="en-US"/>
          </a:p>
          <a:p>
            <a:pPr lvl="6"/>
            <a:r>
              <a:rPr lang="en-US"/>
              <a:t>Seventh level</a:t>
            </a:r>
            <a:endParaRPr lang="en-US"/>
          </a:p>
          <a:p>
            <a:pPr lvl="7"/>
            <a:r>
              <a:rPr lang="en-US"/>
              <a:t>Eighth level</a:t>
            </a:r>
            <a:endParaRPr lang="en-US"/>
          </a:p>
          <a:p>
            <a:pPr lvl="8"/>
            <a:r>
              <a:rPr lang="en-US"/>
              <a:t>Ninth level</a:t>
            </a:r>
            <a:endParaRPr lang="en-US" dirty="0"/>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dirty="0"/>
              <a:t>Footnote/Source</a:t>
            </a:r>
            <a:endParaRPr lang="en-US" dirty="0"/>
          </a:p>
        </p:txBody>
      </p:sp>
      <p:sp>
        <p:nvSpPr>
          <p:cNvPr id="9" name="Bildplatzhalter 10"/>
          <p:cNvSpPr>
            <a:spLocks noGrp="1"/>
          </p:cNvSpPr>
          <p:nvPr>
            <p:ph type="pic" sz="quarter" idx="10" hasCustomPrompt="1"/>
          </p:nvPr>
        </p:nvSpPr>
        <p:spPr bwMode="gray">
          <a:xfrm>
            <a:off x="-1" y="0"/>
            <a:ext cx="2030413"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r>
              <a:rPr lang="en-US"/>
              <a:t>Slide library     |     ONLY FOR INTERNAL USE</a:t>
            </a:r>
            <a:endParaRPr lang="en-US" dirty="0"/>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fld>
            <a:endParaRPr lang="en-US" dirty="0"/>
          </a:p>
        </p:txBody>
      </p:sp>
      <p:sp>
        <p:nvSpPr>
          <p:cNvPr id="2" name="Text Placeholder 8"/>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4" name="Group 3"/>
          <p:cNvGrpSpPr/>
          <p:nvPr userDrawn="1"/>
        </p:nvGrpSpPr>
        <p:grpSpPr>
          <a:xfrm>
            <a:off x="-1896888" y="-1"/>
            <a:ext cx="1715078" cy="3968906"/>
            <a:chOff x="-1896888" y="-1"/>
            <a:chExt cx="1715078" cy="3968906"/>
          </a:xfrm>
        </p:grpSpPr>
        <p:grpSp>
          <p:nvGrpSpPr>
            <p:cNvPr id="5" name="Group 4"/>
            <p:cNvGrpSpPr/>
            <p:nvPr userDrawn="1"/>
          </p:nvGrpSpPr>
          <p:grpSpPr bwMode="gray">
            <a:xfrm>
              <a:off x="-1896888" y="-1"/>
              <a:ext cx="1715078" cy="3968906"/>
              <a:chOff x="-1824880" y="2708919"/>
              <a:chExt cx="1715078" cy="3968906"/>
            </a:xfrm>
          </p:grpSpPr>
          <p:sp>
            <p:nvSpPr>
              <p:cNvPr id="7" name="TextBox 6"/>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0" name="TextBox 9"/>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6" name="Picture 5"/>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7" name="Textplatzhalter 6"/>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dirty="0"/>
              <a:t>Edit text by clicking. Use the "Increase/decrease list level" buttons on the Start tab to switch between the set up text levels.</a:t>
            </a:r>
            <a:endParaRPr lang="en-US" dirty="0"/>
          </a:p>
          <a:p>
            <a:pPr lvl="1"/>
            <a:r>
              <a:rPr lang="en-US" dirty="0"/>
              <a:t>Second level</a:t>
            </a:r>
            <a:endParaRPr lang="en-US" dirty="0"/>
          </a:p>
        </p:txBody>
      </p:sp>
      <p:sp>
        <p:nvSpPr>
          <p:cNvPr id="19" name="Fußzeilenplatzhalter 18"/>
          <p:cNvSpPr>
            <a:spLocks noGrp="1"/>
          </p:cNvSpPr>
          <p:nvPr>
            <p:ph type="ftr" sz="quarter" idx="29"/>
          </p:nvPr>
        </p:nvSpPr>
        <p:spPr bwMode="gray"/>
        <p:txBody>
          <a:bodyPr/>
          <a:lstStyle>
            <a:lvl1pPr>
              <a:defRPr>
                <a:solidFill>
                  <a:schemeClr val="bg1"/>
                </a:solidFill>
              </a:defRPr>
            </a:lvl1pPr>
          </a:lstStyle>
          <a:p>
            <a:r>
              <a:rPr lang="en-US"/>
              <a:t>Slide library     |     ONLY FOR INTERNAL USE</a:t>
            </a:r>
            <a:endParaRPr lang="en-US" dirty="0"/>
          </a:p>
        </p:txBody>
      </p:sp>
      <p:sp>
        <p:nvSpPr>
          <p:cNvPr id="20" name="Foliennummernplatzhalter 19"/>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fld>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2" name="Text Placeholder 8"/>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grpSp>
        <p:nvGrpSpPr>
          <p:cNvPr id="13" name="Group 12"/>
          <p:cNvGrpSpPr/>
          <p:nvPr userDrawn="1"/>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‘Insert’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is located</a:t>
              </a:r>
              <a:endParaRPr lang="en-US" sz="900" dirty="0">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7" name="TextBox 16"/>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a picture in the background</a:t>
            </a:r>
            <a:endParaRPr lang="en-US" sz="800" b="1" dirty="0">
              <a:solidFill>
                <a:srgbClr val="076D7E"/>
              </a:solidFill>
              <a:latin typeface="+mj-l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dirty="0"/>
              <a:t>Bild hinzufügen per </a:t>
            </a:r>
            <a:br>
              <a:rPr lang="en-US" dirty="0"/>
            </a:br>
            <a:r>
              <a:rPr lang="en-US" dirty="0"/>
              <a:t>Klick auf das Symbol</a:t>
            </a:r>
            <a:endParaRPr lang="en-US" dirty="0"/>
          </a:p>
        </p:txBody>
      </p:sp>
      <p:sp>
        <p:nvSpPr>
          <p:cNvPr id="6" name="Bildplatzhalter 10"/>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dirty="0"/>
              <a:t>Add picture</a:t>
            </a:r>
            <a:endParaRPr lang="en-US" dirty="0"/>
          </a:p>
        </p:txBody>
      </p:sp>
      <p:sp>
        <p:nvSpPr>
          <p:cNvPr id="7" name="Textplatzhalter 6"/>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endParaRPr lang="en-US" dirty="0"/>
          </a:p>
          <a:p>
            <a:pPr lvl="1"/>
            <a:r>
              <a:rPr lang="en-US" dirty="0"/>
              <a:t>Second level</a:t>
            </a:r>
            <a:endParaRPr lang="en-US" dirty="0"/>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r>
              <a:rPr lang="en-US"/>
              <a:t>Slide library     |     ONLY FOR INTERNAL USE</a:t>
            </a:r>
            <a:endParaRPr lang="en-US" dirty="0"/>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fld>
            <a:endParaRPr lang="en-US" dirty="0"/>
          </a:p>
        </p:txBody>
      </p:sp>
      <p:sp>
        <p:nvSpPr>
          <p:cNvPr id="2" name="Text Placeholder 8"/>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sp>
        <p:nvSpPr>
          <p:cNvPr id="3"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5" name="Group 4"/>
          <p:cNvGrpSpPr/>
          <p:nvPr userDrawn="1"/>
        </p:nvGrpSpPr>
        <p:grpSpPr>
          <a:xfrm>
            <a:off x="-1896888" y="-1"/>
            <a:ext cx="1715078" cy="3968906"/>
            <a:chOff x="-1896888" y="-1"/>
            <a:chExt cx="1715078" cy="3968906"/>
          </a:xfrm>
        </p:grpSpPr>
        <p:grpSp>
          <p:nvGrpSpPr>
            <p:cNvPr id="9" name="Group 8"/>
            <p:cNvGrpSpPr/>
            <p:nvPr userDrawn="1"/>
          </p:nvGrpSpPr>
          <p:grpSpPr bwMode="gray">
            <a:xfrm>
              <a:off x="-1896888" y="-1"/>
              <a:ext cx="1715078" cy="3968906"/>
              <a:chOff x="-1824880" y="2708919"/>
              <a:chExt cx="1715078" cy="3968906"/>
            </a:xfrm>
          </p:grpSpPr>
          <p:sp>
            <p:nvSpPr>
              <p:cNvPr id="11" name="TextBox 10"/>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2" name="TextBox 11"/>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dirty="0"/>
              <a:t>Bild hinzufügen per </a:t>
            </a:r>
            <a:br>
              <a:rPr lang="en-US" dirty="0"/>
            </a:br>
            <a:r>
              <a:rPr lang="en-US" dirty="0"/>
              <a:t>Klick auf das Symbol</a:t>
            </a:r>
            <a:endParaRPr lang="en-US" dirty="0"/>
          </a:p>
        </p:txBody>
      </p:sp>
      <p:sp>
        <p:nvSpPr>
          <p:cNvPr id="12" name="Bildplatzhalter 10"/>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dirty="0"/>
              <a:t>Add picture</a:t>
            </a:r>
            <a:endParaRPr lang="en-US" dirty="0"/>
          </a:p>
        </p:txBody>
      </p:sp>
      <p:sp>
        <p:nvSpPr>
          <p:cNvPr id="7" name="Textplatzhalter 6"/>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endParaRPr lang="en-US" dirty="0"/>
          </a:p>
          <a:p>
            <a:pPr lvl="1"/>
            <a:r>
              <a:rPr lang="en-US" dirty="0"/>
              <a:t>Second level</a:t>
            </a:r>
            <a:endParaRPr lang="en-US" dirty="0"/>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fld>
            <a:endParaRPr lang="en-US" dirty="0"/>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Slide library     |     ONLY FOR INTERNAL USE</a:t>
            </a:r>
            <a:endParaRPr lang="en-US" dirty="0"/>
          </a:p>
        </p:txBody>
      </p:sp>
      <p:sp>
        <p:nvSpPr>
          <p:cNvPr id="2" name="Text Placeholder 8"/>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sp>
        <p:nvSpPr>
          <p:cNvPr id="5"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6" name="Group 5"/>
          <p:cNvGrpSpPr/>
          <p:nvPr userDrawn="1"/>
        </p:nvGrpSpPr>
        <p:grpSpPr>
          <a:xfrm>
            <a:off x="-1896888" y="-1"/>
            <a:ext cx="1715078" cy="3968906"/>
            <a:chOff x="-1896888" y="-1"/>
            <a:chExt cx="1715078" cy="3968906"/>
          </a:xfrm>
        </p:grpSpPr>
        <p:grpSp>
          <p:nvGrpSpPr>
            <p:cNvPr id="9" name="Group 8"/>
            <p:cNvGrpSpPr/>
            <p:nvPr userDrawn="1"/>
          </p:nvGrpSpPr>
          <p:grpSpPr bwMode="gray">
            <a:xfrm>
              <a:off x="-1896888" y="-1"/>
              <a:ext cx="1715078" cy="3968906"/>
              <a:chOff x="-1824880" y="2708919"/>
              <a:chExt cx="1715078" cy="3968906"/>
            </a:xfrm>
          </p:grpSpPr>
          <p:sp>
            <p:nvSpPr>
              <p:cNvPr id="11" name="TextBox 10"/>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dirty="0"/>
              <a:t>Bild hinzufügen per </a:t>
            </a:r>
            <a:br>
              <a:rPr lang="en-US" dirty="0"/>
            </a:br>
            <a:r>
              <a:rPr lang="en-US" dirty="0"/>
              <a:t>Klick auf das Symbol</a:t>
            </a:r>
            <a:endParaRPr lang="en-US" dirty="0"/>
          </a:p>
        </p:txBody>
      </p:sp>
      <p:sp>
        <p:nvSpPr>
          <p:cNvPr id="12" name="Bildplatzhalter 10"/>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dirty="0"/>
              <a:t>Add picture</a:t>
            </a:r>
            <a:endParaRPr lang="en-US" dirty="0"/>
          </a:p>
        </p:txBody>
      </p:sp>
      <p:sp>
        <p:nvSpPr>
          <p:cNvPr id="7" name="Textplatzhalter 6"/>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endParaRPr lang="en-US" dirty="0"/>
          </a:p>
          <a:p>
            <a:pPr lvl="1"/>
            <a:r>
              <a:rPr lang="en-US" dirty="0"/>
              <a:t>Second level</a:t>
            </a:r>
            <a:endParaRPr lang="en-US" dirty="0"/>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endParaRPr lang="en-US" dirty="0"/>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fld>
            <a:endParaRPr lang="en-US" dirty="0"/>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r>
              <a:rPr lang="en-US"/>
              <a:t>Slide library     |     ONLY FOR INTERNAL USE</a:t>
            </a:r>
            <a:endParaRPr lang="en-US" dirty="0"/>
          </a:p>
        </p:txBody>
      </p:sp>
      <p:sp>
        <p:nvSpPr>
          <p:cNvPr id="2" name="Text Placeholder 8"/>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endParaRPr lang="en-US"/>
          </a:p>
        </p:txBody>
      </p:sp>
      <p:sp>
        <p:nvSpPr>
          <p:cNvPr id="5" name="Arrow: Pentagon 6"/>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grpSp>
        <p:nvGrpSpPr>
          <p:cNvPr id="6" name="Group 5"/>
          <p:cNvGrpSpPr/>
          <p:nvPr userDrawn="1"/>
        </p:nvGrpSpPr>
        <p:grpSpPr>
          <a:xfrm>
            <a:off x="-1896888" y="-1"/>
            <a:ext cx="1715078" cy="3968906"/>
            <a:chOff x="-1896888" y="-1"/>
            <a:chExt cx="1715078" cy="3968906"/>
          </a:xfrm>
        </p:grpSpPr>
        <p:grpSp>
          <p:nvGrpSpPr>
            <p:cNvPr id="9" name="Group 8"/>
            <p:cNvGrpSpPr/>
            <p:nvPr userDrawn="1"/>
          </p:nvGrpSpPr>
          <p:grpSpPr bwMode="gray">
            <a:xfrm>
              <a:off x="-1896888" y="-1"/>
              <a:ext cx="1715078" cy="3968906"/>
              <a:chOff x="-1824880" y="2708919"/>
              <a:chExt cx="1715078" cy="3968906"/>
            </a:xfrm>
          </p:grpSpPr>
          <p:sp>
            <p:nvSpPr>
              <p:cNvPr id="11" name="TextBox 10"/>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3" name="TextBox 12"/>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10" name="Picture 9"/>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Title</a:t>
            </a:r>
            <a:endParaRPr lang="en-US" dirty="0"/>
          </a:p>
        </p:txBody>
      </p:sp>
      <p:sp>
        <p:nvSpPr>
          <p:cNvPr id="11"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7" name="Fußzeilenplatzhalter 6"/>
          <p:cNvSpPr>
            <a:spLocks noGrp="1"/>
          </p:cNvSpPr>
          <p:nvPr>
            <p:ph type="ftr" sz="quarter" idx="10"/>
          </p:nvPr>
        </p:nvSpPr>
        <p:spPr bwMode="gray"/>
        <p:txBody>
          <a:bodyPr/>
          <a:lstStyle/>
          <a:p>
            <a:r>
              <a:rPr lang="en-US"/>
              <a:t>Slide library     |     ONLY FOR INTERNAL USE</a:t>
            </a:r>
            <a:endParaRPr lang="en-US" dirty="0"/>
          </a:p>
        </p:txBody>
      </p:sp>
      <p:sp>
        <p:nvSpPr>
          <p:cNvPr id="10" name="Foliennummernplatzhalter 9"/>
          <p:cNvSpPr>
            <a:spLocks noGrp="1"/>
          </p:cNvSpPr>
          <p:nvPr>
            <p:ph type="sldNum" sz="quarter" idx="11"/>
          </p:nvPr>
        </p:nvSpPr>
        <p:spPr bwMode="gray"/>
        <p:txBody>
          <a:bodyPr/>
          <a:lstStyle/>
          <a:p>
            <a:fld id="{8FF9B0DE-3FEB-4AA0-B465-B80EF7C1333D}" type="slidenum">
              <a:rPr lang="en-US" smtClean="0"/>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endParaRPr lang="en-US" dirty="0"/>
          </a:p>
        </p:txBody>
      </p:sp>
      <p:sp>
        <p:nvSpPr>
          <p:cNvPr id="7" name="Fußzeilenplatzhalter 6"/>
          <p:cNvSpPr>
            <a:spLocks noGrp="1"/>
          </p:cNvSpPr>
          <p:nvPr>
            <p:ph type="ftr" sz="quarter" idx="10"/>
          </p:nvPr>
        </p:nvSpPr>
        <p:spPr bwMode="gray"/>
        <p:txBody>
          <a:bodyPr/>
          <a:lstStyle/>
          <a:p>
            <a:r>
              <a:rPr lang="en-US"/>
              <a:t>Slide library     |     ONLY FOR INTERNAL USE</a:t>
            </a:r>
            <a:endParaRPr lang="en-US" dirty="0"/>
          </a:p>
        </p:txBody>
      </p:sp>
      <p:sp>
        <p:nvSpPr>
          <p:cNvPr id="8" name="Foliennummernplatzhalter 7"/>
          <p:cNvSpPr>
            <a:spLocks noGrp="1"/>
          </p:cNvSpPr>
          <p:nvPr>
            <p:ph type="sldNum" sz="quarter" idx="11"/>
          </p:nvPr>
        </p:nvSpPr>
        <p:spPr bwMode="gray"/>
        <p:txBody>
          <a:bodyPr/>
          <a:lstStyle/>
          <a:p>
            <a:fld id="{8FF9B0DE-3FEB-4AA0-B465-B80EF7C1333D}"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p:cNvSpPr>
            <a:spLocks noGrp="1"/>
          </p:cNvSpPr>
          <p:nvPr>
            <p:ph type="title" hasCustomPrompt="1"/>
          </p:nvPr>
        </p:nvSpPr>
        <p:spPr bwMode="gray"/>
        <p:txBody>
          <a:bodyPr/>
          <a:lstStyle>
            <a:lvl1pPr>
              <a:defRPr>
                <a:solidFill>
                  <a:schemeClr val="bg1"/>
                </a:solidFill>
              </a:defRPr>
            </a:lvl1pPr>
          </a:lstStyle>
          <a:p>
            <a:r>
              <a:rPr lang="en-US" dirty="0"/>
              <a:t>Add End Message</a:t>
            </a:r>
            <a:endParaRPr lang="en-US" dirty="0"/>
          </a:p>
        </p:txBody>
      </p:sp>
      <p:sp>
        <p:nvSpPr>
          <p:cNvPr id="5" name="Bildplatzhalter 10"/>
          <p:cNvSpPr>
            <a:spLocks noGrp="1"/>
          </p:cNvSpPr>
          <p:nvPr>
            <p:ph type="pic" sz="quarter" idx="19" hasCustomPrompt="1"/>
          </p:nvPr>
        </p:nvSpPr>
        <p:spPr bwMode="ltGray">
          <a:xfrm>
            <a:off x="1" y="0"/>
            <a:ext cx="12191998" cy="3429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dirty="0"/>
              <a:t>Add picture</a:t>
            </a:r>
            <a:endParaRPr lang="en-US" dirty="0"/>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endParaRPr lang="en-US" dirty="0"/>
          </a:p>
          <a:p>
            <a:pPr lvl="1"/>
            <a:r>
              <a:rPr lang="en-US" dirty="0"/>
              <a:t>Second level</a:t>
            </a:r>
            <a:endParaRPr lang="en-US" dirty="0"/>
          </a:p>
          <a:p>
            <a:pPr lvl="2"/>
            <a:r>
              <a:rPr lang="en-US" dirty="0"/>
              <a:t>Third level</a:t>
            </a:r>
            <a:endParaRPr lang="en-US" dirty="0"/>
          </a:p>
        </p:txBody>
      </p:sp>
      <p:sp>
        <p:nvSpPr>
          <p:cNvPr id="11" name="Textplatzhalter 7"/>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endParaRPr lang="en-US"/>
          </a:p>
          <a:p>
            <a:pPr lvl="1"/>
            <a:r>
              <a:rPr lang="en-US"/>
              <a:t>Second level</a:t>
            </a:r>
            <a:endParaRPr lang="en-US"/>
          </a:p>
          <a:p>
            <a:pPr lvl="2"/>
            <a:r>
              <a:rPr lang="en-US"/>
              <a:t>Third level</a:t>
            </a:r>
            <a:endParaRPr lang="en-US" dirty="0"/>
          </a:p>
        </p:txBody>
      </p:sp>
      <p:sp>
        <p:nvSpPr>
          <p:cNvPr id="7" name="Fußzeilenplatzhalter 6"/>
          <p:cNvSpPr>
            <a:spLocks noGrp="1"/>
          </p:cNvSpPr>
          <p:nvPr>
            <p:ph type="ftr" sz="quarter" idx="21"/>
          </p:nvPr>
        </p:nvSpPr>
        <p:spPr bwMode="gray"/>
        <p:txBody>
          <a:bodyPr/>
          <a:lstStyle>
            <a:lvl1pPr>
              <a:defRPr>
                <a:solidFill>
                  <a:schemeClr val="bg1"/>
                </a:solidFill>
              </a:defRPr>
            </a:lvl1pPr>
          </a:lstStyle>
          <a:p>
            <a:r>
              <a:rPr lang="en-US"/>
              <a:t>Slide library     |     ONLY FOR INTERNAL USE</a:t>
            </a:r>
            <a:endParaRPr lang="en-US" dirty="0"/>
          </a:p>
        </p:txBody>
      </p:sp>
      <p:sp>
        <p:nvSpPr>
          <p:cNvPr id="9" name="Foliennummernplatzhalter 8"/>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fld>
            <a:endParaRPr lang="en-US" dirty="0"/>
          </a:p>
        </p:txBody>
      </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2" name="Group 1"/>
          <p:cNvGrpSpPr/>
          <p:nvPr userDrawn="1"/>
        </p:nvGrpSpPr>
        <p:grpSpPr>
          <a:xfrm>
            <a:off x="-1896888" y="-1"/>
            <a:ext cx="1715078" cy="3968906"/>
            <a:chOff x="-1896888" y="-1"/>
            <a:chExt cx="1715078" cy="3968906"/>
          </a:xfrm>
        </p:grpSpPr>
        <p:grpSp>
          <p:nvGrpSpPr>
            <p:cNvPr id="3" name="Group 2"/>
            <p:cNvGrpSpPr/>
            <p:nvPr userDrawn="1"/>
          </p:nvGrpSpPr>
          <p:grpSpPr bwMode="gray">
            <a:xfrm>
              <a:off x="-1896888" y="-1"/>
              <a:ext cx="1715078" cy="3968906"/>
              <a:chOff x="-1824880" y="2708919"/>
              <a:chExt cx="1715078" cy="3968906"/>
            </a:xfrm>
          </p:grpSpPr>
          <p:sp>
            <p:nvSpPr>
              <p:cNvPr id="6" name="TextBox 5"/>
              <p:cNvSpPr txBox="1"/>
              <p:nvPr userDrawn="1"/>
            </p:nvSpPr>
            <p:spPr bwMode="gray">
              <a:xfrm>
                <a:off x="-1824880" y="2708919"/>
                <a:ext cx="1715078" cy="3968905"/>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endParaRPr lang="en-US" sz="1100" b="1" dirty="0">
                  <a:solidFill>
                    <a:schemeClr val="tx1"/>
                  </a:solidFill>
                  <a:effectLst/>
                  <a:latin typeface="+mj-lt"/>
                </a:endParaRPr>
              </a:p>
              <a:p>
                <a:pPr marL="144145" indent="-144145">
                  <a:lnSpc>
                    <a:spcPct val="120000"/>
                  </a:lnSpc>
                  <a:spcAft>
                    <a:spcPts val="600"/>
                  </a:spcAft>
                  <a:buFont typeface="+mj-lt"/>
                  <a:buAutoNum type="arabicPeriod"/>
                </a:pPr>
                <a:r>
                  <a:rPr lang="en-US" sz="900" dirty="0">
                    <a:solidFill>
                      <a:schemeClr val="tx1"/>
                    </a:solidFill>
                    <a:effectLst/>
                    <a:latin typeface="+mn-lt"/>
                  </a:rPr>
                  <a:t>Click on the placeholder for pictures</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Open the menu ‘Graphics Format’</a:t>
                </a:r>
                <a:endParaRPr lang="en-US" sz="900" dirty="0">
                  <a:solidFill>
                    <a:schemeClr val="tx1"/>
                  </a:solidFill>
                  <a:effectLst/>
                  <a:latin typeface="+mn-lt"/>
                </a:endParaRPr>
              </a:p>
              <a:p>
                <a:pPr marL="144145" indent="-144145">
                  <a:lnSpc>
                    <a:spcPct val="120000"/>
                  </a:lnSpc>
                  <a:spcAft>
                    <a:spcPts val="600"/>
                  </a:spcAft>
                  <a:buFont typeface="+mj-lt"/>
                  <a:buAutoNum type="arabicPeriod"/>
                </a:pPr>
                <a:r>
                  <a:rPr lang="en-US" sz="900" dirty="0">
                    <a:solidFill>
                      <a:schemeClr val="tx1"/>
                    </a:solidFill>
                    <a:effectLst/>
                    <a:latin typeface="+mn-lt"/>
                  </a:rPr>
                  <a:t>Choose ‘Change Graphic’ and then the corresponding source where the image is located</a:t>
                </a:r>
                <a:endParaRPr lang="en-US" sz="900" dirty="0">
                  <a:solidFill>
                    <a:schemeClr val="tx1"/>
                  </a:solidFill>
                  <a:latin typeface="+mn-lt"/>
                </a:endParaRPr>
              </a:p>
            </p:txBody>
          </p:sp>
          <p:sp>
            <p:nvSpPr>
              <p:cNvPr id="17" name="TextBox 16"/>
              <p:cNvSpPr txBox="1"/>
              <p:nvPr userDrawn="1"/>
            </p:nvSpPr>
            <p:spPr bwMode="gray">
              <a:xfrm>
                <a:off x="-1824880" y="5813729"/>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dirty="0">
                    <a:solidFill>
                      <a:schemeClr val="tx1"/>
                    </a:solidFill>
                    <a:effectLst/>
                    <a:latin typeface="+mn-lt"/>
                  </a:rPr>
                  <a:t>Now the image has </a:t>
                </a:r>
                <a:br>
                  <a:rPr lang="en-US" sz="900" dirty="0">
                    <a:solidFill>
                      <a:schemeClr val="tx1"/>
                    </a:solidFill>
                    <a:effectLst/>
                    <a:latin typeface="+mn-lt"/>
                  </a:rPr>
                </a:br>
                <a:r>
                  <a:rPr lang="en-US" sz="900" dirty="0">
                    <a:solidFill>
                      <a:schemeClr val="tx1"/>
                    </a:solidFill>
                    <a:effectLst/>
                    <a:latin typeface="+mn-lt"/>
                  </a:rPr>
                  <a:t>been loaded into the </a:t>
                </a:r>
                <a:br>
                  <a:rPr lang="en-US" sz="900" dirty="0">
                    <a:solidFill>
                      <a:schemeClr val="tx1"/>
                    </a:solidFill>
                    <a:effectLst/>
                    <a:latin typeface="+mn-lt"/>
                  </a:rPr>
                </a:br>
                <a:r>
                  <a:rPr lang="en-US" sz="900" dirty="0">
                    <a:solidFill>
                      <a:schemeClr val="tx1"/>
                    </a:solidFill>
                    <a:effectLst/>
                    <a:latin typeface="+mn-lt"/>
                  </a:rPr>
                  <a:t>placeholder.</a:t>
                </a:r>
                <a:endParaRPr lang="en-US" sz="900" dirty="0">
                  <a:solidFill>
                    <a:schemeClr val="tx1"/>
                  </a:solidFill>
                  <a:latin typeface="+mn-lt"/>
                </a:endParaRPr>
              </a:p>
            </p:txBody>
          </p:sp>
        </p:grpSp>
        <p:pic>
          <p:nvPicPr>
            <p:cNvPr id="4" name="Picture 3"/>
            <p:cNvPicPr>
              <a:picLocks noChangeAspect="1"/>
            </p:cNvPicPr>
            <p:nvPr userDrawn="1"/>
          </p:nvPicPr>
          <p:blipFill>
            <a:blip r:embed="rId4"/>
            <a:stretch>
              <a:fillRect/>
            </a:stretch>
          </p:blipFill>
          <p:spPr>
            <a:xfrm>
              <a:off x="-1752872" y="2087812"/>
              <a:ext cx="1080120" cy="984668"/>
            </a:xfrm>
            <a:prstGeom prst="rect">
              <a:avLst/>
            </a:prstGeom>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p:cNvSpPr>
            <a:spLocks noGrp="1"/>
          </p:cNvSpPr>
          <p:nvPr>
            <p:ph type="ftr" sz="quarter" idx="10"/>
          </p:nvPr>
        </p:nvSpPr>
        <p:spPr bwMode="gray"/>
        <p:txBody>
          <a:bodyPr/>
          <a:lstStyle/>
          <a:p>
            <a:r>
              <a:rPr lang="en-US"/>
              <a:t>Slide library     |     ONLY FOR INTERNAL USE</a:t>
            </a:r>
            <a:endParaRPr lang="en-US" dirty="0"/>
          </a:p>
        </p:txBody>
      </p:sp>
      <p:sp>
        <p:nvSpPr>
          <p:cNvPr id="8" name="Foliennummernplatzhalter 7"/>
          <p:cNvSpPr>
            <a:spLocks noGrp="1"/>
          </p:cNvSpPr>
          <p:nvPr>
            <p:ph type="sldNum" sz="quarter" idx="11"/>
          </p:nvPr>
        </p:nvSpPr>
        <p:spPr bwMode="gray"/>
        <p:txBody>
          <a:bodyPr/>
          <a:lstStyle/>
          <a:p>
            <a:fld id="{8FF9B0DE-3FEB-4AA0-B465-B80EF7C1333D}" type="slidenum">
              <a:rPr lang="en-US" smtClean="0"/>
            </a:fld>
            <a:endParaRPr lang="en-US" dirty="0"/>
          </a:p>
        </p:txBody>
      </p:sp>
      <p:sp>
        <p:nvSpPr>
          <p:cNvPr id="6" name="Inhaltsplatzhalter 18"/>
          <p:cNvSpPr txBox="1"/>
          <p:nvPr userDrawn="1"/>
        </p:nvSpPr>
        <p:spPr bwMode="gray">
          <a:xfrm>
            <a:off x="479425" y="1916832"/>
            <a:ext cx="6120631" cy="3456384"/>
          </a:xfrm>
          <a:prstGeom prst="rect">
            <a:avLst/>
          </a:prstGeom>
        </p:spPr>
        <p:txBody>
          <a:bodyPr vert="horz" lIns="0" tIns="0" rIns="0" bIns="0" numCol="1" spcCol="28800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dirty="0"/>
              <a:t>This presentation and its contents are property of Boehringer Ingelheim and are, inter alia, protected by copyright law. Complete or partial passing on to third parties as well as copying, reproduction, publication or any other use by third parties is not permitted.</a:t>
            </a:r>
            <a:endParaRPr lang="en-US" sz="1400" dirty="0"/>
          </a:p>
        </p:txBody>
      </p:sp>
      <p:sp>
        <p:nvSpPr>
          <p:cNvPr id="10" name="Inhaltsplatzhalter 18"/>
          <p:cNvSpPr txBox="1"/>
          <p:nvPr userDrawn="1"/>
        </p:nvSpPr>
        <p:spPr bwMode="gray">
          <a:xfrm>
            <a:off x="475503" y="5697252"/>
            <a:ext cx="8892000" cy="252698"/>
          </a:xfrm>
          <a:prstGeom prst="rect">
            <a:avLst/>
          </a:prstGeom>
        </p:spPr>
        <p:txBody>
          <a:bodyPr vert="horz" lIns="0" tIns="0" rIns="0" bIns="0" rtlCol="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t> </a:t>
            </a:r>
            <a:endParaRPr lang="en-US" sz="1400" dirty="0"/>
          </a:p>
        </p:txBody>
      </p:sp>
      <p:sp>
        <p:nvSpPr>
          <p:cNvPr id="11" name="Inhaltsplatzhalter 18"/>
          <p:cNvSpPr txBox="1"/>
          <p:nvPr userDrawn="1"/>
        </p:nvSpPr>
        <p:spPr bwMode="gray">
          <a:xfrm>
            <a:off x="475503" y="1412875"/>
            <a:ext cx="5436555" cy="180020"/>
          </a:xfrm>
          <a:prstGeom prst="rect">
            <a:avLst/>
          </a:prstGeom>
        </p:spPr>
        <p:txBody>
          <a:bodyPr vert="horz" lIns="0" tIns="0" rIns="0" bIns="0" rtlCol="0" anchor="b" anchorCtr="0">
            <a:noAutofit/>
          </a:bodyPr>
          <a:lstStyle>
            <a:lvl1pPr marL="215900" indent="-2159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dirty="0"/>
              <a:t>© </a:t>
            </a:r>
            <a:fld id="{2F99CDBD-C73A-474F-91D2-EC8081FF32A1}" type="datetimeyyyy">
              <a:rPr lang="en-US" sz="900" smtClean="0"/>
            </a:fld>
            <a:r>
              <a:rPr lang="en-US" sz="900" dirty="0"/>
              <a:t> Boehringer Ingelheim International GmbH. All rights reserved.</a:t>
            </a:r>
            <a:endParaRPr lang="en-US" sz="900" dirty="0"/>
          </a:p>
        </p:txBody>
      </p:sp>
      <p:sp>
        <p:nvSpPr>
          <p:cNvPr id="9" name="Titel 8"/>
          <p:cNvSpPr>
            <a:spLocks noGrp="1"/>
          </p:cNvSpPr>
          <p:nvPr>
            <p:ph type="title" hasCustomPrompt="1"/>
          </p:nvPr>
        </p:nvSpPr>
        <p:spPr>
          <a:xfrm>
            <a:off x="479424" y="476250"/>
            <a:ext cx="11233151" cy="720000"/>
          </a:xfrm>
        </p:spPr>
        <p:txBody>
          <a:bodyPr/>
          <a:lstStyle/>
          <a:p>
            <a:r>
              <a:rPr lang="de-DE" dirty="0"/>
              <a:t>Disclaimer</a:t>
            </a:r>
            <a:endParaRPr lang="de-DE"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8" Type="http://schemas.openxmlformats.org/officeDocument/2006/relationships/theme" Target="../theme/theme1.xml"/><Relationship Id="rId37" Type="http://schemas.openxmlformats.org/officeDocument/2006/relationships/image" Target="../media/image15.svg"/><Relationship Id="rId36" Type="http://schemas.openxmlformats.org/officeDocument/2006/relationships/image" Target="../media/image14.png"/><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dirty="0"/>
              <a:t>Add Title</a:t>
            </a:r>
            <a:endParaRPr lang="en-US" dirty="0"/>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dirty="0"/>
              <a:t>Edit text by clicking. Use the "Increase/decrease list level" buttons on the Start tab to switch between the set up text levels. For an optional subheading, set the text in bold.</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 level</a:t>
            </a:r>
            <a:endParaRPr lang="en-US" dirty="0"/>
          </a:p>
          <a:p>
            <a:pPr lvl="6"/>
            <a:r>
              <a:rPr lang="en-US" dirty="0"/>
              <a:t>Seventh level</a:t>
            </a:r>
            <a:endParaRPr lang="en-US" dirty="0"/>
          </a:p>
          <a:p>
            <a:pPr lvl="7"/>
            <a:r>
              <a:rPr lang="en-US" dirty="0"/>
              <a:t>Eighth level</a:t>
            </a:r>
            <a:endParaRPr lang="en-US" dirty="0"/>
          </a:p>
          <a:p>
            <a:pPr lvl="8"/>
            <a:r>
              <a:rPr lang="en-US" dirty="0"/>
              <a:t>Ninth level</a:t>
            </a:r>
            <a:endParaRPr lang="en-US" dirty="0"/>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Slide library     |     ONLY FOR INTERNAL USE</a:t>
            </a:r>
            <a:endParaRPr lang="en-US" dirty="0"/>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fld>
            <a:endParaRPr lang="en-US" dirty="0"/>
          </a:p>
        </p:txBody>
      </p:sp>
      <p:grpSp>
        <p:nvGrpSpPr>
          <p:cNvPr id="2082" name="Gruppieren 2081"/>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1.vml"/><Relationship Id="rId6" Type="http://schemas.openxmlformats.org/officeDocument/2006/relationships/slideLayout" Target="../slideLayouts/slideLayout13.xml"/><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emf"/><Relationship Id="rId2" Type="http://schemas.openxmlformats.org/officeDocument/2006/relationships/oleObject" Target="../embeddings/oleObject1.bin"/><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0.xml"/><Relationship Id="rId7" Type="http://schemas.openxmlformats.org/officeDocument/2006/relationships/image" Target="../media/image26.png"/><Relationship Id="rId6" Type="http://schemas.openxmlformats.org/officeDocument/2006/relationships/image" Target="../media/image19.png"/><Relationship Id="rId5" Type="http://schemas.openxmlformats.org/officeDocument/2006/relationships/hyperlink" Target="http://brand.boehringer-ingelheim.com/illustration-library" TargetMode="Externa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25.svg"/><Relationship Id="rId1" Type="http://schemas.openxmlformats.org/officeDocument/2006/relationships/image" Target="../media/image24.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31.xml"/><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1.xml"/><Relationship Id="rId1" Type="http://schemas.openxmlformats.org/officeDocument/2006/relationships/image" Target="../media/image3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19.png"/><Relationship Id="rId3" Type="http://schemas.openxmlformats.org/officeDocument/2006/relationships/hyperlink" Target="http://brand.boehringer-ingelheim.com/illustration-library" TargetMode="External"/><Relationship Id="rId2" Type="http://schemas.openxmlformats.org/officeDocument/2006/relationships/image" Target="../media/image36.svg"/><Relationship Id="rId1" Type="http://schemas.openxmlformats.org/officeDocument/2006/relationships/image" Target="../media/image35.png"/></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31.xml"/><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tags" Target="../tags/tag3.xml"/><Relationship Id="rId3" Type="http://schemas.openxmlformats.org/officeDocument/2006/relationships/image" Target="../media/image38.emf"/><Relationship Id="rId2" Type="http://schemas.openxmlformats.org/officeDocument/2006/relationships/oleObject" Target="../embeddings/oleObject2.bin"/><Relationship Id="rId10" Type="http://schemas.openxmlformats.org/officeDocument/2006/relationships/notesSlide" Target="../notesSlides/notesSlide8.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vmlDrawing" Target="../drawings/vmlDrawing3.vml"/><Relationship Id="rId7" Type="http://schemas.openxmlformats.org/officeDocument/2006/relationships/slideLayout" Target="../slideLayouts/slideLayout3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tags" Target="../tags/tag5.xml"/><Relationship Id="rId3" Type="http://schemas.openxmlformats.org/officeDocument/2006/relationships/image" Target="../media/image38.emf"/><Relationship Id="rId2" Type="http://schemas.openxmlformats.org/officeDocument/2006/relationships/oleObject" Target="../embeddings/oleObject3.bin"/><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tags" Target="../tags/tag7.xml"/><Relationship Id="rId3" Type="http://schemas.openxmlformats.org/officeDocument/2006/relationships/image" Target="../media/image38.emf"/><Relationship Id="rId2" Type="http://schemas.openxmlformats.org/officeDocument/2006/relationships/oleObject" Target="../embeddings/oleObject4.bin"/><Relationship Id="rId12" Type="http://schemas.openxmlformats.org/officeDocument/2006/relationships/notesSlide" Target="../notesSlides/notesSlide10.xml"/><Relationship Id="rId11" Type="http://schemas.openxmlformats.org/officeDocument/2006/relationships/vmlDrawing" Target="../drawings/vmlDrawing4.vml"/><Relationship Id="rId10" Type="http://schemas.openxmlformats.org/officeDocument/2006/relationships/slideLayout" Target="../slideLayouts/slideLayout31.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19.png"/><Relationship Id="rId3" Type="http://schemas.openxmlformats.org/officeDocument/2006/relationships/hyperlink" Target="http://brand.boehringer-ingelheim.com/illustration-library" TargetMode="External"/><Relationship Id="rId2" Type="http://schemas.openxmlformats.org/officeDocument/2006/relationships/image" Target="../media/image50.svg"/><Relationship Id="rId1" Type="http://schemas.openxmlformats.org/officeDocument/2006/relationships/image" Target="../media/image49.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35.xml"/><Relationship Id="rId5" Type="http://schemas.openxmlformats.org/officeDocument/2006/relationships/image" Target="../media/image55.png"/><Relationship Id="rId4" Type="http://schemas.openxmlformats.org/officeDocument/2006/relationships/image" Target="../media/image54.svg"/><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5.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5.xml"/><Relationship Id="rId1" Type="http://schemas.openxmlformats.org/officeDocument/2006/relationships/image" Target="../media/image59.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0.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26.png"/><Relationship Id="rId3" Type="http://schemas.openxmlformats.org/officeDocument/2006/relationships/image" Target="../media/image19.png"/><Relationship Id="rId2" Type="http://schemas.openxmlformats.org/officeDocument/2006/relationships/hyperlink" Target="http://brand.boehringer-ingelheim.com/illustration-library" TargetMode="Externa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70.png"/><Relationship Id="rId1"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7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7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7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75.png"/><Relationship Id="rId1" Type="http://schemas.openxmlformats.org/officeDocument/2006/relationships/image" Target="../media/image7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7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tags" Target="../tags/tag9.xml"/><Relationship Id="rId3" Type="http://schemas.openxmlformats.org/officeDocument/2006/relationships/image" Target="../media/image38.emf"/><Relationship Id="rId2" Type="http://schemas.openxmlformats.org/officeDocument/2006/relationships/oleObject" Target="../embeddings/oleObject5.bin"/><Relationship Id="rId15" Type="http://schemas.openxmlformats.org/officeDocument/2006/relationships/notesSlide" Target="../notesSlides/notesSlide23.xml"/><Relationship Id="rId14" Type="http://schemas.openxmlformats.org/officeDocument/2006/relationships/vmlDrawing" Target="../drawings/vmlDrawing5.vml"/><Relationship Id="rId13" Type="http://schemas.openxmlformats.org/officeDocument/2006/relationships/slideLayout" Target="../slideLayouts/slideLayout31.xml"/><Relationship Id="rId12" Type="http://schemas.openxmlformats.org/officeDocument/2006/relationships/image" Target="../media/image82.png"/><Relationship Id="rId11" Type="http://schemas.openxmlformats.org/officeDocument/2006/relationships/image" Target="../media/image81.png"/><Relationship Id="rId10" Type="http://schemas.openxmlformats.org/officeDocument/2006/relationships/image" Target="../media/image80.png"/><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3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8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8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9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7"/>
          <p:cNvSpPr txBox="1"/>
          <p:nvPr/>
        </p:nvSpPr>
        <p:spPr bwMode="gray">
          <a:xfrm>
            <a:off x="468312" y="3657600"/>
            <a:ext cx="11255376" cy="1151384"/>
          </a:xfrm>
          <a:prstGeom prst="rect">
            <a:avLst/>
          </a:prstGeom>
        </p:spPr>
        <p:txBody>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lnSpc>
                <a:spcPct val="150000"/>
              </a:lnSpc>
              <a:buNone/>
            </a:pPr>
            <a:r>
              <a:rPr lang="en-US" sz="1800" b="1" dirty="0">
                <a:solidFill>
                  <a:schemeClr val="bg1"/>
                </a:solidFill>
              </a:rPr>
              <a:t>Speaker: Fangfang Jiang</a:t>
            </a:r>
            <a:endParaRPr lang="en-US" sz="1800" b="1" dirty="0">
              <a:solidFill>
                <a:schemeClr val="bg1"/>
              </a:solidFill>
            </a:endParaRPr>
          </a:p>
          <a:p>
            <a:pPr marL="0" indent="0" algn="ctr">
              <a:lnSpc>
                <a:spcPct val="150000"/>
              </a:lnSpc>
              <a:buNone/>
            </a:pPr>
            <a:r>
              <a:rPr lang="en-US" sz="1800" b="1" dirty="0">
                <a:solidFill>
                  <a:schemeClr val="bg1"/>
                </a:solidFill>
              </a:rPr>
              <a:t>Mentors: </a:t>
            </a:r>
            <a:r>
              <a:rPr lang="en-US" sz="1800" dirty="0">
                <a:solidFill>
                  <a:schemeClr val="bg1"/>
                </a:solidFill>
              </a:rPr>
              <a:t>Mitchell Thomann, </a:t>
            </a:r>
            <a:r>
              <a:rPr lang="en-US" sz="1800" dirty="0" err="1">
                <a:solidFill>
                  <a:schemeClr val="bg1"/>
                </a:solidFill>
              </a:rPr>
              <a:t>Zhiguang</a:t>
            </a:r>
            <a:r>
              <a:rPr lang="en-US" sz="1800" dirty="0">
                <a:solidFill>
                  <a:schemeClr val="bg1"/>
                </a:solidFill>
              </a:rPr>
              <a:t> (Caleb) Huo</a:t>
            </a:r>
            <a:endParaRPr lang="en-US" sz="1800" dirty="0">
              <a:solidFill>
                <a:schemeClr val="bg1"/>
              </a:solidFill>
            </a:endParaRPr>
          </a:p>
          <a:p>
            <a:pPr marL="0" indent="0" algn="ctr">
              <a:lnSpc>
                <a:spcPct val="150000"/>
              </a:lnSpc>
              <a:buNone/>
            </a:pPr>
            <a:r>
              <a:rPr lang="en-US" sz="1800" b="1" dirty="0">
                <a:solidFill>
                  <a:schemeClr val="bg1"/>
                </a:solidFill>
              </a:rPr>
              <a:t>Date: </a:t>
            </a:r>
            <a:r>
              <a:rPr lang="en-US" sz="1800" dirty="0">
                <a:solidFill>
                  <a:schemeClr val="bg1"/>
                </a:solidFill>
              </a:rPr>
              <a:t>December 15, 2025</a:t>
            </a:r>
            <a:endParaRPr lang="en-US" sz="1800" dirty="0">
              <a:solidFill>
                <a:schemeClr val="bg1"/>
              </a:solidFill>
            </a:endParaRPr>
          </a:p>
        </p:txBody>
      </p:sp>
      <p:sp>
        <p:nvSpPr>
          <p:cNvPr id="11" name="Title 9"/>
          <p:cNvSpPr txBox="1"/>
          <p:nvPr/>
        </p:nvSpPr>
        <p:spPr bwMode="gray">
          <a:xfrm>
            <a:off x="468312" y="1116458"/>
            <a:ext cx="11255376" cy="1799861"/>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4800" b="1" i="0" kern="1200">
                <a:solidFill>
                  <a:schemeClr val="tx2"/>
                </a:solidFill>
                <a:latin typeface="+mj-lt"/>
                <a:ea typeface="+mj-ea"/>
                <a:cs typeface="+mj-cs"/>
              </a:defRPr>
            </a:lvl1pPr>
          </a:lstStyle>
          <a:p>
            <a:pPr algn="ctr"/>
            <a:r>
              <a:rPr lang="en-US" sz="3600" dirty="0"/>
              <a:t>Transition Probability of Success from Phase II to Phase III Trials: Adjusting for Selection Bias</a:t>
            </a:r>
            <a:endParaRPr lang="de-DE"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0" name="think-cell Folie" r:id="rId2" imgW="11430" imgH="11430" progId="TCLayout.ActiveDocument.1">
                  <p:embed/>
                </p:oleObj>
              </mc:Choice>
              <mc:Fallback>
                <p:oleObj name="think-cell Folie" r:id="rId2" imgW="11430" imgH="11430" progId="TCLayout.ActiveDocument.1">
                  <p:embed/>
                  <p:pic>
                    <p:nvPicPr>
                      <p:cNvPr id="0" name="Objekt 4"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19" name="Titel 18"/>
          <p:cNvSpPr>
            <a:spLocks noGrp="1"/>
          </p:cNvSpPr>
          <p:nvPr>
            <p:ph type="title"/>
          </p:nvPr>
        </p:nvSpPr>
        <p:spPr/>
        <p:txBody>
          <a:bodyPr/>
          <a:lstStyle/>
          <a:p>
            <a:r>
              <a:rPr lang="en-US" sz="3200" noProof="0" dirty="0"/>
              <a:t>Outline</a:t>
            </a:r>
            <a:endParaRPr lang="en-US" sz="3200" noProof="0" dirty="0"/>
          </a:p>
        </p:txBody>
      </p:sp>
      <p:pic>
        <p:nvPicPr>
          <p:cNvPr id="3" name="Grafik 2"/>
          <p:cNvPicPr>
            <a:picLocks noChangeAspect="1"/>
          </p:cNvPicPr>
          <p:nvPr/>
        </p:nvPicPr>
        <p:blipFill>
          <a:blip r:embed="rId4">
            <a:extLst>
              <a:ext uri="{96DAC541-7B7A-43D3-8B79-37D633B846F1}">
                <asvg:svgBlip xmlns:asvg="http://schemas.microsoft.com/office/drawing/2016/SVG/main" r:embed="rId5"/>
              </a:ext>
            </a:extLst>
          </a:blip>
          <a:srcRect/>
          <a:stretch>
            <a:fillRect/>
          </a:stretch>
        </p:blipFill>
        <p:spPr bwMode="gray">
          <a:xfrm>
            <a:off x="8595078" y="1930053"/>
            <a:ext cx="2797783" cy="2797783"/>
          </a:xfrm>
          <a:prstGeom prst="rect">
            <a:avLst/>
          </a:prstGeom>
        </p:spPr>
      </p:pic>
      <p:sp>
        <p:nvSpPr>
          <p:cNvPr id="6" name="Textplatzhalter 2"/>
          <p:cNvSpPr txBox="1"/>
          <p:nvPr/>
        </p:nvSpPr>
        <p:spPr bwMode="gray">
          <a:xfrm>
            <a:off x="799138" y="1121400"/>
            <a:ext cx="7506661" cy="4615200"/>
          </a:xfrm>
          <a:prstGeom prst="rect">
            <a:avLst/>
          </a:prstGeom>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457200" indent="-457200">
              <a:buFont typeface="+mj-lt"/>
              <a:buAutoNum type="arabicPeriod"/>
            </a:pPr>
            <a:r>
              <a:rPr lang="en-US" sz="2000" b="1" noProof="0" dirty="0">
                <a:solidFill>
                  <a:schemeClr val="bg1"/>
                </a:solidFill>
              </a:rPr>
              <a:t>Introduction</a:t>
            </a:r>
            <a:endParaRPr lang="en-US" sz="2000" b="1" noProof="0" dirty="0">
              <a:solidFill>
                <a:schemeClr val="bg1"/>
              </a:solidFill>
            </a:endParaRPr>
          </a:p>
          <a:p>
            <a:pPr lvl="1">
              <a:buFont typeface="Wingdings" panose="05000000000000000000" pitchFamily="2" charset="2"/>
              <a:buChar char="§"/>
            </a:pPr>
            <a:r>
              <a:rPr lang="en-US" sz="1800" b="1" dirty="0">
                <a:solidFill>
                  <a:schemeClr val="bg1"/>
                </a:solidFill>
              </a:rPr>
              <a:t>Background</a:t>
            </a:r>
            <a:endParaRPr lang="en-US" sz="1800" b="1" dirty="0">
              <a:solidFill>
                <a:schemeClr val="bg1"/>
              </a:solidFill>
            </a:endParaRPr>
          </a:p>
          <a:p>
            <a:pPr lvl="1"/>
            <a:r>
              <a:rPr lang="en-US" sz="1800" b="1" dirty="0">
                <a:solidFill>
                  <a:schemeClr val="bg1"/>
                </a:solidFill>
              </a:rPr>
              <a:t>Motivation</a:t>
            </a:r>
            <a:endParaRPr lang="en-US" sz="1800" b="1" dirty="0">
              <a:solidFill>
                <a:schemeClr val="bg1"/>
              </a:solidFill>
            </a:endParaRPr>
          </a:p>
          <a:p>
            <a:pPr lvl="1"/>
            <a:r>
              <a:rPr lang="en-US" sz="1800" b="1" dirty="0">
                <a:solidFill>
                  <a:schemeClr val="bg1"/>
                </a:solidFill>
              </a:rPr>
              <a:t>Research Objectives</a:t>
            </a:r>
            <a:endParaRPr lang="en-US" sz="1800" b="1" dirty="0">
              <a:solidFill>
                <a:schemeClr val="bg1"/>
              </a:solidFill>
            </a:endParaRPr>
          </a:p>
          <a:p>
            <a:pPr marL="457200" indent="-457200">
              <a:buFont typeface="+mj-lt"/>
              <a:buAutoNum type="arabicPeriod"/>
            </a:pPr>
            <a:r>
              <a:rPr lang="en-US" sz="2000" b="1" dirty="0">
                <a:solidFill>
                  <a:schemeClr val="bg1"/>
                </a:solidFill>
              </a:rPr>
              <a:t>Overview of Bias Adjustment Methods</a:t>
            </a:r>
            <a:endParaRPr lang="en-US" sz="2000" b="1" dirty="0">
              <a:solidFill>
                <a:schemeClr val="bg1"/>
              </a:solidFill>
            </a:endParaRPr>
          </a:p>
          <a:p>
            <a:pPr marL="457200" indent="-457200">
              <a:buFont typeface="+mj-lt"/>
              <a:buAutoNum type="arabicPeriod"/>
            </a:pPr>
            <a:r>
              <a:rPr lang="en-US" sz="2000" b="1" dirty="0">
                <a:solidFill>
                  <a:schemeClr val="bg1"/>
                </a:solidFill>
              </a:rPr>
              <a:t>Real-Data Analysis </a:t>
            </a:r>
            <a:endParaRPr lang="en-US" sz="2000" b="1" dirty="0">
              <a:solidFill>
                <a:schemeClr val="bg1"/>
              </a:solidFill>
            </a:endParaRPr>
          </a:p>
          <a:p>
            <a:pPr marL="457200" indent="-457200">
              <a:buFont typeface="+mj-lt"/>
              <a:buAutoNum type="arabicPeriod"/>
            </a:pPr>
            <a:r>
              <a:rPr lang="en-US" sz="2000" b="1" dirty="0">
                <a:solidFill>
                  <a:schemeClr val="bg1"/>
                </a:solidFill>
              </a:rPr>
              <a:t>Simulation Study</a:t>
            </a:r>
            <a:endParaRPr lang="en-US" sz="20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noProof="0" dirty="0">
              <a:solidFill>
                <a:schemeClr val="tx1"/>
              </a:solidFill>
            </a:endParaRPr>
          </a:p>
        </p:txBody>
      </p:sp>
      <p:pic>
        <p:nvPicPr>
          <p:cNvPr id="2" name="Grafik 1"/>
          <p:cNvPicPr>
            <a:picLocks noChangeAspect="1"/>
          </p:cNvPicPr>
          <p:nvPr/>
        </p:nvPicPr>
        <p:blipFill>
          <a:blip r:embed="rId1">
            <a:extLst>
              <a:ext uri="{96DAC541-7B7A-43D3-8B79-37D633B846F1}">
                <asvg:svgBlip xmlns:asvg="http://schemas.microsoft.com/office/drawing/2016/SVG/main" r:embed="rId2"/>
              </a:ext>
            </a:extLst>
          </a:blip>
          <a:srcRect l="9250" r="22518"/>
          <a:stretch>
            <a:fillRect/>
          </a:stretch>
        </p:blipFill>
        <p:spPr>
          <a:xfrm>
            <a:off x="4799905" y="432395"/>
            <a:ext cx="7128743" cy="5876925"/>
          </a:xfrm>
          <a:prstGeom prst="rect">
            <a:avLst/>
          </a:prstGeom>
        </p:spPr>
      </p:pic>
      <p:sp>
        <p:nvSpPr>
          <p:cNvPr id="8" name="Titel 7"/>
          <p:cNvSpPr>
            <a:spLocks noGrp="1"/>
          </p:cNvSpPr>
          <p:nvPr>
            <p:ph type="title"/>
          </p:nvPr>
        </p:nvSpPr>
        <p:spPr/>
        <p:txBody>
          <a:bodyPr/>
          <a:lstStyle/>
          <a:p>
            <a:r>
              <a:rPr lang="en-US" noProof="0" dirty="0">
                <a:solidFill>
                  <a:srgbClr val="076D7E"/>
                </a:solidFill>
              </a:rPr>
              <a:t>Introduction</a:t>
            </a:r>
            <a:endParaRPr lang="en-US" noProof="0" dirty="0">
              <a:solidFill>
                <a:srgbClr val="076D7E"/>
              </a:solidFill>
            </a:endParaRPr>
          </a:p>
        </p:txBody>
      </p:sp>
      <p:sp>
        <p:nvSpPr>
          <p:cNvPr id="9" name="Untertitel 8"/>
          <p:cNvSpPr>
            <a:spLocks noGrp="1"/>
          </p:cNvSpPr>
          <p:nvPr>
            <p:ph type="subTitle" idx="14"/>
          </p:nvPr>
        </p:nvSpPr>
        <p:spPr>
          <a:xfrm>
            <a:off x="479423" y="3426527"/>
            <a:ext cx="6530977" cy="792088"/>
          </a:xfrm>
        </p:spPr>
        <p:txBody>
          <a:bodyPr/>
          <a:lstStyle/>
          <a:p>
            <a:pPr lvl="1"/>
            <a:r>
              <a:rPr lang="en-US" sz="1800" dirty="0">
                <a:solidFill>
                  <a:schemeClr val="tx1">
                    <a:lumMod val="95000"/>
                    <a:lumOff val="5000"/>
                  </a:schemeClr>
                </a:solidFill>
              </a:rPr>
              <a:t>Why does selection bias matter when transitioning from Phase II to Phase III trials?</a:t>
            </a:r>
            <a:endParaRPr lang="en-US" sz="1800" dirty="0">
              <a:solidFill>
                <a:schemeClr val="tx1">
                  <a:lumMod val="95000"/>
                  <a:lumOff val="5000"/>
                </a:schemeClr>
              </a:solidFill>
            </a:endParaRPr>
          </a:p>
        </p:txBody>
      </p:sp>
      <p:sp>
        <p:nvSpPr>
          <p:cNvPr id="4" name="Foliennummernplatzhalter 3"/>
          <p:cNvSpPr>
            <a:spLocks noGrp="1"/>
          </p:cNvSpPr>
          <p:nvPr>
            <p:ph type="sldNum" sz="quarter" idx="16"/>
          </p:nvPr>
        </p:nvSpPr>
        <p:spPr/>
        <p:txBody>
          <a:bodyPr/>
          <a:lstStyle/>
          <a:p>
            <a:fld id="{8FF9B0DE-3FEB-4AA0-B465-B80EF7C1333D}" type="slidenum">
              <a:rPr lang="en-US" noProof="0" smtClean="0"/>
            </a:fld>
            <a:endParaRPr lang="en-US" noProof="0" dirty="0"/>
          </a:p>
        </p:txBody>
      </p:sp>
      <p:sp>
        <p:nvSpPr>
          <p:cNvPr id="5" name="Fußzeilenplatzhalter 4"/>
          <p:cNvSpPr>
            <a:spLocks noGrp="1"/>
          </p:cNvSpPr>
          <p:nvPr>
            <p:ph type="ftr" sz="quarter" idx="19"/>
          </p:nvPr>
        </p:nvSpPr>
        <p:spPr/>
        <p:txBody>
          <a:bodyPr/>
          <a:lstStyle/>
          <a:p>
            <a:r>
              <a:rPr lang="en-US" noProof="0" dirty="0"/>
              <a:t>Slide library     |     ONLY FOR INTERNAL USE</a:t>
            </a:r>
            <a:endParaRPr lang="en-US" noProof="0" dirty="0"/>
          </a:p>
        </p:txBody>
      </p:sp>
      <p:pic>
        <p:nvPicPr>
          <p:cNvPr id="7" name="Grafik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479424" y="6165000"/>
            <a:ext cx="1234800" cy="372727"/>
          </a:xfrm>
          <a:prstGeom prst="rect">
            <a:avLst/>
          </a:prstGeom>
        </p:spPr>
      </p:pic>
      <p:grpSp>
        <p:nvGrpSpPr>
          <p:cNvPr id="6" name="Group 5"/>
          <p:cNvGrpSpPr/>
          <p:nvPr/>
        </p:nvGrpSpPr>
        <p:grpSpPr>
          <a:xfrm>
            <a:off x="12399976" y="-1"/>
            <a:ext cx="2743200" cy="4951649"/>
            <a:chOff x="12399976" y="-1"/>
            <a:chExt cx="2743200" cy="4951649"/>
          </a:xfrm>
        </p:grpSpPr>
        <p:sp>
          <p:nvSpPr>
            <p:cNvPr id="10" name="TextBox 7"/>
            <p:cNvSpPr txBox="1"/>
            <p:nvPr/>
          </p:nvSpPr>
          <p:spPr bwMode="gray">
            <a:xfrm>
              <a:off x="12399976" y="-1"/>
              <a:ext cx="2743200" cy="4951649"/>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noProof="0" dirty="0">
                  <a:effectLst/>
                  <a:latin typeface="+mj-lt"/>
                </a:rPr>
                <a:t>To change the illustration:</a:t>
              </a:r>
              <a:endParaRPr lang="en-US" sz="1100" b="1" noProof="0" dirty="0">
                <a:effectLst/>
                <a:latin typeface="+mj-lt"/>
              </a:endParaRPr>
            </a:p>
            <a:p>
              <a:pPr marL="144145" indent="-144145">
                <a:lnSpc>
                  <a:spcPct val="120000"/>
                </a:lnSpc>
                <a:spcAft>
                  <a:spcPts val="600"/>
                </a:spcAft>
                <a:buFont typeface="+mj-lt"/>
                <a:buAutoNum type="arabicPeriod"/>
              </a:pPr>
              <a:r>
                <a:rPr lang="en-US" sz="900" noProof="0" dirty="0"/>
                <a:t>Choose a scene illustration from our Brand Hub and download it as an SVG in the appropriate color:</a:t>
              </a:r>
              <a:br>
                <a:rPr lang="en-US" sz="900" noProof="0" dirty="0"/>
              </a:br>
              <a:r>
                <a:rPr lang="en-US" sz="900" noProof="0" dirty="0">
                  <a:hlinkClick r:id="rId5"/>
                </a:rPr>
                <a:t>Go to the illustration library ↗</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Click on the existing illustration.</a:t>
              </a:r>
              <a:endParaRPr lang="en-US" sz="900" noProof="0" dirty="0"/>
            </a:p>
            <a:p>
              <a:pPr marL="144145" indent="-144145">
                <a:lnSpc>
                  <a:spcPct val="120000"/>
                </a:lnSpc>
                <a:spcAft>
                  <a:spcPts val="600"/>
                </a:spcAft>
                <a:buFont typeface="+mj-lt"/>
                <a:buAutoNum type="arabicPeriod"/>
              </a:pPr>
              <a:r>
                <a:rPr lang="en-US" sz="900" noProof="0" dirty="0"/>
                <a:t>Open the menu ‘Graphics Format’.</a:t>
              </a:r>
              <a:endParaRPr lang="en-US" sz="900" noProof="0" dirty="0"/>
            </a:p>
            <a:p>
              <a:pPr marL="144145" indent="-144145">
                <a:lnSpc>
                  <a:spcPct val="120000"/>
                </a:lnSpc>
                <a:spcAft>
                  <a:spcPts val="600"/>
                </a:spcAft>
                <a:buFont typeface="+mj-lt"/>
                <a:buAutoNum type="arabicPeriod"/>
              </a:pPr>
              <a:r>
                <a:rPr lang="en-US" sz="900" noProof="0" dirty="0"/>
                <a:t>Choose ‘Change Graphic’ and then the corresponding source where the illustration is located.</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Now the illustration has been loaded into the </a:t>
              </a:r>
              <a:br>
                <a:rPr lang="en-US" sz="900" noProof="0" dirty="0"/>
              </a:br>
              <a:r>
                <a:rPr lang="en-US" sz="900" noProof="0" dirty="0"/>
                <a:t>placeholder.</a:t>
              </a:r>
              <a:endParaRPr lang="en-US" sz="900" noProof="0" dirty="0"/>
            </a:p>
          </p:txBody>
        </p:sp>
        <p:pic>
          <p:nvPicPr>
            <p:cNvPr id="11" name="Picture 10"/>
            <p:cNvPicPr/>
            <p:nvPr/>
          </p:nvPicPr>
          <p:blipFill>
            <a:blip r:embed="rId6"/>
            <a:stretch>
              <a:fillRect/>
            </a:stretch>
          </p:blipFill>
          <p:spPr>
            <a:xfrm>
              <a:off x="12648728" y="3356992"/>
              <a:ext cx="1080120" cy="984668"/>
            </a:xfrm>
            <a:prstGeom prst="rect">
              <a:avLst/>
            </a:prstGeom>
          </p:spPr>
        </p:pic>
        <p:pic>
          <p:nvPicPr>
            <p:cNvPr id="12" name="Picture 11"/>
            <p:cNvPicPr>
              <a:picLocks noChangeAspect="1"/>
            </p:cNvPicPr>
            <p:nvPr/>
          </p:nvPicPr>
          <p:blipFill rotWithShape="1">
            <a:blip r:embed="rId7"/>
            <a:srcRect l="2134" r="2134"/>
            <a:stretch>
              <a:fillRect/>
            </a:stretch>
          </p:blipFill>
          <p:spPr>
            <a:xfrm>
              <a:off x="12648728" y="1143000"/>
              <a:ext cx="2376264" cy="984668"/>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122"/>
          <p:cNvSpPr/>
          <p:nvPr/>
        </p:nvSpPr>
        <p:spPr bwMode="gray">
          <a:xfrm>
            <a:off x="1600200" y="3957257"/>
            <a:ext cx="2655108" cy="2073799"/>
          </a:xfrm>
          <a:prstGeom prst="rect">
            <a:avLst/>
          </a:prstGeom>
          <a:solidFill>
            <a:schemeClr val="accent6">
              <a:lumMod val="20000"/>
              <a:lumOff val="80000"/>
            </a:schemeClr>
          </a:solidFill>
          <a:ln w="6350">
            <a:solidFill>
              <a:srgbClr val="EDFA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13" name="Rectangle 112"/>
          <p:cNvSpPr/>
          <p:nvPr/>
        </p:nvSpPr>
        <p:spPr bwMode="gray">
          <a:xfrm>
            <a:off x="338593" y="927839"/>
            <a:ext cx="7357597" cy="2073799"/>
          </a:xfrm>
          <a:prstGeom prst="rect">
            <a:avLst/>
          </a:prstGeom>
          <a:solidFill>
            <a:schemeClr val="accent6">
              <a:lumMod val="20000"/>
              <a:lumOff val="80000"/>
            </a:schemeClr>
          </a:solidFill>
          <a:ln w="6350">
            <a:solidFill>
              <a:srgbClr val="EDFA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 name="Titel 1"/>
          <p:cNvSpPr>
            <a:spLocks noGrp="1"/>
          </p:cNvSpPr>
          <p:nvPr>
            <p:ph type="title"/>
          </p:nvPr>
        </p:nvSpPr>
        <p:spPr>
          <a:xfrm>
            <a:off x="479424" y="477000"/>
            <a:ext cx="11233151" cy="720000"/>
          </a:xfrm>
        </p:spPr>
        <p:txBody>
          <a:bodyPr/>
          <a:lstStyle/>
          <a:p>
            <a:r>
              <a:rPr lang="en-US" noProof="0" dirty="0"/>
              <a:t>Background</a:t>
            </a:r>
            <a:endParaRPr lang="en-US" noProof="0" dirty="0"/>
          </a:p>
        </p:txBody>
      </p:sp>
      <p:sp>
        <p:nvSpPr>
          <p:cNvPr id="3" name="Rectangle 2"/>
          <p:cNvSpPr/>
          <p:nvPr/>
        </p:nvSpPr>
        <p:spPr bwMode="gray">
          <a:xfrm>
            <a:off x="609600" y="1676400"/>
            <a:ext cx="2057400" cy="533400"/>
          </a:xfrm>
          <a:prstGeom prst="rect">
            <a:avLst/>
          </a:prstGeom>
          <a:solidFill>
            <a:srgbClr val="E5E3DE"/>
          </a:solid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Patient Enrollment</a:t>
            </a:r>
            <a:endParaRPr lang="en-US" sz="1600" dirty="0">
              <a:solidFill>
                <a:schemeClr val="tx1"/>
              </a:solidFill>
            </a:endParaRPr>
          </a:p>
        </p:txBody>
      </p:sp>
      <p:cxnSp>
        <p:nvCxnSpPr>
          <p:cNvPr id="30" name="Connector: Elbow 29"/>
          <p:cNvCxnSpPr/>
          <p:nvPr/>
        </p:nvCxnSpPr>
        <p:spPr bwMode="gray">
          <a:xfrm>
            <a:off x="2667000" y="1943100"/>
            <a:ext cx="1524000" cy="419100"/>
          </a:xfrm>
          <a:prstGeom prst="bentConnector3">
            <a:avLst>
              <a:gd name="adj1" fmla="val 3981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bwMode="gray">
          <a:xfrm>
            <a:off x="4191000" y="1257300"/>
            <a:ext cx="2057400" cy="533400"/>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Treatment Group</a:t>
            </a:r>
            <a:endParaRPr lang="en-US" sz="1600" dirty="0">
              <a:solidFill>
                <a:schemeClr val="tx1"/>
              </a:solidFill>
            </a:endParaRPr>
          </a:p>
        </p:txBody>
      </p:sp>
      <p:sp>
        <p:nvSpPr>
          <p:cNvPr id="48" name="Rectangle 47"/>
          <p:cNvSpPr/>
          <p:nvPr/>
        </p:nvSpPr>
        <p:spPr bwMode="gray">
          <a:xfrm>
            <a:off x="4191000" y="2097498"/>
            <a:ext cx="2057400" cy="533400"/>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Placebo Group</a:t>
            </a:r>
            <a:endParaRPr lang="en-US" sz="1600" dirty="0">
              <a:solidFill>
                <a:schemeClr val="tx1"/>
              </a:solidFill>
            </a:endParaRPr>
          </a:p>
        </p:txBody>
      </p:sp>
      <mc:AlternateContent xmlns:mc="http://schemas.openxmlformats.org/markup-compatibility/2006">
        <mc:Choice xmlns:a14="http://schemas.microsoft.com/office/drawing/2010/main" Requires="a14">
          <p:sp>
            <p:nvSpPr>
              <p:cNvPr id="61" name="TextBox 60"/>
              <p:cNvSpPr txBox="1"/>
              <p:nvPr/>
            </p:nvSpPr>
            <p:spPr bwMode="gray">
              <a:xfrm>
                <a:off x="3276600" y="2301443"/>
                <a:ext cx="752835" cy="344710"/>
              </a:xfrm>
              <a:prstGeom prst="rect">
                <a:avLst/>
              </a:prstGeom>
              <a:noFill/>
            </p:spPr>
            <p:txBody>
              <a:bodyPr wrap="none" lIns="0" tIns="0" rIns="0" bIns="0" rtlCol="0">
                <a:spAutoFit/>
              </a:bodyPr>
              <a:lstStyle/>
              <a:p>
                <a:pPr algn="l">
                  <a:lnSpc>
                    <a:spcPct val="140000"/>
                  </a:lnSpc>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𝑚</m:t>
                          </m:r>
                        </m:e>
                        <m:sub>
                          <m:r>
                            <a:rPr lang="en-US" sz="1600" b="0" i="1" smtClean="0">
                              <a:latin typeface="Cambria Math" panose="02040503050406030204" pitchFamily="18" charset="0"/>
                            </a:rPr>
                            <m:t>2</m:t>
                          </m:r>
                        </m:sub>
                      </m:sSub>
                      <m:r>
                        <a:rPr lang="en-US" sz="1600" i="1" smtClean="0">
                          <a:latin typeface="Cambria Math" panose="02040503050406030204" pitchFamily="18" charset="0"/>
                        </a:rPr>
                        <m:t>=</m:t>
                      </m:r>
                      <m:r>
                        <a:rPr lang="en-US" sz="1600" b="0" i="1" smtClean="0">
                          <a:latin typeface="Cambria Math" panose="02040503050406030204" pitchFamily="18" charset="0"/>
                        </a:rPr>
                        <m:t>𝑚</m:t>
                      </m:r>
                    </m:oMath>
                  </m:oMathPara>
                </a14:m>
                <a:endParaRPr lang="en-US" sz="1600" dirty="0"/>
              </a:p>
            </p:txBody>
          </p:sp>
        </mc:Choice>
        <mc:Fallback>
          <p:sp>
            <p:nvSpPr>
              <p:cNvPr id="61" name="TextBox 60"/>
              <p:cNvSpPr txBox="1">
                <a:spLocks noRot="1" noChangeAspect="1" noMove="1" noResize="1" noEditPoints="1" noAdjustHandles="1" noChangeArrowheads="1" noChangeShapeType="1" noTextEdit="1"/>
              </p:cNvSpPr>
              <p:nvPr/>
            </p:nvSpPr>
            <p:spPr bwMode="gray">
              <a:xfrm>
                <a:off x="3276600" y="2301443"/>
                <a:ext cx="752835" cy="344710"/>
              </a:xfrm>
              <a:prstGeom prst="rect">
                <a:avLst/>
              </a:prstGeom>
              <a:blipFill rotWithShape="1">
                <a:blip r:embed="rId1"/>
                <a:stretch>
                  <a:fillRect t="-59" r="-2820" b="31"/>
                </a:stretch>
              </a:blipFill>
            </p:spPr>
            <p:txBody>
              <a:bodyPr/>
              <a:lstStyle/>
              <a:p>
                <a:r>
                  <a:rPr lang="zh-CN" altLang="en-US">
                    <a:noFill/>
                  </a:rPr>
                  <a:t> </a:t>
                </a:r>
              </a:p>
            </p:txBody>
          </p:sp>
        </mc:Fallback>
      </mc:AlternateContent>
      <p:cxnSp>
        <p:nvCxnSpPr>
          <p:cNvPr id="73" name="Connector: Elbow 72"/>
          <p:cNvCxnSpPr/>
          <p:nvPr/>
        </p:nvCxnSpPr>
        <p:spPr bwMode="gray">
          <a:xfrm flipV="1">
            <a:off x="2667000" y="1524000"/>
            <a:ext cx="1524000" cy="419100"/>
          </a:xfrm>
          <a:prstGeom prst="bentConnector3">
            <a:avLst>
              <a:gd name="adj1" fmla="val 3981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TextBox 74"/>
              <p:cNvSpPr txBox="1"/>
              <p:nvPr/>
            </p:nvSpPr>
            <p:spPr bwMode="gray">
              <a:xfrm>
                <a:off x="3279475" y="1130808"/>
                <a:ext cx="748089" cy="344710"/>
              </a:xfrm>
              <a:prstGeom prst="rect">
                <a:avLst/>
              </a:prstGeom>
              <a:noFill/>
            </p:spPr>
            <p:txBody>
              <a:bodyPr wrap="none" lIns="0" tIns="0" rIns="0" bIns="0" rtlCol="0">
                <a:spAutoFit/>
              </a:bodyPr>
              <a:lstStyle/>
              <a:p>
                <a:pPr algn="l">
                  <a:lnSpc>
                    <a:spcPct val="140000"/>
                  </a:lnSpc>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𝑚</m:t>
                          </m:r>
                        </m:e>
                        <m:sub>
                          <m:r>
                            <a:rPr lang="en-US" sz="1600" b="0" i="1" smtClean="0">
                              <a:latin typeface="Cambria Math" panose="02040503050406030204" pitchFamily="18" charset="0"/>
                            </a:rPr>
                            <m:t>1</m:t>
                          </m:r>
                        </m:sub>
                      </m:sSub>
                      <m:r>
                        <a:rPr lang="en-US" sz="1600" i="1" smtClean="0">
                          <a:latin typeface="Cambria Math" panose="02040503050406030204" pitchFamily="18" charset="0"/>
                        </a:rPr>
                        <m:t>=</m:t>
                      </m:r>
                      <m:r>
                        <a:rPr lang="en-US" sz="1600" b="0" i="1" smtClean="0">
                          <a:latin typeface="Cambria Math" panose="02040503050406030204" pitchFamily="18" charset="0"/>
                        </a:rPr>
                        <m:t>𝑚</m:t>
                      </m:r>
                    </m:oMath>
                  </m:oMathPara>
                </a14:m>
                <a:endParaRPr lang="en-US" sz="1600" dirty="0"/>
              </a:p>
            </p:txBody>
          </p:sp>
        </mc:Choice>
        <mc:Fallback>
          <p:sp>
            <p:nvSpPr>
              <p:cNvPr id="75" name="TextBox 74"/>
              <p:cNvSpPr txBox="1">
                <a:spLocks noRot="1" noChangeAspect="1" noMove="1" noResize="1" noEditPoints="1" noAdjustHandles="1" noChangeArrowheads="1" noChangeShapeType="1" noTextEdit="1"/>
              </p:cNvSpPr>
              <p:nvPr/>
            </p:nvSpPr>
            <p:spPr bwMode="gray">
              <a:xfrm>
                <a:off x="3279475" y="1130808"/>
                <a:ext cx="748089" cy="344710"/>
              </a:xfrm>
              <a:prstGeom prst="rect">
                <a:avLst/>
              </a:prstGeom>
              <a:blipFill rotWithShape="1">
                <a:blip r:embed="rId2"/>
                <a:stretch>
                  <a:fillRect l="-45" t="-147" r="-3088" b="120"/>
                </a:stretch>
              </a:blipFill>
            </p:spPr>
            <p:txBody>
              <a:bodyPr/>
              <a:lstStyle/>
              <a:p>
                <a:r>
                  <a:rPr lang="zh-CN" altLang="en-US">
                    <a:noFill/>
                  </a:rPr>
                  <a:t> </a:t>
                </a:r>
              </a:p>
            </p:txBody>
          </p:sp>
        </mc:Fallback>
      </mc:AlternateContent>
      <p:cxnSp>
        <p:nvCxnSpPr>
          <p:cNvPr id="79" name="Connector: Elbow 78"/>
          <p:cNvCxnSpPr>
            <a:stCxn id="31" idx="3"/>
          </p:cNvCxnSpPr>
          <p:nvPr/>
        </p:nvCxnSpPr>
        <p:spPr bwMode="gray">
          <a:xfrm>
            <a:off x="6248400" y="1524000"/>
            <a:ext cx="2196741" cy="419100"/>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nector: Elbow 80"/>
          <p:cNvCxnSpPr/>
          <p:nvPr/>
        </p:nvCxnSpPr>
        <p:spPr bwMode="gray">
          <a:xfrm flipV="1">
            <a:off x="6248400" y="1943100"/>
            <a:ext cx="2196741" cy="419100"/>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2" name="Rectangle: Rounded Corners 81"/>
              <p:cNvSpPr/>
              <p:nvPr/>
            </p:nvSpPr>
            <p:spPr bwMode="gray">
              <a:xfrm>
                <a:off x="8445141" y="1257300"/>
                <a:ext cx="3408266" cy="1487899"/>
              </a:xfrm>
              <a:prstGeom prst="roundRect">
                <a:avLst/>
              </a:prstGeom>
              <a:solidFill>
                <a:srgbClr val="E5F5E1"/>
              </a:solid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1600" dirty="0">
                    <a:solidFill>
                      <a:schemeClr val="tx1"/>
                    </a:solidFill>
                  </a:rPr>
                  <a:t>Obtain estimates:</a:t>
                </a:r>
                <a:endParaRPr lang="en-US" sz="1600" dirty="0">
                  <a:solidFill>
                    <a:schemeClr val="tx1"/>
                  </a:solidFill>
                </a:endParaRPr>
              </a:p>
              <a:p>
                <a:pPr marL="285750" indent="-285750">
                  <a:lnSpc>
                    <a:spcPct val="140000"/>
                  </a:lnSpc>
                  <a:buFont typeface="Arial" panose="020B0604020202020204" pitchFamily="34" charset="0"/>
                  <a:buChar char="•"/>
                </a:pPr>
                <a:r>
                  <a:rPr lang="en-US" sz="1600" dirty="0">
                    <a:solidFill>
                      <a:schemeClr val="tx1"/>
                    </a:solidFill>
                  </a:rPr>
                  <a:t>Group </a:t>
                </a:r>
                <a:r>
                  <a:rPr lang="en-US" sz="1600" dirty="0">
                    <a:solidFill>
                      <a:schemeClr val="tx1">
                        <a:lumMod val="95000"/>
                        <a:lumOff val="5000"/>
                      </a:schemeClr>
                    </a:solidFill>
                  </a:rPr>
                  <a:t>Mean Difference </a:t>
                </a:r>
                <a:endParaRPr lang="en-US" sz="1600" i="1" dirty="0">
                  <a:solidFill>
                    <a:schemeClr val="tx1">
                      <a:lumMod val="95000"/>
                      <a:lumOff val="5000"/>
                    </a:schemeClr>
                  </a:solidFill>
                  <a:latin typeface="Cambria Math" panose="02040503050406030204" pitchFamily="18" charset="0"/>
                </a:endParaRPr>
              </a:p>
              <a:p>
                <a:pPr algn="ctr">
                  <a:lnSpc>
                    <a:spcPct val="140000"/>
                  </a:lnSpc>
                </a:pPr>
                <a14:m>
                  <m:oMath xmlns:m="http://schemas.openxmlformats.org/officeDocument/2006/math">
                    <m:acc>
                      <m:accPr>
                        <m:ctrlPr>
                          <a:rPr lang="en-US" sz="1600" i="1" dirty="0">
                            <a:solidFill>
                              <a:schemeClr val="tx1">
                                <a:lumMod val="95000"/>
                                <a:lumOff val="5000"/>
                              </a:schemeClr>
                            </a:solidFill>
                            <a:latin typeface="Cambria Math" panose="02040503050406030204" pitchFamily="18" charset="0"/>
                          </a:rPr>
                        </m:ctrlPr>
                      </m:accPr>
                      <m:e>
                        <m:r>
                          <m:rPr>
                            <m:sty m:val="p"/>
                          </m:rPr>
                          <a:rPr lang="en-US" sz="1600" dirty="0">
                            <a:solidFill>
                              <a:schemeClr val="tx1">
                                <a:lumMod val="95000"/>
                                <a:lumOff val="5000"/>
                              </a:schemeClr>
                            </a:solidFill>
                            <a:latin typeface="Cambria Math" panose="02040503050406030204" pitchFamily="18" charset="0"/>
                          </a:rPr>
                          <m:t>Δ</m:t>
                        </m:r>
                      </m:e>
                    </m:acc>
                    <m:r>
                      <a:rPr lang="en-US" sz="1600" b="0" i="1" dirty="0" smtClean="0">
                        <a:solidFill>
                          <a:schemeClr val="tx1">
                            <a:lumMod val="95000"/>
                            <a:lumOff val="5000"/>
                          </a:schemeClr>
                        </a:solidFill>
                        <a:latin typeface="Cambria Math" panose="02040503050406030204" pitchFamily="18" charset="0"/>
                      </a:rPr>
                      <m:t>=</m:t>
                    </m:r>
                    <m:sSub>
                      <m:sSubPr>
                        <m:ctrlPr>
                          <a:rPr lang="en-US" sz="1600" i="1">
                            <a:solidFill>
                              <a:schemeClr val="tx1">
                                <a:lumMod val="95000"/>
                                <a:lumOff val="5000"/>
                              </a:schemeClr>
                            </a:solidFill>
                            <a:latin typeface="Cambria Math" panose="02040503050406030204" pitchFamily="18" charset="0"/>
                          </a:rPr>
                        </m:ctrlPr>
                      </m:sSubPr>
                      <m:e>
                        <m:acc>
                          <m:accPr>
                            <m:ctrlPr>
                              <a:rPr lang="en-US" sz="1600" i="1">
                                <a:solidFill>
                                  <a:schemeClr val="tx1">
                                    <a:lumMod val="95000"/>
                                    <a:lumOff val="5000"/>
                                  </a:schemeClr>
                                </a:solidFill>
                                <a:latin typeface="Cambria Math" panose="02040503050406030204" pitchFamily="18" charset="0"/>
                              </a:rPr>
                            </m:ctrlPr>
                          </m:accPr>
                          <m:e>
                            <m:r>
                              <a:rPr lang="en-US" sz="1600" i="1">
                                <a:solidFill>
                                  <a:schemeClr val="tx1">
                                    <a:lumMod val="95000"/>
                                    <a:lumOff val="5000"/>
                                  </a:schemeClr>
                                </a:solidFill>
                                <a:latin typeface="Cambria Math" panose="02040503050406030204" pitchFamily="18" charset="0"/>
                              </a:rPr>
                              <m:t>𝜇</m:t>
                            </m:r>
                          </m:e>
                        </m:acc>
                      </m:e>
                      <m:sub>
                        <m:r>
                          <a:rPr lang="en-US" sz="1600" i="1">
                            <a:solidFill>
                              <a:schemeClr val="tx1">
                                <a:lumMod val="95000"/>
                                <a:lumOff val="5000"/>
                              </a:schemeClr>
                            </a:solidFill>
                            <a:latin typeface="Cambria Math" panose="02040503050406030204" pitchFamily="18" charset="0"/>
                          </a:rPr>
                          <m:t>1</m:t>
                        </m:r>
                      </m:sub>
                    </m:sSub>
                    <m:r>
                      <a:rPr lang="en-US" sz="1600" i="1">
                        <a:solidFill>
                          <a:schemeClr val="tx1">
                            <a:lumMod val="95000"/>
                            <a:lumOff val="5000"/>
                          </a:schemeClr>
                        </a:solidFill>
                        <a:latin typeface="Cambria Math" panose="02040503050406030204" pitchFamily="18" charset="0"/>
                      </a:rPr>
                      <m:t> </m:t>
                    </m:r>
                  </m:oMath>
                </a14:m>
                <a:r>
                  <a:rPr lang="en-US" sz="1600" dirty="0">
                    <a:solidFill>
                      <a:schemeClr val="tx1">
                        <a:lumMod val="95000"/>
                        <a:lumOff val="5000"/>
                      </a:schemeClr>
                    </a:solidFill>
                  </a:rPr>
                  <a:t>-</a:t>
                </a:r>
                <a14:m>
                  <m:oMath xmlns:m="http://schemas.openxmlformats.org/officeDocument/2006/math">
                    <m:sSub>
                      <m:sSubPr>
                        <m:ctrlPr>
                          <a:rPr lang="en-US" sz="1600" i="1">
                            <a:solidFill>
                              <a:schemeClr val="tx1">
                                <a:lumMod val="95000"/>
                                <a:lumOff val="5000"/>
                              </a:schemeClr>
                            </a:solidFill>
                            <a:latin typeface="Cambria Math" panose="02040503050406030204" pitchFamily="18" charset="0"/>
                          </a:rPr>
                        </m:ctrlPr>
                      </m:sSubPr>
                      <m:e>
                        <m:acc>
                          <m:accPr>
                            <m:ctrlPr>
                              <a:rPr lang="en-US" sz="1600" i="1">
                                <a:solidFill>
                                  <a:schemeClr val="tx1">
                                    <a:lumMod val="95000"/>
                                    <a:lumOff val="5000"/>
                                  </a:schemeClr>
                                </a:solidFill>
                                <a:latin typeface="Cambria Math" panose="02040503050406030204" pitchFamily="18" charset="0"/>
                              </a:rPr>
                            </m:ctrlPr>
                          </m:accPr>
                          <m:e>
                            <m:r>
                              <a:rPr lang="en-US" sz="1600" i="1">
                                <a:solidFill>
                                  <a:schemeClr val="tx1">
                                    <a:lumMod val="95000"/>
                                    <a:lumOff val="5000"/>
                                  </a:schemeClr>
                                </a:solidFill>
                                <a:latin typeface="Cambria Math" panose="02040503050406030204" pitchFamily="18" charset="0"/>
                              </a:rPr>
                              <m:t>𝜇</m:t>
                            </m:r>
                          </m:e>
                        </m:acc>
                      </m:e>
                      <m:sub>
                        <m:r>
                          <a:rPr lang="en-US" sz="1600" b="0" i="1" smtClean="0">
                            <a:solidFill>
                              <a:schemeClr val="tx1">
                                <a:lumMod val="95000"/>
                                <a:lumOff val="5000"/>
                              </a:schemeClr>
                            </a:solidFill>
                            <a:latin typeface="Cambria Math" panose="02040503050406030204" pitchFamily="18" charset="0"/>
                          </a:rPr>
                          <m:t>2</m:t>
                        </m:r>
                      </m:sub>
                    </m:sSub>
                    <m:r>
                      <a:rPr lang="en-US" sz="1600" i="1">
                        <a:solidFill>
                          <a:schemeClr val="tx1">
                            <a:lumMod val="95000"/>
                            <a:lumOff val="5000"/>
                          </a:schemeClr>
                        </a:solidFill>
                        <a:latin typeface="Cambria Math" panose="02040503050406030204" pitchFamily="18" charset="0"/>
                      </a:rPr>
                      <m:t> </m:t>
                    </m:r>
                  </m:oMath>
                </a14:m>
                <a:endParaRPr lang="en-US" sz="1600" dirty="0">
                  <a:solidFill>
                    <a:schemeClr val="tx1">
                      <a:lumMod val="95000"/>
                      <a:lumOff val="5000"/>
                    </a:schemeClr>
                  </a:solidFill>
                </a:endParaRPr>
              </a:p>
              <a:p>
                <a:pPr marL="285750" indent="-285750">
                  <a:lnSpc>
                    <a:spcPct val="140000"/>
                  </a:lnSpc>
                  <a:buFont typeface="Arial" panose="020B0604020202020204" pitchFamily="34" charset="0"/>
                  <a:buChar char="•"/>
                </a:pPr>
                <a:r>
                  <a:rPr lang="en-US" sz="1600" dirty="0">
                    <a:solidFill>
                      <a:schemeClr val="tx1"/>
                    </a:solidFill>
                  </a:rPr>
                  <a:t>Pooled Standard Deviation </a:t>
                </a:r>
                <a14:m>
                  <m:oMath xmlns:m="http://schemas.openxmlformats.org/officeDocument/2006/math">
                    <m:acc>
                      <m:accPr>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𝜎</m:t>
                        </m:r>
                      </m:e>
                    </m:acc>
                  </m:oMath>
                </a14:m>
                <a:endParaRPr lang="en-US" sz="1600" dirty="0">
                  <a:solidFill>
                    <a:schemeClr val="tx1"/>
                  </a:solidFill>
                </a:endParaRPr>
              </a:p>
            </p:txBody>
          </p:sp>
        </mc:Choice>
        <mc:Fallback>
          <p:sp>
            <p:nvSpPr>
              <p:cNvPr id="82" name="Rectangle: Rounded Corners 81"/>
              <p:cNvSpPr>
                <a:spLocks noRot="1" noChangeAspect="1" noMove="1" noResize="1" noEditPoints="1" noAdjustHandles="1" noChangeArrowheads="1" noChangeShapeType="1" noTextEdit="1"/>
              </p:cNvSpPr>
              <p:nvPr/>
            </p:nvSpPr>
            <p:spPr bwMode="gray">
              <a:xfrm>
                <a:off x="8445141" y="1257300"/>
                <a:ext cx="3408266" cy="1487899"/>
              </a:xfrm>
              <a:prstGeom prst="roundRect">
                <a:avLst/>
              </a:prstGeom>
              <a:blipFill rotWithShape="1">
                <a:blip r:embed="rId3"/>
                <a:stretch>
                  <a:fillRect l="-157" t="-341" r="-134" b="-292"/>
                </a:stretch>
              </a:blip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TextBox 82"/>
              <p:cNvSpPr txBox="1"/>
              <p:nvPr/>
            </p:nvSpPr>
            <p:spPr bwMode="gray">
              <a:xfrm>
                <a:off x="6684471" y="1186955"/>
                <a:ext cx="290721" cy="344710"/>
              </a:xfrm>
              <a:prstGeom prst="rect">
                <a:avLst/>
              </a:prstGeom>
              <a:noFill/>
            </p:spPr>
            <p:txBody>
              <a:bodyPr wrap="none" lIns="0" tIns="0" rIns="0" bIns="0" rtlCol="0">
                <a:spAutoFit/>
              </a:bodyPr>
              <a:lstStyle/>
              <a:p>
                <a:pPr>
                  <a:lnSpc>
                    <a:spcPct val="140000"/>
                  </a:lnSpc>
                </a:pPr>
                <a14:m>
                  <m:oMathPara xmlns:m="http://schemas.openxmlformats.org/officeDocument/2006/math">
                    <m:oMathParaPr>
                      <m:jc m:val="centerGroup"/>
                    </m:oMathParaPr>
                    <m:oMath xmlns:m="http://schemas.openxmlformats.org/officeDocument/2006/math">
                      <m:sSub>
                        <m:sSubPr>
                          <m:ctrlPr>
                            <a:rPr lang="en-US" sz="1600" i="1">
                              <a:solidFill>
                                <a:srgbClr val="836967"/>
                              </a:solidFill>
                              <a:latin typeface="Cambria Math" panose="02040503050406030204" pitchFamily="18" charset="0"/>
                            </a:rPr>
                          </m:ctrlPr>
                        </m:sSubPr>
                        <m:e>
                          <m:acc>
                            <m:accPr>
                              <m:ctrlPr>
                                <a:rPr lang="en-US" sz="1600" i="1">
                                  <a:solidFill>
                                    <a:srgbClr val="836967"/>
                                  </a:solidFill>
                                  <a:latin typeface="Cambria Math" panose="02040503050406030204" pitchFamily="18" charset="0"/>
                                </a:rPr>
                              </m:ctrlPr>
                            </m:accPr>
                            <m:e>
                              <m:r>
                                <a:rPr lang="en-US" sz="1600" i="1">
                                  <a:latin typeface="Cambria Math" panose="02040503050406030204" pitchFamily="18" charset="0"/>
                                </a:rPr>
                                <m:t>𝜇</m:t>
                              </m:r>
                            </m:e>
                          </m:acc>
                        </m:e>
                        <m:sub>
                          <m:r>
                            <a:rPr lang="en-US" sz="1600" i="1">
                              <a:latin typeface="Cambria Math" panose="02040503050406030204" pitchFamily="18" charset="0"/>
                            </a:rPr>
                            <m:t>1</m:t>
                          </m:r>
                        </m:sub>
                      </m:sSub>
                      <m:r>
                        <a:rPr lang="en-US" sz="1600" i="1">
                          <a:latin typeface="Cambria Math" panose="02040503050406030204" pitchFamily="18" charset="0"/>
                        </a:rPr>
                        <m:t> </m:t>
                      </m:r>
                    </m:oMath>
                  </m:oMathPara>
                </a14:m>
                <a:endParaRPr lang="en-US" sz="1600" dirty="0"/>
              </a:p>
            </p:txBody>
          </p:sp>
        </mc:Choice>
        <mc:Fallback>
          <p:sp>
            <p:nvSpPr>
              <p:cNvPr id="83" name="TextBox 82"/>
              <p:cNvSpPr txBox="1">
                <a:spLocks noRot="1" noChangeAspect="1" noMove="1" noResize="1" noEditPoints="1" noAdjustHandles="1" noChangeArrowheads="1" noChangeShapeType="1" noTextEdit="1"/>
              </p:cNvSpPr>
              <p:nvPr/>
            </p:nvSpPr>
            <p:spPr bwMode="gray">
              <a:xfrm>
                <a:off x="6684471" y="1186955"/>
                <a:ext cx="290721" cy="344710"/>
              </a:xfrm>
              <a:prstGeom prst="rect">
                <a:avLst/>
              </a:prstGeom>
              <a:blipFill rotWithShape="1">
                <a:blip r:embed="rId4"/>
                <a:stretch>
                  <a:fillRect l="-159" t="-41" r="-9271"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9" name="TextBox 88"/>
              <p:cNvSpPr txBox="1"/>
              <p:nvPr/>
            </p:nvSpPr>
            <p:spPr bwMode="gray">
              <a:xfrm>
                <a:off x="6686342" y="2309039"/>
                <a:ext cx="295466" cy="344710"/>
              </a:xfrm>
              <a:prstGeom prst="rect">
                <a:avLst/>
              </a:prstGeom>
              <a:noFill/>
            </p:spPr>
            <p:txBody>
              <a:bodyPr wrap="none" lIns="0" tIns="0" rIns="0" bIns="0" rtlCol="0">
                <a:spAutoFit/>
              </a:bodyPr>
              <a:lstStyle/>
              <a:p>
                <a:pPr>
                  <a:lnSpc>
                    <a:spcPct val="140000"/>
                  </a:lnSpc>
                </a:pPr>
                <a14:m>
                  <m:oMathPara xmlns:m="http://schemas.openxmlformats.org/officeDocument/2006/math">
                    <m:oMathParaPr>
                      <m:jc m:val="centerGroup"/>
                    </m:oMathParaPr>
                    <m:oMath xmlns:m="http://schemas.openxmlformats.org/officeDocument/2006/math">
                      <m:sSub>
                        <m:sSubPr>
                          <m:ctrlPr>
                            <a:rPr lang="en-US" sz="1600" i="1" smtClean="0">
                              <a:solidFill>
                                <a:srgbClr val="836967"/>
                              </a:solidFill>
                              <a:latin typeface="Cambria Math" panose="02040503050406030204" pitchFamily="18" charset="0"/>
                            </a:rPr>
                          </m:ctrlPr>
                        </m:sSubPr>
                        <m:e>
                          <m:acc>
                            <m:accPr>
                              <m:ctrlPr>
                                <a:rPr lang="en-US" sz="1600" i="1">
                                  <a:solidFill>
                                    <a:srgbClr val="836967"/>
                                  </a:solidFill>
                                  <a:latin typeface="Cambria Math" panose="02040503050406030204" pitchFamily="18" charset="0"/>
                                </a:rPr>
                              </m:ctrlPr>
                            </m:accPr>
                            <m:e>
                              <m:r>
                                <a:rPr lang="en-US" sz="1600" i="1">
                                  <a:latin typeface="Cambria Math" panose="02040503050406030204" pitchFamily="18" charset="0"/>
                                </a:rPr>
                                <m:t>𝜇</m:t>
                              </m:r>
                            </m:e>
                          </m:acc>
                        </m:e>
                        <m:sub>
                          <m:r>
                            <a:rPr lang="en-US" sz="1600" b="0" i="1" smtClean="0">
                              <a:latin typeface="Cambria Math" panose="02040503050406030204" pitchFamily="18" charset="0"/>
                            </a:rPr>
                            <m:t>2</m:t>
                          </m:r>
                        </m:sub>
                      </m:sSub>
                      <m:r>
                        <a:rPr lang="en-US" sz="1600" i="1">
                          <a:latin typeface="Cambria Math" panose="02040503050406030204" pitchFamily="18" charset="0"/>
                        </a:rPr>
                        <m:t> </m:t>
                      </m:r>
                    </m:oMath>
                  </m:oMathPara>
                </a14:m>
                <a:endParaRPr lang="en-US" sz="1600" dirty="0"/>
              </a:p>
            </p:txBody>
          </p:sp>
        </mc:Choice>
        <mc:Fallback>
          <p:sp>
            <p:nvSpPr>
              <p:cNvPr id="89" name="TextBox 88"/>
              <p:cNvSpPr txBox="1">
                <a:spLocks noRot="1" noChangeAspect="1" noMove="1" noResize="1" noEditPoints="1" noAdjustHandles="1" noChangeArrowheads="1" noChangeShapeType="1" noTextEdit="1"/>
              </p:cNvSpPr>
              <p:nvPr/>
            </p:nvSpPr>
            <p:spPr bwMode="gray">
              <a:xfrm>
                <a:off x="6686342" y="2309039"/>
                <a:ext cx="295466" cy="344710"/>
              </a:xfrm>
              <a:prstGeom prst="rect">
                <a:avLst/>
              </a:prstGeom>
              <a:blipFill rotWithShape="1">
                <a:blip r:embed="rId5"/>
                <a:stretch>
                  <a:fillRect l="-145" t="-52" r="-8387" b="24"/>
                </a:stretch>
              </a:blipFill>
            </p:spPr>
            <p:txBody>
              <a:bodyPr/>
              <a:lstStyle/>
              <a:p>
                <a:r>
                  <a:rPr lang="zh-CN" altLang="en-US">
                    <a:noFill/>
                  </a:rPr>
                  <a:t> </a:t>
                </a:r>
              </a:p>
            </p:txBody>
          </p:sp>
        </mc:Fallback>
      </mc:AlternateContent>
      <p:sp>
        <p:nvSpPr>
          <p:cNvPr id="92" name="TextBox 91"/>
          <p:cNvSpPr txBox="1"/>
          <p:nvPr/>
        </p:nvSpPr>
        <p:spPr bwMode="gray">
          <a:xfrm>
            <a:off x="572557" y="1043390"/>
            <a:ext cx="727763" cy="315920"/>
          </a:xfrm>
          <a:prstGeom prst="rect">
            <a:avLst/>
          </a:prstGeom>
          <a:noFill/>
        </p:spPr>
        <p:txBody>
          <a:bodyPr wrap="none" lIns="0" tIns="0" rIns="0" bIns="0" rtlCol="0">
            <a:spAutoFit/>
          </a:bodyPr>
          <a:lstStyle/>
          <a:p>
            <a:pPr algn="l">
              <a:lnSpc>
                <a:spcPct val="140000"/>
              </a:lnSpc>
            </a:pPr>
            <a:r>
              <a:rPr lang="en-US" sz="1600" dirty="0">
                <a:solidFill>
                  <a:srgbClr val="FF0000"/>
                </a:solidFill>
              </a:rPr>
              <a:t>Phase II</a:t>
            </a:r>
            <a:endParaRPr lang="en-US" sz="1600" dirty="0">
              <a:solidFill>
                <a:srgbClr val="FF0000"/>
              </a:solidFill>
            </a:endParaRPr>
          </a:p>
        </p:txBody>
      </p:sp>
      <p:cxnSp>
        <p:nvCxnSpPr>
          <p:cNvPr id="94" name="Straight Arrow Connector 93"/>
          <p:cNvCxnSpPr>
            <a:stCxn id="82" idx="2"/>
          </p:cNvCxnSpPr>
          <p:nvPr/>
        </p:nvCxnSpPr>
        <p:spPr bwMode="gray">
          <a:xfrm>
            <a:off x="10149274" y="2745199"/>
            <a:ext cx="0" cy="106480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5" name="Diamond 94"/>
              <p:cNvSpPr/>
              <p:nvPr/>
            </p:nvSpPr>
            <p:spPr bwMode="gray">
              <a:xfrm>
                <a:off x="8218437" y="3810000"/>
                <a:ext cx="3861674" cy="1001172"/>
              </a:xfrm>
              <a:prstGeom prst="diamond">
                <a:avLst/>
              </a:prstGeom>
              <a:solidFill>
                <a:srgbClr val="E5E3DE"/>
              </a:solid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If </a:t>
                </a:r>
                <a14:m>
                  <m:oMath xmlns:m="http://schemas.openxmlformats.org/officeDocument/2006/math">
                    <m:acc>
                      <m:accPr>
                        <m:ctrlPr>
                          <a:rPr lang="en-US" sz="1600" i="1" dirty="0" smtClean="0">
                            <a:solidFill>
                              <a:schemeClr val="tx1"/>
                            </a:solidFill>
                            <a:latin typeface="Cambria Math" panose="02040503050406030204" pitchFamily="18" charset="0"/>
                          </a:rPr>
                        </m:ctrlPr>
                      </m:accPr>
                      <m:e>
                        <m:r>
                          <m:rPr>
                            <m:sty m:val="p"/>
                          </m:rPr>
                          <a:rPr lang="en-US" sz="1600" dirty="0">
                            <a:solidFill>
                              <a:schemeClr val="tx1"/>
                            </a:solidFill>
                            <a:latin typeface="Cambria Math" panose="02040503050406030204" pitchFamily="18" charset="0"/>
                          </a:rPr>
                          <m:t>Δ</m:t>
                        </m:r>
                      </m:e>
                    </m:acc>
                    <m:r>
                      <a:rPr lang="en-US" sz="1600" i="0" dirty="0">
                        <a:solidFill>
                          <a:schemeClr val="tx1"/>
                        </a:solidFill>
                        <a:latin typeface="Cambria Math" panose="02040503050406030204" pitchFamily="18" charset="0"/>
                      </a:rPr>
                      <m:t>&gt;</m:t>
                    </m:r>
                    <m:sSub>
                      <m:sSubPr>
                        <m:ctrlPr>
                          <a:rPr lang="en-US" sz="1600" i="1" dirty="0">
                            <a:solidFill>
                              <a:schemeClr val="tx1"/>
                            </a:solidFill>
                            <a:latin typeface="Cambria Math" panose="02040503050406030204" pitchFamily="18" charset="0"/>
                          </a:rPr>
                        </m:ctrlPr>
                      </m:sSubPr>
                      <m:e>
                        <m:r>
                          <m:rPr>
                            <m:sty m:val="p"/>
                          </m:rPr>
                          <a:rPr lang="en-US" sz="1600" i="0" dirty="0">
                            <a:solidFill>
                              <a:schemeClr val="tx1"/>
                            </a:solidFill>
                            <a:latin typeface="Cambria Math" panose="02040503050406030204" pitchFamily="18" charset="0"/>
                          </a:rPr>
                          <m:t>Δ</m:t>
                        </m:r>
                      </m:e>
                      <m:sub>
                        <m:r>
                          <a:rPr lang="en-US" sz="1600" i="1" dirty="0">
                            <a:solidFill>
                              <a:schemeClr val="tx1"/>
                            </a:solidFill>
                            <a:latin typeface="Cambria Math" panose="02040503050406030204" pitchFamily="18" charset="0"/>
                          </a:rPr>
                          <m:t>𝑃</m:t>
                        </m:r>
                        <m:r>
                          <a:rPr lang="en-US" sz="1600" b="0" i="1" dirty="0" smtClean="0">
                            <a:solidFill>
                              <a:schemeClr val="tx1"/>
                            </a:solidFill>
                            <a:latin typeface="Cambria Math" panose="02040503050406030204" pitchFamily="18" charset="0"/>
                          </a:rPr>
                          <m:t>𝐷</m:t>
                        </m:r>
                      </m:sub>
                    </m:sSub>
                  </m:oMath>
                </a14:m>
                <a:r>
                  <a:rPr lang="en-US" sz="1600" dirty="0">
                    <a:solidFill>
                      <a:schemeClr val="tx1"/>
                    </a:solidFill>
                  </a:rPr>
                  <a:t>?</a:t>
                </a:r>
                <a:endParaRPr lang="en-US" sz="1600" dirty="0">
                  <a:solidFill>
                    <a:schemeClr val="tx1"/>
                  </a:solidFill>
                </a:endParaRPr>
              </a:p>
            </p:txBody>
          </p:sp>
        </mc:Choice>
        <mc:Fallback>
          <p:sp>
            <p:nvSpPr>
              <p:cNvPr id="95" name="Diamond 94"/>
              <p:cNvSpPr>
                <a:spLocks noRot="1" noChangeAspect="1" noMove="1" noResize="1" noEditPoints="1" noAdjustHandles="1" noChangeArrowheads="1" noChangeShapeType="1" noTextEdit="1"/>
              </p:cNvSpPr>
              <p:nvPr/>
            </p:nvSpPr>
            <p:spPr bwMode="gray">
              <a:xfrm>
                <a:off x="8218437" y="3810000"/>
                <a:ext cx="3861674" cy="1001172"/>
              </a:xfrm>
              <a:prstGeom prst="diamond">
                <a:avLst/>
              </a:prstGeom>
              <a:blipFill rotWithShape="1">
                <a:blip r:embed="rId6"/>
                <a:stretch>
                  <a:fillRect l="-500" t="-507" r="-480" b="-466"/>
                </a:stretch>
              </a:blip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7" name="TextBox 96"/>
              <p:cNvSpPr txBox="1"/>
              <p:nvPr/>
            </p:nvSpPr>
            <p:spPr bwMode="gray">
              <a:xfrm>
                <a:off x="8534400" y="4811172"/>
                <a:ext cx="3378197" cy="276999"/>
              </a:xfrm>
              <a:prstGeom prst="rect">
                <a:avLst/>
              </a:prstGeom>
              <a:noFill/>
            </p:spPr>
            <p:txBody>
              <a:bodyPr wrap="square">
                <a:spAutoFit/>
              </a:bodyPr>
              <a:lstStyle/>
              <a:p>
                <a:r>
                  <a:rPr lang="en-US" sz="1200" dirty="0">
                    <a:solidFill>
                      <a:schemeClr val="tx1"/>
                    </a:solidFill>
                  </a:rPr>
                  <a:t>* </a:t>
                </a:r>
                <a14:m>
                  <m:oMath xmlns:m="http://schemas.openxmlformats.org/officeDocument/2006/math">
                    <m:sSub>
                      <m:sSubPr>
                        <m:ctrlPr>
                          <a:rPr lang="en-US" sz="1200" i="1" dirty="0">
                            <a:solidFill>
                              <a:schemeClr val="tx1"/>
                            </a:solidFill>
                            <a:latin typeface="Cambria Math" panose="02040503050406030204" pitchFamily="18" charset="0"/>
                          </a:rPr>
                        </m:ctrlPr>
                      </m:sSubPr>
                      <m:e>
                        <m:r>
                          <m:rPr>
                            <m:sty m:val="p"/>
                          </m:rPr>
                          <a:rPr lang="en-US" sz="1200" dirty="0">
                            <a:solidFill>
                              <a:schemeClr val="tx1"/>
                            </a:solidFill>
                            <a:latin typeface="Cambria Math" panose="02040503050406030204" pitchFamily="18" charset="0"/>
                          </a:rPr>
                          <m:t>Δ</m:t>
                        </m:r>
                      </m:e>
                      <m:sub>
                        <m:r>
                          <a:rPr lang="en-US" sz="1200" i="1" dirty="0">
                            <a:solidFill>
                              <a:schemeClr val="tx1"/>
                            </a:solidFill>
                            <a:latin typeface="Cambria Math" panose="02040503050406030204" pitchFamily="18" charset="0"/>
                          </a:rPr>
                          <m:t>𝑃𝐷</m:t>
                        </m:r>
                      </m:sub>
                    </m:sSub>
                  </m:oMath>
                </a14:m>
                <a:r>
                  <a:rPr lang="en-US" sz="1200" dirty="0">
                    <a:solidFill>
                      <a:schemeClr val="tx1"/>
                    </a:solidFill>
                  </a:rPr>
                  <a:t> is a predefined clinical threshold. </a:t>
                </a:r>
                <a:endParaRPr lang="en-US" sz="1200" dirty="0"/>
              </a:p>
            </p:txBody>
          </p:sp>
        </mc:Choice>
        <mc:Fallback>
          <p:sp>
            <p:nvSpPr>
              <p:cNvPr id="97" name="TextBox 96"/>
              <p:cNvSpPr txBox="1">
                <a:spLocks noRot="1" noChangeAspect="1" noMove="1" noResize="1" noEditPoints="1" noAdjustHandles="1" noChangeArrowheads="1" noChangeShapeType="1" noTextEdit="1"/>
              </p:cNvSpPr>
              <p:nvPr/>
            </p:nvSpPr>
            <p:spPr bwMode="gray">
              <a:xfrm>
                <a:off x="8534400" y="4811172"/>
                <a:ext cx="3378197" cy="276999"/>
              </a:xfrm>
              <a:prstGeom prst="rect">
                <a:avLst/>
              </a:prstGeom>
              <a:blipFill rotWithShape="1">
                <a:blip r:embed="rId7"/>
                <a:stretch>
                  <a:fillRect t="-149" r="19" b="199"/>
                </a:stretch>
              </a:blipFill>
            </p:spPr>
            <p:txBody>
              <a:bodyPr/>
              <a:lstStyle/>
              <a:p>
                <a:r>
                  <a:rPr lang="zh-CN" altLang="en-US">
                    <a:noFill/>
                  </a:rPr>
                  <a:t> </a:t>
                </a:r>
              </a:p>
            </p:txBody>
          </p:sp>
        </mc:Fallback>
      </mc:AlternateContent>
      <p:sp>
        <p:nvSpPr>
          <p:cNvPr id="98" name="TextBox 97"/>
          <p:cNvSpPr txBox="1"/>
          <p:nvPr/>
        </p:nvSpPr>
        <p:spPr bwMode="gray">
          <a:xfrm>
            <a:off x="8534400" y="2758160"/>
            <a:ext cx="3378197" cy="646331"/>
          </a:xfrm>
          <a:prstGeom prst="rect">
            <a:avLst/>
          </a:prstGeom>
          <a:noFill/>
        </p:spPr>
        <p:txBody>
          <a:bodyPr wrap="square">
            <a:spAutoFit/>
          </a:bodyPr>
          <a:lstStyle/>
          <a:p>
            <a:r>
              <a:rPr lang="en-US" sz="1200" dirty="0"/>
              <a:t>Note: one can use statistical modeling to obtain the estimates, but in our project, we simply use the summary statistics.</a:t>
            </a:r>
            <a:r>
              <a:rPr lang="en-US" sz="1200" dirty="0">
                <a:solidFill>
                  <a:schemeClr val="tx1"/>
                </a:solidFill>
              </a:rPr>
              <a:t> </a:t>
            </a:r>
            <a:endParaRPr lang="en-US" sz="1200" dirty="0"/>
          </a:p>
        </p:txBody>
      </p:sp>
      <p:sp>
        <p:nvSpPr>
          <p:cNvPr id="101" name="TextBox 100"/>
          <p:cNvSpPr txBox="1"/>
          <p:nvPr/>
        </p:nvSpPr>
        <p:spPr bwMode="gray">
          <a:xfrm>
            <a:off x="7467600" y="4577367"/>
            <a:ext cx="343043" cy="315920"/>
          </a:xfrm>
          <a:prstGeom prst="rect">
            <a:avLst/>
          </a:prstGeom>
          <a:noFill/>
        </p:spPr>
        <p:txBody>
          <a:bodyPr wrap="none" lIns="0" tIns="0" rIns="0" bIns="0" rtlCol="0">
            <a:spAutoFit/>
          </a:bodyPr>
          <a:lstStyle/>
          <a:p>
            <a:pPr algn="l">
              <a:lnSpc>
                <a:spcPct val="140000"/>
              </a:lnSpc>
            </a:pPr>
            <a:r>
              <a:rPr lang="en-US" sz="1600" dirty="0"/>
              <a:t>Yes</a:t>
            </a:r>
            <a:endParaRPr lang="en-US" sz="1600" dirty="0"/>
          </a:p>
        </p:txBody>
      </p:sp>
      <p:sp>
        <p:nvSpPr>
          <p:cNvPr id="102" name="Rectangle 101"/>
          <p:cNvSpPr/>
          <p:nvPr/>
        </p:nvSpPr>
        <p:spPr bwMode="gray">
          <a:xfrm>
            <a:off x="4439969" y="4498422"/>
            <a:ext cx="2057400" cy="1241054"/>
          </a:xfrm>
          <a:prstGeom prst="rect">
            <a:avLst/>
          </a:prstGeom>
          <a:solidFill>
            <a:srgbClr val="F5CDB9"/>
          </a:solidFill>
          <a:ln w="6350">
            <a:solidFill>
              <a:srgbClr val="F6F5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“Go” Decision: launch a Phase III Trial</a:t>
            </a:r>
            <a:endParaRPr lang="en-US" sz="1600" dirty="0">
              <a:solidFill>
                <a:schemeClr val="tx1"/>
              </a:solidFill>
            </a:endParaRPr>
          </a:p>
        </p:txBody>
      </p:sp>
      <p:cxnSp>
        <p:nvCxnSpPr>
          <p:cNvPr id="103" name="Connector: Elbow 102"/>
          <p:cNvCxnSpPr/>
          <p:nvPr/>
        </p:nvCxnSpPr>
        <p:spPr bwMode="gray">
          <a:xfrm rot="10800000">
            <a:off x="6514305" y="3502223"/>
            <a:ext cx="1704134" cy="808366"/>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bwMode="gray">
          <a:xfrm>
            <a:off x="4453040" y="3112427"/>
            <a:ext cx="2057400" cy="779375"/>
          </a:xfrm>
          <a:prstGeom prst="rect">
            <a:avLst/>
          </a:prstGeom>
          <a:solidFill>
            <a:srgbClr val="B7B6B2"/>
          </a:solidFill>
          <a:ln w="6350">
            <a:solidFill>
              <a:srgbClr val="F6F5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“No-go” Decision: stop at Phase II</a:t>
            </a:r>
            <a:endParaRPr lang="en-US" sz="1600" dirty="0">
              <a:solidFill>
                <a:schemeClr val="tx1"/>
              </a:solidFill>
            </a:endParaRPr>
          </a:p>
        </p:txBody>
      </p:sp>
      <p:cxnSp>
        <p:nvCxnSpPr>
          <p:cNvPr id="108" name="Connector: Elbow 107"/>
          <p:cNvCxnSpPr/>
          <p:nvPr/>
        </p:nvCxnSpPr>
        <p:spPr bwMode="gray">
          <a:xfrm rot="10800000" flipV="1">
            <a:off x="6514304" y="4310807"/>
            <a:ext cx="1704134" cy="808366"/>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bwMode="gray">
          <a:xfrm>
            <a:off x="1844465" y="4152626"/>
            <a:ext cx="783869" cy="315920"/>
          </a:xfrm>
          <a:prstGeom prst="rect">
            <a:avLst/>
          </a:prstGeom>
          <a:noFill/>
        </p:spPr>
        <p:txBody>
          <a:bodyPr wrap="none" lIns="0" tIns="0" rIns="0" bIns="0" rtlCol="0">
            <a:spAutoFit/>
          </a:bodyPr>
          <a:lstStyle/>
          <a:p>
            <a:pPr algn="l">
              <a:lnSpc>
                <a:spcPct val="140000"/>
              </a:lnSpc>
            </a:pPr>
            <a:r>
              <a:rPr lang="en-US" sz="1600" dirty="0">
                <a:solidFill>
                  <a:srgbClr val="FF0000"/>
                </a:solidFill>
              </a:rPr>
              <a:t>Phase III</a:t>
            </a:r>
            <a:endParaRPr lang="en-US" sz="1600" dirty="0">
              <a:solidFill>
                <a:srgbClr val="FF0000"/>
              </a:solidFill>
            </a:endParaRPr>
          </a:p>
        </p:txBody>
      </p:sp>
      <p:sp>
        <p:nvSpPr>
          <p:cNvPr id="110" name="Rectangle 109"/>
          <p:cNvSpPr/>
          <p:nvPr/>
        </p:nvSpPr>
        <p:spPr bwMode="gray">
          <a:xfrm>
            <a:off x="1891502" y="4852249"/>
            <a:ext cx="2057400" cy="533400"/>
          </a:xfrm>
          <a:prstGeom prst="rect">
            <a:avLst/>
          </a:prstGeom>
          <a:solidFill>
            <a:srgbClr val="E5E3DE"/>
          </a:solid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Patient Enrollment</a:t>
            </a:r>
            <a:endParaRPr lang="en-US" sz="1600" dirty="0">
              <a:solidFill>
                <a:schemeClr val="tx1"/>
              </a:solidFill>
            </a:endParaRPr>
          </a:p>
        </p:txBody>
      </p:sp>
      <p:cxnSp>
        <p:nvCxnSpPr>
          <p:cNvPr id="112" name="Straight Arrow Connector 111"/>
          <p:cNvCxnSpPr>
            <a:stCxn id="102" idx="1"/>
          </p:cNvCxnSpPr>
          <p:nvPr/>
        </p:nvCxnSpPr>
        <p:spPr bwMode="gray">
          <a:xfrm flipH="1">
            <a:off x="3962400" y="5118949"/>
            <a:ext cx="47756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bwMode="gray">
          <a:xfrm>
            <a:off x="7467600" y="3707842"/>
            <a:ext cx="285335" cy="315920"/>
          </a:xfrm>
          <a:prstGeom prst="rect">
            <a:avLst/>
          </a:prstGeom>
          <a:noFill/>
        </p:spPr>
        <p:txBody>
          <a:bodyPr wrap="none" lIns="0" tIns="0" rIns="0" bIns="0" rtlCol="0">
            <a:spAutoFit/>
          </a:bodyPr>
          <a:lstStyle/>
          <a:p>
            <a:pPr algn="l">
              <a:lnSpc>
                <a:spcPct val="140000"/>
              </a:lnSpc>
            </a:pPr>
            <a:r>
              <a:rPr lang="en-US" sz="1600" dirty="0"/>
              <a:t>No</a:t>
            </a:r>
            <a:endParaRPr lang="en-US" sz="1600" dirty="0"/>
          </a:p>
        </p:txBody>
      </p:sp>
      <p:sp>
        <p:nvSpPr>
          <p:cNvPr id="5" name="Foliennummernplatzhalter 5"/>
          <p:cNvSpPr>
            <a:spLocks noGrp="1"/>
          </p:cNvSpPr>
          <p:nvPr>
            <p:ph type="sldNum" sz="quarter" idx="11"/>
          </p:nvPr>
        </p:nvSpPr>
        <p:spPr>
          <a:xfrm>
            <a:off x="11424592" y="6246836"/>
            <a:ext cx="288000" cy="288000"/>
          </a:xfrm>
        </p:spPr>
        <p:txBody>
          <a:bodyPr/>
          <a:lstStyle/>
          <a:p>
            <a:fld id="{8FF9B0DE-3FEB-4AA0-B465-B80EF7C1333D}" type="slidenum">
              <a:rPr lang="en-US" noProof="0" smtClean="0"/>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500"/>
                                        <p:tgtEl>
                                          <p:spTgt spid="9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7"/>
                                        </p:tgtEl>
                                        <p:attrNameLst>
                                          <p:attrName>style.visibility</p:attrName>
                                        </p:attrNameLst>
                                      </p:cBhvr>
                                      <p:to>
                                        <p:strVal val="visible"/>
                                      </p:to>
                                    </p:set>
                                    <p:animEffect transition="in" filter="fade">
                                      <p:cBhvr>
                                        <p:cTn id="13" dur="500"/>
                                        <p:tgtEl>
                                          <p:spTgt spid="9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500"/>
                                        <p:tgtEl>
                                          <p:spTgt spid="10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500"/>
                                        <p:tgtEl>
                                          <p:spTgt spid="10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500"/>
                                        <p:tgtEl>
                                          <p:spTgt spid="106"/>
                                        </p:tgtEl>
                                      </p:cBhvr>
                                    </p:animEffect>
                                  </p:childTnLst>
                                </p:cTn>
                              </p:par>
                              <p:par>
                                <p:cTn id="28" presetID="10" presetClass="entr" presetSubtype="0" fill="hold" nodeType="withEffect">
                                  <p:stCondLst>
                                    <p:cond delay="0"/>
                                  </p:stCondLst>
                                  <p:childTnLst>
                                    <p:set>
                                      <p:cBhvr>
                                        <p:cTn id="29" dur="1" fill="hold">
                                          <p:stCondLst>
                                            <p:cond delay="0"/>
                                          </p:stCondLst>
                                        </p:cTn>
                                        <p:tgtEl>
                                          <p:spTgt spid="108"/>
                                        </p:tgtEl>
                                        <p:attrNameLst>
                                          <p:attrName>style.visibility</p:attrName>
                                        </p:attrNameLst>
                                      </p:cBhvr>
                                      <p:to>
                                        <p:strVal val="visible"/>
                                      </p:to>
                                    </p:set>
                                    <p:animEffect transition="in" filter="fade">
                                      <p:cBhvr>
                                        <p:cTn id="30" dur="500"/>
                                        <p:tgtEl>
                                          <p:spTgt spid="10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2"/>
                                        </p:tgtEl>
                                        <p:attrNameLst>
                                          <p:attrName>style.visibility</p:attrName>
                                        </p:attrNameLst>
                                      </p:cBhvr>
                                      <p:to>
                                        <p:strVal val="visible"/>
                                      </p:to>
                                    </p:set>
                                    <p:animEffect transition="in" filter="fade">
                                      <p:cBhvr>
                                        <p:cTn id="33" dur="500"/>
                                        <p:tgtEl>
                                          <p:spTgt spid="1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3"/>
                                        </p:tgtEl>
                                        <p:attrNameLst>
                                          <p:attrName>style.visibility</p:attrName>
                                        </p:attrNameLst>
                                      </p:cBhvr>
                                      <p:to>
                                        <p:strVal val="visible"/>
                                      </p:to>
                                    </p:set>
                                    <p:animEffect transition="in" filter="fade">
                                      <p:cBhvr>
                                        <p:cTn id="38" dur="500"/>
                                        <p:tgtEl>
                                          <p:spTgt spid="1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9"/>
                                        </p:tgtEl>
                                        <p:attrNameLst>
                                          <p:attrName>style.visibility</p:attrName>
                                        </p:attrNameLst>
                                      </p:cBhvr>
                                      <p:to>
                                        <p:strVal val="visible"/>
                                      </p:to>
                                    </p:set>
                                    <p:animEffect transition="in" filter="fade">
                                      <p:cBhvr>
                                        <p:cTn id="41" dur="500"/>
                                        <p:tgtEl>
                                          <p:spTgt spid="10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0"/>
                                        </p:tgtEl>
                                        <p:attrNameLst>
                                          <p:attrName>style.visibility</p:attrName>
                                        </p:attrNameLst>
                                      </p:cBhvr>
                                      <p:to>
                                        <p:strVal val="visible"/>
                                      </p:to>
                                    </p:set>
                                    <p:animEffect transition="in" filter="fade">
                                      <p:cBhvr>
                                        <p:cTn id="44" dur="500"/>
                                        <p:tgtEl>
                                          <p:spTgt spid="110"/>
                                        </p:tgtEl>
                                      </p:cBhvr>
                                    </p:animEffect>
                                  </p:childTnLst>
                                </p:cTn>
                              </p:par>
                              <p:par>
                                <p:cTn id="45" presetID="10" presetClass="entr" presetSubtype="0" fill="hold" nodeType="withEffect">
                                  <p:stCondLst>
                                    <p:cond delay="0"/>
                                  </p:stCondLst>
                                  <p:childTnLst>
                                    <p:set>
                                      <p:cBhvr>
                                        <p:cTn id="46" dur="1" fill="hold">
                                          <p:stCondLst>
                                            <p:cond delay="0"/>
                                          </p:stCondLst>
                                        </p:cTn>
                                        <p:tgtEl>
                                          <p:spTgt spid="112"/>
                                        </p:tgtEl>
                                        <p:attrNameLst>
                                          <p:attrName>style.visibility</p:attrName>
                                        </p:attrNameLst>
                                      </p:cBhvr>
                                      <p:to>
                                        <p:strVal val="visible"/>
                                      </p:to>
                                    </p:set>
                                    <p:animEffect transition="in" filter="fade">
                                      <p:cBhvr>
                                        <p:cTn id="4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95" grpId="0" animBg="1"/>
      <p:bldP spid="97" grpId="0"/>
      <p:bldP spid="101" grpId="0"/>
      <p:bldP spid="102" grpId="0" animBg="1"/>
      <p:bldP spid="106" grpId="0" animBg="1"/>
      <p:bldP spid="109" grpId="0"/>
      <p:bldP spid="110" grpId="0" animBg="1"/>
      <p:bldP spid="1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9424" y="477000"/>
            <a:ext cx="11233151" cy="720000"/>
          </a:xfrm>
        </p:spPr>
        <p:txBody>
          <a:bodyPr/>
          <a:lstStyle/>
          <a:p>
            <a:r>
              <a:rPr lang="en-US" noProof="0" dirty="0"/>
              <a:t>Motivation</a:t>
            </a:r>
            <a:endParaRPr lang="en-US" noProof="0" dirty="0"/>
          </a:p>
        </p:txBody>
      </p:sp>
      <p:pic>
        <p:nvPicPr>
          <p:cNvPr id="4" name="Picture 3" descr="A black background with white lines&#10;&#10;AI-generated content may be incorrect."/>
          <p:cNvPicPr>
            <a:picLocks noChangeAspect="1"/>
          </p:cNvPicPr>
          <p:nvPr/>
        </p:nvPicPr>
        <p:blipFill>
          <a:blip r:embed="rId1"/>
          <a:stretch>
            <a:fillRect/>
          </a:stretch>
        </p:blipFill>
        <p:spPr>
          <a:xfrm>
            <a:off x="477309" y="2209800"/>
            <a:ext cx="6095999" cy="3048000"/>
          </a:xfrm>
          <a:prstGeom prst="rect">
            <a:avLst/>
          </a:prstGeom>
        </p:spPr>
      </p:pic>
      <p:sp>
        <p:nvSpPr>
          <p:cNvPr id="7" name="Textplatzhalter 2"/>
          <p:cNvSpPr txBox="1"/>
          <p:nvPr/>
        </p:nvSpPr>
        <p:spPr bwMode="gray">
          <a:xfrm>
            <a:off x="6632575" y="2057400"/>
            <a:ext cx="5105400" cy="4933200"/>
          </a:xfrm>
          <a:prstGeom prst="rect">
            <a:avLst/>
          </a:prstGeom>
        </p:spPr>
        <p:txBody>
          <a:bodyPr vert="horz" lIns="0" tIns="0" rIns="0" bIns="0" rtlCol="0">
            <a:norm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b="0" dirty="0"/>
              <a:t>Phase II results are routinely used to inform Phase III </a:t>
            </a:r>
            <a:r>
              <a:rPr lang="en-US" b="1" dirty="0">
                <a:solidFill>
                  <a:srgbClr val="FF0000"/>
                </a:solidFill>
              </a:rPr>
              <a:t>go/no-go </a:t>
            </a:r>
            <a:r>
              <a:rPr lang="en-US" b="0" dirty="0"/>
              <a:t>decisions and Phase III sample size planning.</a:t>
            </a:r>
            <a:endParaRPr lang="en-US" b="0" dirty="0"/>
          </a:p>
          <a:p>
            <a:r>
              <a:rPr lang="en-US" b="0" dirty="0"/>
              <a:t>However, the observed Phase II treatment effect is usually subject to selection bias because only "successful" Phase II trials are utilized.</a:t>
            </a:r>
            <a:endParaRPr lang="en-US" dirty="0"/>
          </a:p>
          <a:p>
            <a:r>
              <a:rPr lang="en-US" b="0" dirty="0"/>
              <a:t>Re</a:t>
            </a:r>
            <a:r>
              <a:rPr lang="en-US" dirty="0"/>
              <a:t>lying on inflated Phase II estimates may lead to:</a:t>
            </a:r>
            <a:endParaRPr lang="en-US" dirty="0"/>
          </a:p>
          <a:p>
            <a:pPr lvl="1"/>
            <a:r>
              <a:rPr lang="en-US" sz="1400" dirty="0"/>
              <a:t>Underpowered Phase III trials (due to larger sample size needed)</a:t>
            </a:r>
            <a:endParaRPr lang="en-US" sz="1400" dirty="0"/>
          </a:p>
          <a:p>
            <a:pPr lvl="1"/>
            <a:r>
              <a:rPr lang="en-US" sz="1400" dirty="0"/>
              <a:t>Lower-than-expected treatment effect in Phase III trials, i.e., higher expectation on Phase III </a:t>
            </a:r>
            <a:r>
              <a:rPr lang="en-US" sz="1400" dirty="0" err="1"/>
              <a:t>PoS</a:t>
            </a:r>
            <a:endParaRPr lang="en-US" dirty="0"/>
          </a:p>
        </p:txBody>
      </p:sp>
      <p:sp>
        <p:nvSpPr>
          <p:cNvPr id="10" name="TextBox 9"/>
          <p:cNvSpPr txBox="1"/>
          <p:nvPr/>
        </p:nvSpPr>
        <p:spPr bwMode="gray">
          <a:xfrm>
            <a:off x="601133" y="1154407"/>
            <a:ext cx="11111442" cy="7960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Probability of Success (</a:t>
            </a:r>
            <a:r>
              <a:rPr lang="en-US" sz="1600" dirty="0" err="1"/>
              <a:t>PoS</a:t>
            </a:r>
            <a:r>
              <a:rPr lang="en-US" sz="1600" dirty="0"/>
              <a:t>): the predictive probability of achieving a quantitative outcome in a clinical trial, i.e., statistical significance in Phase III.</a:t>
            </a:r>
            <a:endParaRPr lang="en-US" sz="1600" dirty="0"/>
          </a:p>
        </p:txBody>
      </p:sp>
      <p:sp>
        <p:nvSpPr>
          <p:cNvPr id="3" name="Foliennummernplatzhalter 5"/>
          <p:cNvSpPr>
            <a:spLocks noGrp="1"/>
          </p:cNvSpPr>
          <p:nvPr>
            <p:ph type="sldNum" sz="quarter" idx="11"/>
          </p:nvPr>
        </p:nvSpPr>
        <p:spPr>
          <a:xfrm>
            <a:off x="11424592" y="6246836"/>
            <a:ext cx="288000" cy="288000"/>
          </a:xfrm>
        </p:spPr>
        <p:txBody>
          <a:bodyPr/>
          <a:lstStyle/>
          <a:p>
            <a:fld id="{8FF9B0DE-3FEB-4AA0-B465-B80EF7C1333D}" type="slidenum">
              <a:rPr lang="en-US" noProof="0" smtClean="0"/>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9424" y="477000"/>
            <a:ext cx="11233151" cy="720000"/>
          </a:xfrm>
        </p:spPr>
        <p:txBody>
          <a:bodyPr/>
          <a:lstStyle/>
          <a:p>
            <a:r>
              <a:rPr lang="en-US" noProof="0" dirty="0"/>
              <a:t>Research Objectives</a:t>
            </a:r>
            <a:endParaRPr lang="en-US" noProof="0" dirty="0"/>
          </a:p>
        </p:txBody>
      </p:sp>
      <p:sp>
        <p:nvSpPr>
          <p:cNvPr id="5" name="Textplatzhalter 2"/>
          <p:cNvSpPr txBox="1"/>
          <p:nvPr/>
        </p:nvSpPr>
        <p:spPr bwMode="gray">
          <a:xfrm>
            <a:off x="685800" y="990600"/>
            <a:ext cx="9982200" cy="5256236"/>
          </a:xfrm>
          <a:prstGeom prst="rect">
            <a:avLst/>
          </a:prstGeom>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44450" indent="0">
              <a:lnSpc>
                <a:spcPct val="150000"/>
              </a:lnSpc>
              <a:buNone/>
            </a:pPr>
            <a:r>
              <a:rPr lang="en-US" b="1" dirty="0"/>
              <a:t>Research Question: </a:t>
            </a:r>
            <a:endParaRPr lang="en-US" b="1" dirty="0"/>
          </a:p>
          <a:p>
            <a:pPr marL="44450" indent="0">
              <a:lnSpc>
                <a:spcPct val="150000"/>
              </a:lnSpc>
              <a:buNone/>
            </a:pPr>
            <a:r>
              <a:rPr lang="en-US" dirty="0"/>
              <a:t>How well do existing bias adjustment methods estimate Phase III </a:t>
            </a:r>
            <a:r>
              <a:rPr lang="en-US" dirty="0" err="1"/>
              <a:t>PoS</a:t>
            </a:r>
            <a:r>
              <a:rPr lang="en-US" dirty="0"/>
              <a:t> from Phase II trials, accounting for selection bias?</a:t>
            </a:r>
            <a:endParaRPr lang="en-US" dirty="0"/>
          </a:p>
          <a:p>
            <a:pPr marL="44450" indent="0">
              <a:lnSpc>
                <a:spcPct val="150000"/>
              </a:lnSpc>
              <a:buNone/>
            </a:pPr>
            <a:r>
              <a:rPr lang="en-US" b="1" dirty="0"/>
              <a:t>Research Objectives:</a:t>
            </a:r>
            <a:endParaRPr lang="en-US" b="1" dirty="0"/>
          </a:p>
          <a:p>
            <a:pPr marL="717550" lvl="1" indent="-457200">
              <a:lnSpc>
                <a:spcPct val="150000"/>
              </a:lnSpc>
              <a:buFont typeface="+mj-lt"/>
              <a:buAutoNum type="arabicPeriod"/>
            </a:pPr>
            <a:r>
              <a:rPr lang="en-US" dirty="0"/>
              <a:t>Apply bias adjustment methods from Chuang-Stein &amp; Kirby [1].</a:t>
            </a:r>
            <a:endParaRPr lang="en-US" dirty="0"/>
          </a:p>
          <a:p>
            <a:pPr marL="861695" lvl="2" indent="-457200">
              <a:lnSpc>
                <a:spcPct val="150000"/>
              </a:lnSpc>
              <a:buFont typeface="+mj-lt"/>
              <a:buAutoNum type="alphaLcParenR"/>
            </a:pPr>
            <a:r>
              <a:rPr lang="en-US" dirty="0"/>
              <a:t>Discount potential bias in Phase II studies and obtain less biased treatment effect estimates.</a:t>
            </a:r>
            <a:endParaRPr lang="en-US" dirty="0"/>
          </a:p>
          <a:p>
            <a:pPr marL="717550" lvl="1" indent="-457200">
              <a:lnSpc>
                <a:spcPct val="150000"/>
              </a:lnSpc>
              <a:buFont typeface="+mj-lt"/>
              <a:buAutoNum type="arabicPeriod"/>
            </a:pPr>
            <a:r>
              <a:rPr lang="en-US" dirty="0"/>
              <a:t>Assess competitive landscape using real Phase II and Phase III data. </a:t>
            </a:r>
            <a:endParaRPr lang="en-US" dirty="0"/>
          </a:p>
          <a:p>
            <a:pPr marL="861695" lvl="2" indent="-457200">
              <a:lnSpc>
                <a:spcPct val="150000"/>
              </a:lnSpc>
              <a:buFont typeface="+mj-lt"/>
              <a:buAutoNum type="alphaLcParenR"/>
            </a:pPr>
            <a:r>
              <a:rPr lang="en-US" dirty="0"/>
              <a:t>Quantify how those bias adjustment methods move observed Phase II effects toward more realistic values.</a:t>
            </a:r>
            <a:endParaRPr lang="en-US" dirty="0"/>
          </a:p>
          <a:p>
            <a:pPr marL="717550" lvl="1" indent="-457200">
              <a:lnSpc>
                <a:spcPct val="150000"/>
              </a:lnSpc>
              <a:buFont typeface="+mj-lt"/>
              <a:buAutoNum type="arabicPeriod"/>
            </a:pPr>
            <a:r>
              <a:rPr lang="en-US" dirty="0"/>
              <a:t>Develop a simulation study for Phase II to Phase III transition.</a:t>
            </a:r>
            <a:endParaRPr lang="en-US" dirty="0"/>
          </a:p>
          <a:p>
            <a:pPr marL="861695" lvl="2" indent="-457200">
              <a:lnSpc>
                <a:spcPct val="150000"/>
              </a:lnSpc>
              <a:buFont typeface="+mj-lt"/>
              <a:buAutoNum type="alphaLcParenR"/>
            </a:pPr>
            <a:r>
              <a:rPr lang="en-US" dirty="0"/>
              <a:t>Assess </a:t>
            </a:r>
            <a:r>
              <a:rPr lang="en-US" dirty="0" err="1"/>
              <a:t>PoS</a:t>
            </a:r>
            <a:r>
              <a:rPr lang="en-US" dirty="0"/>
              <a:t> under multiple bias adjustment methods. </a:t>
            </a:r>
            <a:endParaRPr lang="en-US" dirty="0"/>
          </a:p>
          <a:p>
            <a:pPr marL="861695" lvl="2" indent="-457200">
              <a:lnSpc>
                <a:spcPct val="150000"/>
              </a:lnSpc>
              <a:buFont typeface="+mj-lt"/>
              <a:buAutoNum type="alphaLcParenR"/>
            </a:pPr>
            <a:r>
              <a:rPr lang="en-US" dirty="0"/>
              <a:t>Provide guidance for future </a:t>
            </a:r>
            <a:r>
              <a:rPr lang="en-US" dirty="0" err="1"/>
              <a:t>PoS</a:t>
            </a:r>
            <a:r>
              <a:rPr lang="en-US" dirty="0"/>
              <a:t> projects.</a:t>
            </a:r>
            <a:endParaRPr lang="en-US" dirty="0">
              <a:latin typeface="BISansOpti" panose="02000503040000020004" pitchFamily="2" charset="0"/>
            </a:endParaRPr>
          </a:p>
        </p:txBody>
      </p:sp>
      <p:sp>
        <p:nvSpPr>
          <p:cNvPr id="3" name="Foliennummernplatzhalter 5"/>
          <p:cNvSpPr>
            <a:spLocks noGrp="1"/>
          </p:cNvSpPr>
          <p:nvPr>
            <p:ph type="sldNum" sz="quarter" idx="11"/>
          </p:nvPr>
        </p:nvSpPr>
        <p:spPr>
          <a:xfrm>
            <a:off x="11424592" y="6246836"/>
            <a:ext cx="288000" cy="288000"/>
          </a:xfrm>
        </p:spPr>
        <p:txBody>
          <a:bodyPr/>
          <a:lstStyle/>
          <a:p>
            <a:fld id="{8FF9B0DE-3FEB-4AA0-B465-B80EF7C1333D}" type="slidenum">
              <a:rPr lang="en-US" noProof="0" smtClean="0"/>
            </a:fld>
            <a:endParaRPr lang="en-US"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CDB9"/>
        </a:solidFill>
        <a:effectLst/>
      </p:bgPr>
    </p:bg>
    <p:spTree>
      <p:nvGrpSpPr>
        <p:cNvPr id="1" name=""/>
        <p:cNvGrpSpPr/>
        <p:nvPr/>
      </p:nvGrpSpPr>
      <p:grpSpPr>
        <a:xfrm>
          <a:off x="0" y="0"/>
          <a:ext cx="0" cy="0"/>
          <a:chOff x="0" y="0"/>
          <a:chExt cx="0" cy="0"/>
        </a:xfrm>
      </p:grpSpPr>
      <p:sp>
        <p:nvSpPr>
          <p:cNvPr id="8" name="Titel 7"/>
          <p:cNvSpPr>
            <a:spLocks noGrp="1"/>
          </p:cNvSpPr>
          <p:nvPr>
            <p:ph type="title"/>
          </p:nvPr>
        </p:nvSpPr>
        <p:spPr bwMode="gray">
          <a:xfrm>
            <a:off x="479424" y="1412874"/>
            <a:ext cx="7632701" cy="1799861"/>
          </a:xfrm>
        </p:spPr>
        <p:txBody>
          <a:bodyPr/>
          <a:lstStyle/>
          <a:p>
            <a:r>
              <a:rPr lang="en-US" dirty="0"/>
              <a:t>Bias Adjustment Methods</a:t>
            </a:r>
            <a:endParaRPr lang="en-US" noProof="0" dirty="0"/>
          </a:p>
        </p:txBody>
      </p:sp>
      <p:sp>
        <p:nvSpPr>
          <p:cNvPr id="2" name="Foliennummernplatzhalter 1"/>
          <p:cNvSpPr>
            <a:spLocks noGrp="1"/>
          </p:cNvSpPr>
          <p:nvPr>
            <p:ph type="sldNum" sz="quarter" idx="16"/>
          </p:nvPr>
        </p:nvSpPr>
        <p:spPr>
          <a:xfrm>
            <a:off x="11424592" y="6246836"/>
            <a:ext cx="288000" cy="288000"/>
          </a:xfrm>
        </p:spPr>
        <p:txBody>
          <a:bodyPr/>
          <a:lstStyle/>
          <a:p>
            <a:fld id="{8FF9B0DE-3FEB-4AA0-B465-B80EF7C1333D}" type="slidenum">
              <a:rPr lang="en-US" noProof="0" smtClean="0"/>
            </a:fld>
            <a:endParaRPr lang="en-US" noProof="0" dirty="0"/>
          </a:p>
        </p:txBody>
      </p:sp>
      <p:sp>
        <p:nvSpPr>
          <p:cNvPr id="5" name="Fußzeilenplatzhalter 4"/>
          <p:cNvSpPr>
            <a:spLocks noGrp="1"/>
          </p:cNvSpPr>
          <p:nvPr>
            <p:ph type="ftr" sz="quarter" idx="19"/>
          </p:nvPr>
        </p:nvSpPr>
        <p:spPr bwMode="gray">
          <a:xfrm>
            <a:off x="6312024" y="6246836"/>
            <a:ext cx="5040560" cy="288000"/>
          </a:xfrm>
        </p:spPr>
        <p:txBody>
          <a:bodyPr/>
          <a:lstStyle/>
          <a:p>
            <a:r>
              <a:rPr lang="en-US" noProof="0" dirty="0"/>
              <a:t>Slide library     |     ONLY FOR INTERNAL USE</a:t>
            </a:r>
            <a:endParaRPr lang="en-US" noProof="0" dirty="0"/>
          </a:p>
        </p:txBody>
      </p:sp>
      <p:pic>
        <p:nvPicPr>
          <p:cNvPr id="4" name="Graphic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176" y="1516894"/>
            <a:ext cx="3712306" cy="3712306"/>
          </a:xfrm>
          <a:prstGeom prst="rect">
            <a:avLst/>
          </a:prstGeom>
        </p:spPr>
      </p:pic>
      <p:grpSp>
        <p:nvGrpSpPr>
          <p:cNvPr id="16" name="Group 15"/>
          <p:cNvGrpSpPr>
            <a:grpSpLocks noGrp="1" noRot="1" noMove="1" noResize="1" noUngrp="1"/>
          </p:cNvGrpSpPr>
          <p:nvPr/>
        </p:nvGrpSpPr>
        <p:grpSpPr>
          <a:xfrm>
            <a:off x="12399976" y="-1"/>
            <a:ext cx="2743200" cy="4951649"/>
            <a:chOff x="12399976" y="-1"/>
            <a:chExt cx="2743200" cy="4951649"/>
          </a:xfrm>
        </p:grpSpPr>
        <p:sp>
          <p:nvSpPr>
            <p:cNvPr id="17" name="TextBox 7"/>
            <p:cNvSpPr txBox="1">
              <a:spLocks noGrp="1" noRot="1" noMove="1" noResize="1" noEditPoints="1" noAdjustHandles="1" noChangeArrowheads="1" noChangeShapeType="1"/>
            </p:cNvSpPr>
            <p:nvPr/>
          </p:nvSpPr>
          <p:spPr bwMode="gray">
            <a:xfrm>
              <a:off x="12399976" y="-1"/>
              <a:ext cx="2743200" cy="4951649"/>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noProof="0" dirty="0">
                  <a:effectLst/>
                  <a:latin typeface="+mj-lt"/>
                </a:rPr>
                <a:t>To change the illustration:</a:t>
              </a:r>
              <a:endParaRPr lang="en-US" sz="1100" b="1" noProof="0" dirty="0">
                <a:effectLst/>
                <a:latin typeface="+mj-lt"/>
              </a:endParaRPr>
            </a:p>
            <a:p>
              <a:pPr marL="144145" indent="-144145">
                <a:lnSpc>
                  <a:spcPct val="120000"/>
                </a:lnSpc>
                <a:spcAft>
                  <a:spcPts val="600"/>
                </a:spcAft>
                <a:buFont typeface="+mj-lt"/>
                <a:buAutoNum type="arabicPeriod"/>
              </a:pPr>
              <a:r>
                <a:rPr lang="en-US" sz="900" noProof="0" dirty="0"/>
                <a:t>Choose a standalone illustration from our Brand Hub and download it as an SVG in the appropriate color:</a:t>
              </a:r>
              <a:br>
                <a:rPr lang="en-US" sz="900" noProof="0" dirty="0"/>
              </a:br>
              <a:r>
                <a:rPr lang="en-US" sz="900" noProof="0" dirty="0">
                  <a:hlinkClick r:id="rId3"/>
                </a:rPr>
                <a:t>Go to the illustration library ↗</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Click on the existing illustration.</a:t>
              </a:r>
              <a:endParaRPr lang="en-US" sz="900" noProof="0" dirty="0"/>
            </a:p>
            <a:p>
              <a:pPr marL="144145" indent="-144145">
                <a:lnSpc>
                  <a:spcPct val="120000"/>
                </a:lnSpc>
                <a:spcAft>
                  <a:spcPts val="600"/>
                </a:spcAft>
                <a:buFont typeface="+mj-lt"/>
                <a:buAutoNum type="arabicPeriod"/>
              </a:pPr>
              <a:r>
                <a:rPr lang="en-US" sz="900" noProof="0" dirty="0"/>
                <a:t>Open the menu ‘Graphics Format’.</a:t>
              </a:r>
              <a:endParaRPr lang="en-US" sz="900" noProof="0" dirty="0"/>
            </a:p>
            <a:p>
              <a:pPr marL="144145" indent="-144145">
                <a:lnSpc>
                  <a:spcPct val="120000"/>
                </a:lnSpc>
                <a:spcAft>
                  <a:spcPts val="600"/>
                </a:spcAft>
                <a:buFont typeface="+mj-lt"/>
                <a:buAutoNum type="arabicPeriod"/>
              </a:pPr>
              <a:r>
                <a:rPr lang="en-US" sz="900" noProof="0" dirty="0"/>
                <a:t>Choose ‘Change Graphic’ and then the corresponding source where the illustration is located.</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Now the illustration has been loaded into the </a:t>
              </a:r>
              <a:br>
                <a:rPr lang="en-US" sz="900" noProof="0" dirty="0"/>
              </a:br>
              <a:r>
                <a:rPr lang="en-US" sz="900" noProof="0" dirty="0"/>
                <a:t>placeholder.</a:t>
              </a:r>
              <a:endParaRPr lang="en-US" sz="900" noProof="0" dirty="0"/>
            </a:p>
          </p:txBody>
        </p:sp>
        <p:pic>
          <p:nvPicPr>
            <p:cNvPr id="18" name="Picture 17"/>
            <p:cNvPicPr>
              <a:picLocks noGrp="1" noRot="1" noMove="1" noResize="1" noEditPoints="1" noAdjustHandles="1" noChangeArrowheads="1" noChangeShapeType="1" noCrop="1"/>
            </p:cNvPicPr>
            <p:nvPr userDrawn="1"/>
          </p:nvPicPr>
          <p:blipFill>
            <a:blip r:embed="rId4"/>
            <a:stretch>
              <a:fillRect/>
            </a:stretch>
          </p:blipFill>
          <p:spPr>
            <a:xfrm>
              <a:off x="12648728" y="3356992"/>
              <a:ext cx="1080120" cy="984668"/>
            </a:xfrm>
            <a:prstGeom prst="rect">
              <a:avLst/>
            </a:prstGeom>
          </p:spPr>
        </p:pic>
        <p:pic>
          <p:nvPicPr>
            <p:cNvPr id="19" name="Picture 18"/>
            <p:cNvPicPr>
              <a:picLocks noGrp="1" noRot="1" noMove="1" noResize="1" noEditPoints="1" noAdjustHandles="1" noChangeArrowheads="1" noChangeShapeType="1" noCrop="1"/>
            </p:cNvPicPr>
            <p:nvPr/>
          </p:nvPicPr>
          <p:blipFill rotWithShape="1">
            <a:blip r:embed="rId5"/>
            <a:srcRect b="-2425"/>
            <a:stretch>
              <a:fillRect/>
            </a:stretch>
          </p:blipFill>
          <p:spPr>
            <a:xfrm>
              <a:off x="12648728" y="1143000"/>
              <a:ext cx="2376264" cy="984668"/>
            </a:xfrm>
            <a:prstGeom prst="rect">
              <a:avLst/>
            </a:prstGeom>
          </p:spPr>
        </p:pic>
      </p:grpSp>
      <p:sp>
        <p:nvSpPr>
          <p:cNvPr id="6" name="Subtitle 5"/>
          <p:cNvSpPr>
            <a:spLocks noGrp="1"/>
          </p:cNvSpPr>
          <p:nvPr>
            <p:ph type="subTitle" idx="14"/>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spid="_x0000_s0" name="think-cell Folie" r:id="rId2" imgW="12700" imgH="12700" progId="TCLayout.ActiveDocument.1">
                  <p:embed/>
                </p:oleObj>
              </mc:Choice>
              <mc:Fallback>
                <p:oleObj name="think-cell Folie" r:id="rId2" imgW="12700" imgH="12700" progId="TCLayout.ActiveDocument.1">
                  <p:embed/>
                  <p:pic>
                    <p:nvPicPr>
                      <p:cNvPr id="0" name="Objekt 6" hidden="1"/>
                      <p:cNvPicPr/>
                      <p:nvPr/>
                    </p:nvPicPr>
                    <p:blipFill>
                      <a:blip r:embed="rId3"/>
                      <a:stretch>
                        <a:fillRect/>
                      </a:stretch>
                    </p:blipFill>
                    <p:spPr>
                      <a:xfrm>
                        <a:off x="2118" y="2118"/>
                        <a:ext cx="2116" cy="2116"/>
                      </a:xfrm>
                      <a:prstGeom prst="rect">
                        <a:avLst/>
                      </a:prstGeom>
                    </p:spPr>
                  </p:pic>
                </p:oleObj>
              </mc:Fallback>
            </mc:AlternateContent>
          </a:graphicData>
        </a:graphic>
      </p:graphicFrame>
      <p:sp>
        <p:nvSpPr>
          <p:cNvPr id="4" name="Rechteck 3" hidden="1"/>
          <p:cNvSpPr/>
          <p:nvPr>
            <p:custDataLst>
              <p:tags r:id="rId4"/>
            </p:custDataLst>
          </p:nvPr>
        </p:nvSpPr>
        <p:spPr>
          <a:xfrm>
            <a:off x="0" y="0"/>
            <a:ext cx="211667" cy="211667"/>
          </a:xfrm>
          <a:prstGeom prst="rect">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t" anchorCtr="0" forceAA="0" compatLnSpc="1">
            <a:noAutofit/>
          </a:bodyPr>
          <a:lstStyle/>
          <a:p>
            <a:pPr>
              <a:spcBef>
                <a:spcPct val="0"/>
              </a:spcBef>
              <a:spcAft>
                <a:spcPct val="0"/>
              </a:spcAft>
              <a:buSzPct val="90000"/>
            </a:pPr>
            <a:endParaRPr lang="en-US" sz="2665" noProof="0" dirty="0">
              <a:solidFill>
                <a:schemeClr val="tx1"/>
              </a:solidFill>
              <a:latin typeface="Boehringer Forward Head" panose="02000500000000020000" pitchFamily="34" charset="0"/>
              <a:ea typeface="+mj-ea"/>
              <a:cs typeface="+mj-cs"/>
              <a:sym typeface="Lufthansa Office Head"/>
            </a:endParaRPr>
          </a:p>
        </p:txBody>
      </p:sp>
      <p:sp>
        <p:nvSpPr>
          <p:cNvPr id="2" name="Titel 1"/>
          <p:cNvSpPr>
            <a:spLocks noGrp="1"/>
          </p:cNvSpPr>
          <p:nvPr>
            <p:ph type="title"/>
          </p:nvPr>
        </p:nvSpPr>
        <p:spPr/>
        <p:txBody>
          <a:bodyPr/>
          <a:lstStyle/>
          <a:p>
            <a:r>
              <a:rPr lang="en-US" noProof="0" dirty="0"/>
              <a:t>Shifting and Multiplicative Methods</a:t>
            </a:r>
            <a:endParaRPr lang="en-US" noProof="0" dirty="0"/>
          </a:p>
        </p:txBody>
      </p:sp>
      <p:sp>
        <p:nvSpPr>
          <p:cNvPr id="8" name="Fußzeilenplatzhalter 7"/>
          <p:cNvSpPr>
            <a:spLocks noGrp="1"/>
          </p:cNvSpPr>
          <p:nvPr>
            <p:ph type="ftr" sz="quarter" idx="10"/>
          </p:nvPr>
        </p:nvSpPr>
        <p:spPr/>
        <p:txBody>
          <a:bodyPr/>
          <a:lstStyle/>
          <a:p>
            <a:r>
              <a:rPr lang="en-US" noProof="0" dirty="0"/>
              <a:t>Slide library     |     ONLY FOR INTERNAL USE</a:t>
            </a:r>
            <a:endParaRPr lang="en-US" noProof="0" dirty="0"/>
          </a:p>
        </p:txBody>
      </p:sp>
      <mc:AlternateContent xmlns:mc="http://schemas.openxmlformats.org/markup-compatibility/2006">
        <mc:Choice xmlns:a14="http://schemas.microsoft.com/office/drawing/2010/main" Requires="a14">
          <p:sp>
            <p:nvSpPr>
              <p:cNvPr id="5" name="Inhaltsplatzhalter 15"/>
              <p:cNvSpPr txBox="1"/>
              <p:nvPr/>
            </p:nvSpPr>
            <p:spPr>
              <a:xfrm>
                <a:off x="479424" y="1546118"/>
                <a:ext cx="5475289" cy="4245082"/>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dirty="0"/>
                  <a:t>Main idea: Shift the effect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dirty="0">
                        <a:latin typeface="Cambria Math" panose="02040503050406030204" pitchFamily="18" charset="0"/>
                      </a:rPr>
                      <m:t>=</m:t>
                    </m:r>
                    <m:sSub>
                      <m:sSubPr>
                        <m:ctrlPr>
                          <a:rPr lang="en-US" i="1">
                            <a:latin typeface="Cambria Math" panose="02040503050406030204" pitchFamily="18" charset="0"/>
                          </a:rPr>
                        </m:ctrlPr>
                      </m:sSubPr>
                      <m:e>
                        <m:acc>
                          <m:accPr>
                            <m:ctrlPr>
                              <a:rPr lang="en-US" i="1">
                                <a:latin typeface="Cambria Math" panose="02040503050406030204" pitchFamily="18" charset="0"/>
                              </a:rPr>
                            </m:ctrlPr>
                          </m:accPr>
                          <m:e>
                            <m:r>
                              <a:rPr lang="en-US">
                                <a:latin typeface="Cambria Math" panose="02040503050406030204" pitchFamily="18" charset="0"/>
                              </a:rPr>
                              <m:t>𝜇</m:t>
                            </m:r>
                          </m:e>
                        </m:acc>
                      </m:e>
                      <m:sub>
                        <m:r>
                          <a:rPr lang="en-US">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trlPr>
                              <a:rPr lang="en-US" i="1">
                                <a:latin typeface="Cambria Math" panose="02040503050406030204" pitchFamily="18" charset="0"/>
                              </a:rPr>
                            </m:ctrlPr>
                          </m:accPr>
                          <m:e>
                            <m:r>
                              <a:rPr lang="en-US">
                                <a:latin typeface="Cambria Math" panose="02040503050406030204" pitchFamily="18" charset="0"/>
                              </a:rPr>
                              <m:t>𝜇</m:t>
                            </m:r>
                          </m:e>
                        </m:acc>
                      </m:e>
                      <m:sub>
                        <m:r>
                          <a:rPr lang="en-US">
                            <a:latin typeface="Cambria Math" panose="02040503050406030204" pitchFamily="18" charset="0"/>
                          </a:rPr>
                          <m:t>2</m:t>
                        </m:r>
                      </m:sub>
                    </m:sSub>
                  </m:oMath>
                </a14:m>
                <a:r>
                  <a:rPr lang="en-US" dirty="0"/>
                  <a:t>) to find a statistic that aligns planned and actual power for Phase III.</a:t>
                </a:r>
                <a:endParaRPr lang="en-US" dirty="0"/>
              </a:p>
              <a:p>
                <a:r>
                  <a:rPr lang="en-US" dirty="0"/>
                  <a:t>Assumption: Test statistic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oMath>
                </a14:m>
                <a:r>
                  <a:rPr lang="en-US" dirty="0"/>
                  <a:t> follows a normal distribution:</a:t>
                </a:r>
                <a:endParaRPr lang="en-US" dirty="0"/>
              </a:p>
              <a:p>
                <a:pPr marL="0" indent="0">
                  <a:buNone/>
                </a:pPr>
                <a:endParaRPr lang="en-US" dirty="0"/>
              </a:p>
              <a:p>
                <a:pPr>
                  <a:lnSpc>
                    <a:spcPct val="100000"/>
                  </a:lnSpc>
                </a:pPr>
                <a:r>
                  <a:rPr lang="en-US" dirty="0"/>
                  <a:t>Three statistics:</a:t>
                </a:r>
                <a:endParaRPr lang="en-US" dirty="0"/>
              </a:p>
              <a:p>
                <a:pPr marL="558800" lvl="1" indent="-342900">
                  <a:lnSpc>
                    <a:spcPct val="100000"/>
                  </a:lnSpc>
                  <a:buFont typeface="+mj-lt"/>
                  <a:buAutoNum type="arabicParenR"/>
                </a:pPr>
                <a:r>
                  <a:rPr lang="en-US" dirty="0"/>
                  <a:t>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i="1" dirty="0">
                        <a:latin typeface="Cambria Math" panose="02040503050406030204" pitchFamily="18" charset="0"/>
                      </a:rPr>
                      <m:t> </m:t>
                    </m:r>
                  </m:oMath>
                </a14:m>
                <a:r>
                  <a:rPr lang="en-US" dirty="0"/>
                  <a:t>: Observed treatment effect</a:t>
                </a:r>
                <a:endParaRPr lang="en-US" dirty="0"/>
              </a:p>
              <a:p>
                <a:pPr marL="558800" lvl="1" indent="-342900">
                  <a:lnSpc>
                    <a:spcPct val="100000"/>
                  </a:lnSpc>
                  <a:buFont typeface="+mj-lt"/>
                  <a:buAutoNum type="arabicParenR"/>
                </a:pPr>
                <a:r>
                  <a:rPr lang="en-US" b="1" dirty="0">
                    <a:solidFill>
                      <a:srgbClr val="FF0000"/>
                    </a:solidFill>
                  </a:rPr>
                  <a:t> </a:t>
                </a:r>
                <a14:m>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𝑳</m:t>
                        </m:r>
                      </m:e>
                      <m:sub>
                        <m:r>
                          <a:rPr lang="en-US" b="1" i="1" smtClean="0">
                            <a:solidFill>
                              <a:srgbClr val="FF0000"/>
                            </a:solidFill>
                            <a:latin typeface="Cambria Math" panose="02040503050406030204" pitchFamily="18" charset="0"/>
                          </a:rPr>
                          <m:t>𝟏</m:t>
                        </m:r>
                      </m:sub>
                    </m:sSub>
                    <m:r>
                      <a:rPr lang="en-US" b="1" i="1" smtClean="0">
                        <a:solidFill>
                          <a:srgbClr val="FF0000"/>
                        </a:solidFill>
                        <a:latin typeface="Cambria Math" panose="02040503050406030204" pitchFamily="18" charset="0"/>
                      </a:rPr>
                      <m:t>=</m:t>
                    </m:r>
                    <m:acc>
                      <m:accPr>
                        <m:ctrlPr>
                          <a:rPr lang="en-US" b="1" i="1" dirty="0" smtClean="0">
                            <a:solidFill>
                              <a:srgbClr val="FF0000"/>
                            </a:solidFill>
                            <a:latin typeface="Cambria Math" panose="02040503050406030204" pitchFamily="18" charset="0"/>
                          </a:rPr>
                        </m:ctrlPr>
                      </m:accPr>
                      <m:e>
                        <m:r>
                          <a:rPr lang="en-US" b="1" i="1" dirty="0">
                            <a:solidFill>
                              <a:srgbClr val="FF0000"/>
                            </a:solidFill>
                            <a:latin typeface="Cambria Math" panose="02040503050406030204" pitchFamily="18" charset="0"/>
                          </a:rPr>
                          <m:t>𝜟</m:t>
                        </m:r>
                      </m:e>
                    </m:acc>
                    <m:r>
                      <a:rPr lang="en-US" b="1" i="0" smtClean="0">
                        <a:solidFill>
                          <a:srgbClr val="FF0000"/>
                        </a:solidFill>
                        <a:latin typeface="Cambria Math" panose="02040503050406030204" pitchFamily="18" charset="0"/>
                      </a:rPr>
                      <m:t>−</m:t>
                    </m:r>
                    <m:r>
                      <a:rPr lang="en-US" b="1" i="1" dirty="0" smtClean="0">
                        <a:solidFill>
                          <a:srgbClr val="FF0000"/>
                        </a:solidFill>
                        <a:latin typeface="Cambria Math" panose="02040503050406030204" pitchFamily="18" charset="0"/>
                      </a:rPr>
                      <m:t>𝑺𝑬</m:t>
                    </m:r>
                  </m:oMath>
                </a14:m>
                <a:r>
                  <a:rPr lang="en-US" b="1" dirty="0">
                    <a:solidFill>
                      <a:srgbClr val="FF0000"/>
                    </a:solidFill>
                  </a:rPr>
                  <a:t> </a:t>
                </a:r>
                <a:r>
                  <a:rPr lang="en-US" dirty="0">
                    <a:solidFill>
                      <a:schemeClr val="tx1"/>
                    </a:solidFill>
                  </a:rPr>
                  <a:t>where </a:t>
                </a:r>
                <a14:m>
                  <m:oMath xmlns:m="http://schemas.openxmlformats.org/officeDocument/2006/math">
                    <m:r>
                      <a:rPr lang="en-US" b="0" i="1" dirty="0" smtClean="0">
                        <a:solidFill>
                          <a:schemeClr val="tx1"/>
                        </a:solidFill>
                        <a:latin typeface="Cambria Math" panose="02040503050406030204" pitchFamily="18" charset="0"/>
                      </a:rPr>
                      <m:t>𝑆</m:t>
                    </m:r>
                    <m:r>
                      <m:rPr>
                        <m:sty m:val="p"/>
                      </m:rPr>
                      <a:rPr lang="en-US" b="0" i="0" dirty="0" smtClean="0">
                        <a:solidFill>
                          <a:schemeClr val="tx1"/>
                        </a:solidFill>
                        <a:latin typeface="Cambria Math" panose="02040503050406030204" pitchFamily="18" charset="0"/>
                      </a:rPr>
                      <m:t>E</m:t>
                    </m:r>
                    <m:r>
                      <a:rPr lang="en-US" b="0" i="0" dirty="0">
                        <a:solidFill>
                          <a:schemeClr val="tx1"/>
                        </a:solidFill>
                        <a:latin typeface="Cambria Math" panose="02040503050406030204" pitchFamily="18" charset="0"/>
                      </a:rPr>
                      <m:t>=</m:t>
                    </m:r>
                    <m:rad>
                      <m:radPr>
                        <m:degHide m:val="on"/>
                        <m:ctrlPr>
                          <a:rPr lang="en-US" i="1" dirty="0">
                            <a:solidFill>
                              <a:schemeClr val="tx1"/>
                            </a:solidFill>
                            <a:latin typeface="Cambria Math" panose="02040503050406030204" pitchFamily="18" charset="0"/>
                          </a:rPr>
                        </m:ctrlPr>
                      </m:radPr>
                      <m:deg/>
                      <m:e>
                        <m:r>
                          <a:rPr lang="en-US" b="0" i="0" dirty="0">
                            <a:solidFill>
                              <a:schemeClr val="tx1"/>
                            </a:solidFill>
                            <a:latin typeface="Cambria Math" panose="02040503050406030204" pitchFamily="18" charset="0"/>
                          </a:rPr>
                          <m:t>2</m:t>
                        </m:r>
                        <m:sSup>
                          <m:sSupPr>
                            <m:ctrlPr>
                              <a:rPr lang="en-US" i="1" dirty="0" smtClean="0">
                                <a:solidFill>
                                  <a:schemeClr val="tx1"/>
                                </a:solidFill>
                                <a:latin typeface="Cambria Math" panose="02040503050406030204" pitchFamily="18" charset="0"/>
                              </a:rPr>
                            </m:ctrlPr>
                          </m:sSupPr>
                          <m:e>
                            <m:acc>
                              <m:accPr>
                                <m:ctrlPr>
                                  <a:rPr lang="en-US" i="1" dirty="0">
                                    <a:solidFill>
                                      <a:schemeClr val="tx1"/>
                                    </a:solidFill>
                                    <a:latin typeface="Cambria Math" panose="02040503050406030204" pitchFamily="18" charset="0"/>
                                  </a:rPr>
                                </m:ctrlPr>
                              </m:accPr>
                              <m:e>
                                <m:r>
                                  <a:rPr lang="en-US" b="0" i="1" dirty="0">
                                    <a:solidFill>
                                      <a:schemeClr val="tx1"/>
                                    </a:solidFill>
                                    <a:latin typeface="Cambria Math" panose="02040503050406030204" pitchFamily="18" charset="0"/>
                                  </a:rPr>
                                  <m:t>𝜎</m:t>
                                </m:r>
                              </m:e>
                            </m:acc>
                          </m:e>
                          <m:sup>
                            <m:r>
                              <a:rPr lang="en-US" b="0" i="1" dirty="0" smtClean="0">
                                <a:solidFill>
                                  <a:schemeClr val="tx1"/>
                                </a:solidFill>
                                <a:latin typeface="Cambria Math" panose="02040503050406030204" pitchFamily="18" charset="0"/>
                              </a:rPr>
                              <m:t>2</m:t>
                            </m:r>
                          </m:sup>
                        </m:sSup>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𝑚</m:t>
                        </m:r>
                      </m:e>
                    </m:rad>
                  </m:oMath>
                </a14:m>
                <a:r>
                  <a:rPr lang="en-US" dirty="0">
                    <a:solidFill>
                      <a:srgbClr val="FF0000"/>
                    </a:solidFill>
                  </a:rPr>
                  <a:t> (bias-adjusted effect)</a:t>
                </a:r>
                <a:endParaRPr lang="en-US" dirty="0">
                  <a:solidFill>
                    <a:srgbClr val="FF0000"/>
                  </a:solidFill>
                </a:endParaRPr>
              </a:p>
              <a:p>
                <a:pPr marL="558800" lvl="1" indent="-342900">
                  <a:lnSpc>
                    <a:spcPct val="100000"/>
                  </a:lnSpc>
                  <a:buFont typeface="+mj-lt"/>
                  <a:buAutoNum type="arabicParenR"/>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2</m:t>
                        </m:r>
                      </m:sub>
                    </m:sSub>
                    <m:r>
                      <a:rPr lang="en-US" i="1">
                        <a:latin typeface="Cambria Math" panose="02040503050406030204" pitchFamily="18" charset="0"/>
                      </a:rPr>
                      <m:t>=</m:t>
                    </m:r>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𝑆</m:t>
                    </m:r>
                    <m:r>
                      <a:rPr lang="en-US" b="0" i="1" dirty="0" smtClean="0">
                        <a:latin typeface="Cambria Math" panose="02040503050406030204" pitchFamily="18" charset="0"/>
                      </a:rPr>
                      <m:t>𝐸</m:t>
                    </m:r>
                  </m:oMath>
                </a14:m>
                <a:endParaRPr lang="en-US" dirty="0"/>
              </a:p>
            </p:txBody>
          </p:sp>
        </mc:Choice>
        <mc:Fallback>
          <p:sp>
            <p:nvSpPr>
              <p:cNvPr id="5" name="Inhaltsplatzhalter 15"/>
              <p:cNvSpPr txBox="1">
                <a:spLocks noRot="1" noChangeAspect="1" noMove="1" noResize="1" noEditPoints="1" noAdjustHandles="1" noChangeArrowheads="1" noChangeShapeType="1" noTextEdit="1"/>
              </p:cNvSpPr>
              <p:nvPr/>
            </p:nvSpPr>
            <p:spPr>
              <a:xfrm>
                <a:off x="479424" y="1546118"/>
                <a:ext cx="5475289" cy="4245082"/>
              </a:xfrm>
              <a:prstGeom prst="rect">
                <a:avLst/>
              </a:prstGeom>
              <a:blipFill rotWithShape="1">
                <a:blip r:embed="rId5"/>
                <a:stretch>
                  <a:fillRect l="-12" t="-12" r="6"/>
                </a:stretch>
              </a:blipFill>
            </p:spPr>
            <p:txBody>
              <a:bodyPr/>
              <a:lstStyle/>
              <a:p>
                <a:r>
                  <a:rPr lang="zh-CN" altLang="en-US">
                    <a:noFill/>
                  </a:rPr>
                  <a:t> </a:t>
                </a:r>
              </a:p>
            </p:txBody>
          </p:sp>
        </mc:Fallback>
      </mc:AlternateContent>
      <p:sp>
        <p:nvSpPr>
          <p:cNvPr id="9" name="Textplatzhalter 2"/>
          <p:cNvSpPr txBox="1"/>
          <p:nvPr/>
        </p:nvSpPr>
        <p:spPr bwMode="gray">
          <a:xfrm>
            <a:off x="479424" y="1066800"/>
            <a:ext cx="5475290" cy="479318"/>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dirty="0">
                <a:solidFill>
                  <a:schemeClr val="bg1"/>
                </a:solidFill>
              </a:rPr>
              <a:t>Method 1: Shifting Method</a:t>
            </a:r>
            <a:endParaRPr lang="en-US" sz="1600" b="1" noProof="0" dirty="0">
              <a:solidFill>
                <a:schemeClr val="bg1"/>
              </a:solidFill>
            </a:endParaRPr>
          </a:p>
        </p:txBody>
      </p:sp>
      <mc:AlternateContent xmlns:mc="http://schemas.openxmlformats.org/markup-compatibility/2006">
        <mc:Choice xmlns:a14="http://schemas.microsoft.com/office/drawing/2010/main" Requires="a14">
          <p:sp>
            <p:nvSpPr>
              <p:cNvPr id="25" name="Inhaltsplatzhalter 15"/>
              <p:cNvSpPr txBox="1"/>
              <p:nvPr/>
            </p:nvSpPr>
            <p:spPr>
              <a:xfrm>
                <a:off x="6236708" y="1546118"/>
                <a:ext cx="5475289" cy="4245082"/>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noProof="0" dirty="0"/>
                  <a:t>Main idea</a:t>
                </a:r>
                <a:r>
                  <a:rPr lang="en-US" dirty="0"/>
                  <a:t>: Discount the effect to match the estimated assurance probability for a statistically significant Phase III result with theoretical assurance.</a:t>
                </a:r>
                <a:endParaRPr lang="en-US" dirty="0"/>
              </a:p>
              <a:p>
                <a:r>
                  <a:rPr lang="en-US" dirty="0"/>
                  <a:t>Assurance probability: Unconditional probability that a trial yields a positive outcome, i.e., rejecting </a:t>
                </a:r>
                <a14:m>
                  <m:oMath xmlns:m="http://schemas.openxmlformats.org/officeDocument/2006/math">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𝐻</m:t>
                        </m:r>
                      </m:e>
                      <m:sub>
                        <m:r>
                          <a:rPr lang="en-US">
                            <a:latin typeface="Cambria Math" panose="02040503050406030204" pitchFamily="18" charset="0"/>
                          </a:rPr>
                          <m:t>0</m:t>
                        </m:r>
                      </m:sub>
                    </m:sSub>
                  </m:oMath>
                </a14:m>
                <a:r>
                  <a:rPr lang="en-US" dirty="0"/>
                  <a:t>.</a:t>
                </a:r>
                <a:endParaRPr lang="en-US" dirty="0"/>
              </a:p>
              <a:p>
                <a:r>
                  <a:rPr lang="en-US" noProof="0" dirty="0"/>
                  <a:t>Bias-adjusted </a:t>
                </a:r>
                <a:r>
                  <a:rPr lang="en-US" dirty="0"/>
                  <a:t>effect: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𝑀</m:t>
                        </m:r>
                      </m:e>
                      <m:sub>
                        <m:r>
                          <a:rPr lang="en-US" b="0" i="1" dirty="0" smtClean="0">
                            <a:latin typeface="Cambria Math" panose="02040503050406030204" pitchFamily="18" charset="0"/>
                          </a:rPr>
                          <m:t>𝑓</m:t>
                        </m:r>
                      </m:sub>
                    </m:sSub>
                    <m:r>
                      <a:rPr lang="en-US" b="0" i="1" dirty="0" smtClean="0">
                        <a:latin typeface="Cambria Math" panose="02040503050406030204" pitchFamily="18" charset="0"/>
                      </a:rPr>
                      <m:t>=</m:t>
                    </m:r>
                    <m:r>
                      <a:rPr lang="en-US" b="0" i="1" dirty="0" smtClean="0">
                        <a:latin typeface="Cambria Math" panose="02040503050406030204" pitchFamily="18" charset="0"/>
                      </a:rPr>
                      <m:t>𝑓</m:t>
                    </m:r>
                    <m:r>
                      <a:rPr lang="en-US" i="1">
                        <a:latin typeface="Cambria Math" panose="02040503050406030204" pitchFamily="18" charset="0"/>
                        <a:ea typeface="Cambria Math" panose="02040503050406030204" pitchFamily="18" charset="0"/>
                      </a:rPr>
                      <m:t>×</m:t>
                    </m:r>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oMath>
                </a14:m>
                <a:r>
                  <a:rPr lang="en-US" noProof="0" dirty="0"/>
                  <a:t> where </a:t>
                </a:r>
                <a14:m>
                  <m:oMath xmlns:m="http://schemas.openxmlformats.org/officeDocument/2006/math">
                    <m:r>
                      <a:rPr lang="en-US" i="1" dirty="0">
                        <a:latin typeface="Cambria Math" panose="02040503050406030204" pitchFamily="18" charset="0"/>
                      </a:rPr>
                      <m:t>𝑓</m:t>
                    </m:r>
                  </m:oMath>
                </a14:m>
                <a:r>
                  <a:rPr lang="en-US" dirty="0"/>
                  <a:t> is a retention factor, i.e., the fraction of the treatment effect to be retained.</a:t>
                </a:r>
                <a:endParaRPr lang="en-US" dirty="0"/>
              </a:p>
              <a:p>
                <a:pPr>
                  <a:lnSpc>
                    <a:spcPct val="100000"/>
                  </a:lnSpc>
                </a:pPr>
                <a:r>
                  <a:rPr lang="en-US" dirty="0">
                    <a:solidFill>
                      <a:srgbClr val="FF0000"/>
                    </a:solidFill>
                  </a:rPr>
                  <a:t>Recommended Adjustment:</a:t>
                </a:r>
                <a:endParaRPr lang="en-US" b="1" i="1" dirty="0">
                  <a:solidFill>
                    <a:srgbClr val="FF0000"/>
                  </a:solidFill>
                  <a:latin typeface="Cambria Math" panose="02040503050406030204" pitchFamily="18" charset="0"/>
                </a:endParaRPr>
              </a:p>
              <a:p>
                <a:pPr marL="0" indent="0">
                  <a:lnSpc>
                    <a:spcPct val="100000"/>
                  </a:lnSpc>
                  <a:buNone/>
                </a:pPr>
                <a:r>
                  <a:rPr lang="en-US" b="1" i="1" dirty="0">
                    <a:solidFill>
                      <a:srgbClr val="FF0000"/>
                    </a:solidFill>
                    <a:latin typeface="Cambria Math" panose="02040503050406030204" pitchFamily="18" charset="0"/>
                  </a:rPr>
                  <a:t>	</a:t>
                </a:r>
                <a14:m>
                  <m:oMath xmlns:m="http://schemas.openxmlformats.org/officeDocument/2006/math">
                    <m:sSub>
                      <m:sSubPr>
                        <m:ctrlPr>
                          <a:rPr lang="en-US" b="1" i="1" dirty="0" smtClean="0">
                            <a:solidFill>
                              <a:srgbClr val="FF0000"/>
                            </a:solidFill>
                            <a:latin typeface="Cambria Math" panose="02040503050406030204" pitchFamily="18" charset="0"/>
                          </a:rPr>
                        </m:ctrlPr>
                      </m:sSubPr>
                      <m:e>
                        <m:r>
                          <a:rPr lang="en-US" b="1" i="1" dirty="0">
                            <a:solidFill>
                              <a:srgbClr val="FF0000"/>
                            </a:solidFill>
                            <a:latin typeface="Cambria Math" panose="02040503050406030204" pitchFamily="18" charset="0"/>
                          </a:rPr>
                          <m:t>𝑴</m:t>
                        </m:r>
                      </m:e>
                      <m:sub>
                        <m:r>
                          <a:rPr lang="en-US" b="1" i="1" dirty="0">
                            <a:solidFill>
                              <a:srgbClr val="FF0000"/>
                            </a:solidFill>
                            <a:latin typeface="Cambria Math" panose="02040503050406030204" pitchFamily="18" charset="0"/>
                          </a:rPr>
                          <m:t>𝟎</m:t>
                        </m:r>
                        <m:r>
                          <a:rPr lang="en-US" b="1" i="1" dirty="0">
                            <a:solidFill>
                              <a:srgbClr val="FF0000"/>
                            </a:solidFill>
                            <a:latin typeface="Cambria Math" panose="02040503050406030204" pitchFamily="18" charset="0"/>
                          </a:rPr>
                          <m:t>.</m:t>
                        </m:r>
                        <m:r>
                          <a:rPr lang="en-US" b="1" i="1" dirty="0">
                            <a:solidFill>
                              <a:srgbClr val="FF0000"/>
                            </a:solidFill>
                            <a:latin typeface="Cambria Math" panose="02040503050406030204" pitchFamily="18" charset="0"/>
                          </a:rPr>
                          <m:t>𝟗</m:t>
                        </m:r>
                      </m:sub>
                    </m:sSub>
                    <m:r>
                      <a:rPr lang="en-US" b="1" i="1" dirty="0">
                        <a:solidFill>
                          <a:srgbClr val="FF0000"/>
                        </a:solidFill>
                        <a:latin typeface="Cambria Math" panose="02040503050406030204" pitchFamily="18" charset="0"/>
                      </a:rPr>
                      <m:t>=</m:t>
                    </m:r>
                    <m:r>
                      <a:rPr lang="en-US" b="1" i="1" dirty="0">
                        <a:solidFill>
                          <a:srgbClr val="FF0000"/>
                        </a:solidFill>
                        <a:latin typeface="Cambria Math" panose="02040503050406030204" pitchFamily="18" charset="0"/>
                      </a:rPr>
                      <m:t>𝟎</m:t>
                    </m:r>
                    <m:r>
                      <a:rPr lang="en-US" b="1" i="1" dirty="0">
                        <a:solidFill>
                          <a:srgbClr val="FF0000"/>
                        </a:solidFill>
                        <a:latin typeface="Cambria Math" panose="02040503050406030204" pitchFamily="18" charset="0"/>
                      </a:rPr>
                      <m:t>.</m:t>
                    </m:r>
                    <m:r>
                      <a:rPr lang="en-US" b="1" i="1" dirty="0">
                        <a:solidFill>
                          <a:srgbClr val="FF0000"/>
                        </a:solidFill>
                        <a:latin typeface="Cambria Math" panose="02040503050406030204" pitchFamily="18" charset="0"/>
                      </a:rPr>
                      <m:t>𝟗</m:t>
                    </m:r>
                    <m:r>
                      <a:rPr lang="en-US" b="1" i="1">
                        <a:solidFill>
                          <a:srgbClr val="FF0000"/>
                        </a:solidFill>
                        <a:latin typeface="Cambria Math" panose="02040503050406030204" pitchFamily="18" charset="0"/>
                        <a:ea typeface="Cambria Math" panose="02040503050406030204" pitchFamily="18" charset="0"/>
                      </a:rPr>
                      <m:t>×</m:t>
                    </m:r>
                    <m:acc>
                      <m:accPr>
                        <m:ctrlPr>
                          <a:rPr lang="en-US" b="1" i="1" dirty="0">
                            <a:solidFill>
                              <a:srgbClr val="FF0000"/>
                            </a:solidFill>
                            <a:latin typeface="Cambria Math" panose="02040503050406030204" pitchFamily="18" charset="0"/>
                          </a:rPr>
                        </m:ctrlPr>
                      </m:accPr>
                      <m:e>
                        <m:r>
                          <a:rPr lang="en-US" b="1" i="1" dirty="0">
                            <a:solidFill>
                              <a:srgbClr val="FF0000"/>
                            </a:solidFill>
                            <a:latin typeface="Cambria Math" panose="02040503050406030204" pitchFamily="18" charset="0"/>
                          </a:rPr>
                          <m:t>𝜟</m:t>
                        </m:r>
                      </m:e>
                    </m:acc>
                  </m:oMath>
                </a14:m>
                <a:r>
                  <a:rPr lang="en-US" noProof="0" dirty="0"/>
                  <a:t> (based on simulation studies)</a:t>
                </a:r>
                <a:endParaRPr lang="en-US" noProof="0" dirty="0"/>
              </a:p>
            </p:txBody>
          </p:sp>
        </mc:Choice>
        <mc:Fallback>
          <p:sp>
            <p:nvSpPr>
              <p:cNvPr id="25" name="Inhaltsplatzhalter 15"/>
              <p:cNvSpPr txBox="1">
                <a:spLocks noRot="1" noChangeAspect="1" noMove="1" noResize="1" noEditPoints="1" noAdjustHandles="1" noChangeArrowheads="1" noChangeShapeType="1" noTextEdit="1"/>
              </p:cNvSpPr>
              <p:nvPr/>
            </p:nvSpPr>
            <p:spPr>
              <a:xfrm>
                <a:off x="6236708" y="1546118"/>
                <a:ext cx="5475289" cy="4245082"/>
              </a:xfrm>
              <a:prstGeom prst="rect">
                <a:avLst/>
              </a:prstGeom>
              <a:blipFill rotWithShape="1">
                <a:blip r:embed="rId6"/>
                <a:stretch>
                  <a:fillRect l="-7" t="-12" r="1"/>
                </a:stretch>
              </a:blipFill>
            </p:spPr>
            <p:txBody>
              <a:bodyPr/>
              <a:lstStyle/>
              <a:p>
                <a:r>
                  <a:rPr lang="zh-CN" altLang="en-US">
                    <a:noFill/>
                  </a:rPr>
                  <a:t> </a:t>
                </a:r>
              </a:p>
            </p:txBody>
          </p:sp>
        </mc:Fallback>
      </mc:AlternateContent>
      <p:sp>
        <p:nvSpPr>
          <p:cNvPr id="26" name="Textplatzhalter 2"/>
          <p:cNvSpPr txBox="1"/>
          <p:nvPr/>
        </p:nvSpPr>
        <p:spPr bwMode="gray">
          <a:xfrm>
            <a:off x="6236708" y="1066800"/>
            <a:ext cx="5475290" cy="479318"/>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2: Multiplicative Method</a:t>
            </a:r>
            <a:endParaRPr lang="en-US" sz="1600" b="1" noProof="0" dirty="0">
              <a:solidFill>
                <a:schemeClr val="bg1"/>
              </a:solidFill>
            </a:endParaRPr>
          </a:p>
        </p:txBody>
      </p:sp>
      <p:sp>
        <p:nvSpPr>
          <p:cNvPr id="6" name="Foliennummernplatzhalter 5"/>
          <p:cNvSpPr>
            <a:spLocks noGrp="1"/>
          </p:cNvSpPr>
          <p:nvPr>
            <p:ph type="sldNum" sz="quarter" idx="11"/>
          </p:nvPr>
        </p:nvSpPr>
        <p:spPr/>
        <p:txBody>
          <a:bodyPr/>
          <a:lstStyle/>
          <a:p>
            <a:fld id="{8FF9B0DE-3FEB-4AA0-B465-B80EF7C1333D}" type="slidenum">
              <a:rPr lang="en-US" noProof="0" smtClean="0"/>
            </a:fld>
            <a:endParaRPr lang="en-US" noProof="0" dirty="0"/>
          </a:p>
        </p:txBody>
      </p:sp>
      <mc:AlternateContent xmlns:mc="http://schemas.openxmlformats.org/markup-compatibility/2006">
        <mc:Choice xmlns:a14="http://schemas.microsoft.com/office/drawing/2010/main" Requires="a14">
          <p:sp>
            <p:nvSpPr>
              <p:cNvPr id="3" name="TextBox 2"/>
              <p:cNvSpPr txBox="1"/>
              <p:nvPr/>
            </p:nvSpPr>
            <p:spPr bwMode="gray">
              <a:xfrm>
                <a:off x="2057400" y="3225607"/>
                <a:ext cx="1704135" cy="90018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acc>
                        <m:accPr>
                          <m:ctrlPr>
                            <a:rPr lang="en-US" sz="1600" i="1" dirty="0" smtClean="0">
                              <a:solidFill>
                                <a:schemeClr val="tx1"/>
                              </a:solidFill>
                              <a:latin typeface="Cambria Math" panose="02040503050406030204" pitchFamily="18" charset="0"/>
                            </a:rPr>
                          </m:ctrlPr>
                        </m:accPr>
                        <m:e>
                          <m:r>
                            <m:rPr>
                              <m:sty m:val="p"/>
                            </m:rPr>
                            <a:rPr lang="en-US" sz="1600" dirty="0">
                              <a:solidFill>
                                <a:schemeClr val="tx1"/>
                              </a:solidFill>
                              <a:latin typeface="Cambria Math" panose="02040503050406030204" pitchFamily="18" charset="0"/>
                            </a:rPr>
                            <m:t>Δ</m:t>
                          </m:r>
                        </m:e>
                      </m:acc>
                      <m:r>
                        <a:rPr lang="en-US" sz="1600" i="0" dirty="0">
                          <a:solidFill>
                            <a:schemeClr val="tx1"/>
                          </a:solidFill>
                          <a:latin typeface="Cambria Math" panose="02040503050406030204" pitchFamily="18" charset="0"/>
                        </a:rPr>
                        <m:t>~</m:t>
                      </m:r>
                      <m:r>
                        <a:rPr lang="en-US" sz="1600" i="1" dirty="0">
                          <a:solidFill>
                            <a:schemeClr val="tx1"/>
                          </a:solidFill>
                          <a:latin typeface="Cambria Math" panose="02040503050406030204" pitchFamily="18" charset="0"/>
                        </a:rPr>
                        <m:t>𝑁</m:t>
                      </m:r>
                      <m:d>
                        <m:dPr>
                          <m:ctrlPr>
                            <a:rPr lang="en-US" sz="1600" i="1" dirty="0">
                              <a:solidFill>
                                <a:schemeClr val="tx1"/>
                              </a:solidFill>
                              <a:latin typeface="Cambria Math" panose="02040503050406030204" pitchFamily="18" charset="0"/>
                            </a:rPr>
                          </m:ctrlPr>
                        </m:dPr>
                        <m:e>
                          <m:r>
                            <m:rPr>
                              <m:sty m:val="p"/>
                            </m:rPr>
                            <a:rPr lang="en-US" sz="1600" i="0" dirty="0">
                              <a:solidFill>
                                <a:schemeClr val="tx1"/>
                              </a:solidFill>
                              <a:latin typeface="Cambria Math" panose="02040503050406030204" pitchFamily="18" charset="0"/>
                            </a:rPr>
                            <m:t>Δ</m:t>
                          </m:r>
                          <m:r>
                            <a:rPr lang="en-US" sz="1600" i="0" dirty="0">
                              <a:solidFill>
                                <a:schemeClr val="tx1"/>
                              </a:solidFill>
                              <a:latin typeface="Cambria Math" panose="02040503050406030204" pitchFamily="18" charset="0"/>
                            </a:rPr>
                            <m:t>,</m:t>
                          </m:r>
                          <m:rad>
                            <m:radPr>
                              <m:degHide m:val="on"/>
                              <m:ctrlPr>
                                <a:rPr lang="en-US" sz="1600" i="1" dirty="0" smtClean="0">
                                  <a:solidFill>
                                    <a:schemeClr val="tx1"/>
                                  </a:solidFill>
                                  <a:latin typeface="Cambria Math" panose="02040503050406030204" pitchFamily="18" charset="0"/>
                                </a:rPr>
                              </m:ctrlPr>
                            </m:radPr>
                            <m:deg/>
                            <m:e>
                              <m:f>
                                <m:fPr>
                                  <m:ctrlPr>
                                    <a:rPr lang="en-US" sz="1600" i="1" dirty="0">
                                      <a:solidFill>
                                        <a:schemeClr val="tx1"/>
                                      </a:solidFill>
                                      <a:latin typeface="Cambria Math" panose="02040503050406030204" pitchFamily="18" charset="0"/>
                                    </a:rPr>
                                  </m:ctrlPr>
                                </m:fPr>
                                <m:num>
                                  <m:r>
                                    <a:rPr lang="en-US" sz="1600" i="0" dirty="0">
                                      <a:solidFill>
                                        <a:schemeClr val="tx1"/>
                                      </a:solidFill>
                                      <a:latin typeface="Cambria Math" panose="02040503050406030204" pitchFamily="18" charset="0"/>
                                    </a:rPr>
                                    <m:t>2</m:t>
                                  </m:r>
                                  <m:sSup>
                                    <m:sSupPr>
                                      <m:ctrlPr>
                                        <a:rPr lang="en-US" sz="1600" i="1" dirty="0">
                                          <a:solidFill>
                                            <a:schemeClr val="tx1"/>
                                          </a:solidFill>
                                          <a:latin typeface="Cambria Math" panose="02040503050406030204" pitchFamily="18" charset="0"/>
                                        </a:rPr>
                                      </m:ctrlPr>
                                    </m:sSupPr>
                                    <m:e>
                                      <m:r>
                                        <a:rPr lang="en-US" sz="1600" i="1" dirty="0">
                                          <a:latin typeface="Cambria Math" panose="02040503050406030204" pitchFamily="18" charset="0"/>
                                          <a:ea typeface="Cambria Math" panose="02040503050406030204" pitchFamily="18" charset="0"/>
                                        </a:rPr>
                                        <m:t>𝜎</m:t>
                                      </m:r>
                                    </m:e>
                                    <m:sup>
                                      <m:r>
                                        <a:rPr lang="en-US" sz="1600" i="0" dirty="0">
                                          <a:solidFill>
                                            <a:schemeClr val="tx1"/>
                                          </a:solidFill>
                                          <a:latin typeface="Cambria Math" panose="02040503050406030204" pitchFamily="18" charset="0"/>
                                        </a:rPr>
                                        <m:t>2</m:t>
                                      </m:r>
                                    </m:sup>
                                  </m:sSup>
                                </m:num>
                                <m:den>
                                  <m:r>
                                    <a:rPr lang="en-US" sz="1600" i="1" dirty="0">
                                      <a:solidFill>
                                        <a:schemeClr val="tx1"/>
                                      </a:solidFill>
                                      <a:latin typeface="Cambria Math" panose="02040503050406030204" pitchFamily="18" charset="0"/>
                                    </a:rPr>
                                    <m:t>𝑚</m:t>
                                  </m:r>
                                </m:den>
                              </m:f>
                            </m:e>
                          </m:rad>
                        </m:e>
                      </m:d>
                    </m:oMath>
                  </m:oMathPara>
                </a14:m>
                <a:endParaRPr lang="en-US" sz="1600" dirty="0"/>
              </a:p>
            </p:txBody>
          </p:sp>
        </mc:Choice>
        <mc:Fallback>
          <p:sp>
            <p:nvSpPr>
              <p:cNvPr id="3" name="TextBox 2"/>
              <p:cNvSpPr txBox="1">
                <a:spLocks noRot="1" noChangeAspect="1" noMove="1" noResize="1" noEditPoints="1" noAdjustHandles="1" noChangeArrowheads="1" noChangeShapeType="1" noTextEdit="1"/>
              </p:cNvSpPr>
              <p:nvPr/>
            </p:nvSpPr>
            <p:spPr bwMode="gray">
              <a:xfrm>
                <a:off x="2057400" y="3225607"/>
                <a:ext cx="1704135" cy="900183"/>
              </a:xfrm>
              <a:prstGeom prst="rect">
                <a:avLst/>
              </a:prstGeom>
              <a:blipFill rotWithShape="1">
                <a:blip r:embed="rId7"/>
                <a:stretch>
                  <a:fillRect t="-49" r="25" b="22"/>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spid="_x0000_s0" name="think-cell Folie" r:id="rId2" imgW="12700" imgH="12700" progId="TCLayout.ActiveDocument.1">
                  <p:embed/>
                </p:oleObj>
              </mc:Choice>
              <mc:Fallback>
                <p:oleObj name="think-cell Folie" r:id="rId2" imgW="12700" imgH="12700" progId="TCLayout.ActiveDocument.1">
                  <p:embed/>
                  <p:pic>
                    <p:nvPicPr>
                      <p:cNvPr id="0" name="Objekt 6" hidden="1"/>
                      <p:cNvPicPr/>
                      <p:nvPr/>
                    </p:nvPicPr>
                    <p:blipFill>
                      <a:blip r:embed="rId3"/>
                      <a:stretch>
                        <a:fillRect/>
                      </a:stretch>
                    </p:blipFill>
                    <p:spPr>
                      <a:xfrm>
                        <a:off x="2118" y="2118"/>
                        <a:ext cx="2116" cy="2116"/>
                      </a:xfrm>
                      <a:prstGeom prst="rect">
                        <a:avLst/>
                      </a:prstGeom>
                    </p:spPr>
                  </p:pic>
                </p:oleObj>
              </mc:Fallback>
            </mc:AlternateContent>
          </a:graphicData>
        </a:graphic>
      </p:graphicFrame>
      <p:sp>
        <p:nvSpPr>
          <p:cNvPr id="4" name="Rechteck 3" hidden="1"/>
          <p:cNvSpPr/>
          <p:nvPr>
            <p:custDataLst>
              <p:tags r:id="rId4"/>
            </p:custDataLst>
          </p:nvPr>
        </p:nvSpPr>
        <p:spPr>
          <a:xfrm>
            <a:off x="0" y="0"/>
            <a:ext cx="211667" cy="211667"/>
          </a:xfrm>
          <a:prstGeom prst="rect">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t" anchorCtr="0" forceAA="0" compatLnSpc="1">
            <a:noAutofit/>
          </a:bodyPr>
          <a:lstStyle/>
          <a:p>
            <a:pPr>
              <a:spcBef>
                <a:spcPct val="0"/>
              </a:spcBef>
              <a:spcAft>
                <a:spcPct val="0"/>
              </a:spcAft>
              <a:buSzPct val="90000"/>
            </a:pPr>
            <a:endParaRPr lang="en-US" sz="2665" noProof="0" dirty="0">
              <a:solidFill>
                <a:schemeClr val="tx1"/>
              </a:solidFill>
              <a:latin typeface="Boehringer Forward Head" panose="02000500000000020000" pitchFamily="34" charset="0"/>
              <a:ea typeface="+mj-ea"/>
              <a:cs typeface="+mj-cs"/>
              <a:sym typeface="Lufthansa Office Head"/>
            </a:endParaRPr>
          </a:p>
        </p:txBody>
      </p:sp>
      <p:sp>
        <p:nvSpPr>
          <p:cNvPr id="2" name="Titel 1"/>
          <p:cNvSpPr>
            <a:spLocks noGrp="1"/>
          </p:cNvSpPr>
          <p:nvPr>
            <p:ph type="title"/>
          </p:nvPr>
        </p:nvSpPr>
        <p:spPr/>
        <p:txBody>
          <a:bodyPr/>
          <a:lstStyle/>
          <a:p>
            <a:r>
              <a:rPr lang="en-US" noProof="0" dirty="0"/>
              <a:t>Bayesian and Likelihood-Based Methods</a:t>
            </a:r>
            <a:endParaRPr lang="en-US" noProof="0" dirty="0"/>
          </a:p>
        </p:txBody>
      </p:sp>
      <p:sp>
        <p:nvSpPr>
          <p:cNvPr id="24" name="Textplatzhalter 23"/>
          <p:cNvSpPr>
            <a:spLocks noGrp="1"/>
          </p:cNvSpPr>
          <p:nvPr>
            <p:ph type="body" sz="quarter" idx="13"/>
          </p:nvPr>
        </p:nvSpPr>
        <p:spPr/>
        <p:txBody>
          <a:bodyPr/>
          <a:lstStyle/>
          <a:p>
            <a:endParaRPr lang="en-US" noProof="0" dirty="0"/>
          </a:p>
        </p:txBody>
      </p:sp>
      <p:sp>
        <p:nvSpPr>
          <p:cNvPr id="8" name="Fußzeilenplatzhalter 7"/>
          <p:cNvSpPr>
            <a:spLocks noGrp="1"/>
          </p:cNvSpPr>
          <p:nvPr>
            <p:ph type="ftr" sz="quarter" idx="10"/>
          </p:nvPr>
        </p:nvSpPr>
        <p:spPr/>
        <p:txBody>
          <a:bodyPr/>
          <a:lstStyle/>
          <a:p>
            <a:r>
              <a:rPr lang="en-US" noProof="0" dirty="0"/>
              <a:t>Slide library     |     ONLY FOR INTERNAL USE</a:t>
            </a:r>
            <a:endParaRPr lang="en-US" noProof="0" dirty="0"/>
          </a:p>
        </p:txBody>
      </p:sp>
      <p:sp>
        <p:nvSpPr>
          <p:cNvPr id="5" name="Inhaltsplatzhalter 15"/>
          <p:cNvSpPr txBox="1"/>
          <p:nvPr/>
        </p:nvSpPr>
        <p:spPr>
          <a:xfrm>
            <a:off x="479424" y="1546118"/>
            <a:ext cx="5475289" cy="4168882"/>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fontAlgn="base"/>
            <a:r>
              <a:rPr lang="en-US" dirty="0"/>
              <a:t>Main idea: Incorporate historical data into the current study using a Bayesian informative prior to get the observed treatment effect.​</a:t>
            </a:r>
            <a:endParaRPr lang="en-US" dirty="0"/>
          </a:p>
          <a:p>
            <a:pPr fontAlgn="base"/>
            <a:r>
              <a:rPr lang="en-US" dirty="0"/>
              <a:t>Historical data source: Previous Phase II/III trials in similar populations for the same endpoint.​</a:t>
            </a:r>
            <a:endParaRPr lang="en-US" dirty="0"/>
          </a:p>
          <a:p>
            <a:pPr fontAlgn="base"/>
            <a:r>
              <a:rPr lang="en-US" dirty="0"/>
              <a:t>Intuition: Borrow strength from prior evidence to reduce uncertainty in estimates.​</a:t>
            </a:r>
            <a:endParaRPr lang="en-US" dirty="0">
              <a:solidFill>
                <a:srgbClr val="FF0000"/>
              </a:solidFill>
            </a:endParaRPr>
          </a:p>
          <a:p>
            <a:pPr fontAlgn="base"/>
            <a:r>
              <a:rPr lang="en-US" dirty="0">
                <a:solidFill>
                  <a:srgbClr val="FF0000"/>
                </a:solidFill>
              </a:rPr>
              <a:t>Bias-adjusted effect: Posterior mean​</a:t>
            </a:r>
            <a:endParaRPr lang="en-US" dirty="0">
              <a:solidFill>
                <a:srgbClr val="FF0000"/>
              </a:solidFill>
            </a:endParaRPr>
          </a:p>
        </p:txBody>
      </p:sp>
      <p:sp>
        <p:nvSpPr>
          <p:cNvPr id="9" name="Textplatzhalter 2"/>
          <p:cNvSpPr txBox="1"/>
          <p:nvPr/>
        </p:nvSpPr>
        <p:spPr bwMode="gray">
          <a:xfrm>
            <a:off x="479424" y="1075795"/>
            <a:ext cx="5475290" cy="461327"/>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dirty="0">
                <a:solidFill>
                  <a:schemeClr val="bg1"/>
                </a:solidFill>
              </a:rPr>
              <a:t>Method 3: Informative Prior Method</a:t>
            </a:r>
            <a:endParaRPr lang="en-US" sz="1600" b="1" noProof="0" dirty="0">
              <a:solidFill>
                <a:schemeClr val="bg1"/>
              </a:solidFill>
            </a:endParaRPr>
          </a:p>
        </p:txBody>
      </p:sp>
      <mc:AlternateContent xmlns:mc="http://schemas.openxmlformats.org/markup-compatibility/2006">
        <mc:Choice xmlns:a14="http://schemas.microsoft.com/office/drawing/2010/main" Requires="a14">
          <p:sp>
            <p:nvSpPr>
              <p:cNvPr id="25" name="Inhaltsplatzhalter 15"/>
              <p:cNvSpPr txBox="1"/>
              <p:nvPr/>
            </p:nvSpPr>
            <p:spPr>
              <a:xfrm>
                <a:off x="6236708" y="1546118"/>
                <a:ext cx="5475289" cy="4168882"/>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noProof="0" dirty="0"/>
                  <a:t>Main Idea</a:t>
                </a:r>
                <a:r>
                  <a:rPr lang="en-US" dirty="0"/>
                  <a:t>: Instead of assuming a normal distribution, MCLE uses a truncated normal distribution: </a:t>
                </a:r>
                <a14:m>
                  <m:oMath xmlns:m="http://schemas.openxmlformats.org/officeDocument/2006/math">
                    <m:acc>
                      <m:accPr>
                        <m:ctrlPr>
                          <a:rPr lang="en-US" i="1">
                            <a:solidFill>
                              <a:srgbClr val="836967"/>
                            </a:solidFill>
                            <a:latin typeface="Cambria Math" panose="02040503050406030204" pitchFamily="18" charset="0"/>
                          </a:rPr>
                        </m:ctrlPr>
                      </m:accPr>
                      <m:e>
                        <m:r>
                          <m:rPr>
                            <m:sty m:val="p"/>
                          </m:rPr>
                          <a:rPr lang="en-US" i="1">
                            <a:latin typeface="Cambria Math" panose="02040503050406030204" pitchFamily="18" charset="0"/>
                          </a:rPr>
                          <m:t>Δ</m:t>
                        </m:r>
                      </m:e>
                    </m:acc>
                    <m:r>
                      <a:rPr lang="en-US" i="1">
                        <a:latin typeface="Cambria Math" panose="02040503050406030204" pitchFamily="18" charset="0"/>
                      </a:rPr>
                      <m:t>~</m:t>
                    </m:r>
                    <m:r>
                      <a:rPr lang="en-US" i="1">
                        <a:latin typeface="Cambria Math" panose="02040503050406030204" pitchFamily="18" charset="0"/>
                      </a:rPr>
                      <m:t>𝑁</m:t>
                    </m:r>
                    <m:d>
                      <m:dPr>
                        <m:ctrlPr>
                          <a:rPr lang="en-US" i="1">
                            <a:solidFill>
                              <a:srgbClr val="836967"/>
                            </a:solidFill>
                            <a:latin typeface="Cambria Math" panose="02040503050406030204" pitchFamily="18" charset="0"/>
                          </a:rPr>
                        </m:ctrlPr>
                      </m:dPr>
                      <m:e>
                        <m:r>
                          <m:rPr>
                            <m:sty m:val="p"/>
                          </m:rPr>
                          <a:rPr lang="en-US" i="1">
                            <a:latin typeface="Cambria Math" panose="02040503050406030204" pitchFamily="18" charset="0"/>
                          </a:rPr>
                          <m:t>Δ</m:t>
                        </m:r>
                        <m:r>
                          <a:rPr lang="en-US" i="1">
                            <a:latin typeface="Cambria Math" panose="02040503050406030204" pitchFamily="18" charset="0"/>
                          </a:rPr>
                          <m:t>,</m:t>
                        </m:r>
                        <m:rad>
                          <m:radPr>
                            <m:degHide m:val="on"/>
                            <m:ctrlPr>
                              <a:rPr lang="en-US" i="1">
                                <a:solidFill>
                                  <a:srgbClr val="836967"/>
                                </a:solidFill>
                                <a:latin typeface="Cambria Math" panose="02040503050406030204" pitchFamily="18" charset="0"/>
                              </a:rPr>
                            </m:ctrlPr>
                          </m:radPr>
                          <m:deg/>
                          <m:e>
                            <m:r>
                              <a:rPr lang="en-US" i="1">
                                <a:latin typeface="Cambria Math" panose="02040503050406030204" pitchFamily="18" charset="0"/>
                              </a:rPr>
                              <m:t>2</m:t>
                            </m:r>
                            <m:f>
                              <m:fPr>
                                <m:type m:val="lin"/>
                                <m:ctrlPr>
                                  <a:rPr lang="en-US" i="1">
                                    <a:latin typeface="Cambria Math" panose="02040503050406030204" pitchFamily="18" charset="0"/>
                                  </a:rPr>
                                </m:ctrlPr>
                              </m:fPr>
                              <m:num>
                                <m:sSup>
                                  <m:sSupPr>
                                    <m:ctrlPr>
                                      <a:rPr lang="en-US" i="1">
                                        <a:solidFill>
                                          <a:srgbClr val="836967"/>
                                        </a:solidFill>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num>
                              <m:den>
                                <m:r>
                                  <a:rPr lang="en-US" i="1">
                                    <a:latin typeface="Cambria Math" panose="02040503050406030204" pitchFamily="18" charset="0"/>
                                  </a:rPr>
                                  <m:t>𝑚</m:t>
                                </m:r>
                              </m:den>
                            </m:f>
                          </m:e>
                        </m:rad>
                      </m:e>
                    </m:d>
                  </m:oMath>
                </a14:m>
                <a:r>
                  <a:rPr lang="en-US" i="1" dirty="0"/>
                  <a:t> </a:t>
                </a:r>
                <a:r>
                  <a:rPr lang="en-US" dirty="0"/>
                  <a:t>if</a:t>
                </a:r>
                <a:r>
                  <a:rPr lang="en-US" i="1" dirty="0"/>
                  <a:t>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dirty="0">
                        <a:latin typeface="Cambria Math" panose="02040503050406030204" pitchFamily="18" charset="0"/>
                      </a:rPr>
                      <m:t>&gt;</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Δ</m:t>
                        </m:r>
                      </m:e>
                      <m:sub>
                        <m:r>
                          <a:rPr lang="en-US" i="1" dirty="0">
                            <a:latin typeface="Cambria Math" panose="02040503050406030204" pitchFamily="18" charset="0"/>
                          </a:rPr>
                          <m:t>𝑃𝐷</m:t>
                        </m:r>
                      </m:sub>
                    </m:sSub>
                    <m:r>
                      <a:rPr lang="en-US" i="1" dirty="0">
                        <a:latin typeface="Cambria Math" panose="02040503050406030204" pitchFamily="18" charset="0"/>
                      </a:rPr>
                      <m:t> </m:t>
                    </m:r>
                  </m:oMath>
                </a14:m>
                <a:r>
                  <a:rPr lang="en-US" dirty="0"/>
                  <a:t>, and 0 otherwise. </a:t>
                </a:r>
                <a:endParaRPr lang="en-US" dirty="0"/>
              </a:p>
              <a:p>
                <a:r>
                  <a:rPr lang="en-US" dirty="0"/>
                  <a:t>Intuition: It incorporates the fact that the estimate is selected based on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Δ</m:t>
                        </m:r>
                      </m:e>
                      <m:sub>
                        <m:r>
                          <a:rPr lang="en-US" i="1" dirty="0">
                            <a:latin typeface="Cambria Math" panose="02040503050406030204" pitchFamily="18" charset="0"/>
                          </a:rPr>
                          <m:t>𝑃𝐷</m:t>
                        </m:r>
                      </m:sub>
                    </m:sSub>
                    <m:r>
                      <a:rPr lang="en-US" i="1" dirty="0">
                        <a:latin typeface="Cambria Math" panose="02040503050406030204" pitchFamily="18" charset="0"/>
                      </a:rPr>
                      <m:t> </m:t>
                    </m:r>
                  </m:oMath>
                </a14:m>
                <a:r>
                  <a:rPr lang="en-US" dirty="0"/>
                  <a:t>when conditioning the likelihood based on the threshold.</a:t>
                </a:r>
                <a:endParaRPr lang="en-US" dirty="0"/>
              </a:p>
              <a:p>
                <a:r>
                  <a:rPr lang="en-US" noProof="0" dirty="0">
                    <a:solidFill>
                      <a:srgbClr val="FF0000"/>
                    </a:solidFill>
                  </a:rPr>
                  <a:t>Bias-adjusted effect: Solution to the score equation</a:t>
                </a:r>
                <a:endParaRPr lang="en-US" noProof="0" dirty="0">
                  <a:solidFill>
                    <a:srgbClr val="FF0000"/>
                  </a:solidFill>
                </a:endParaRPr>
              </a:p>
            </p:txBody>
          </p:sp>
        </mc:Choice>
        <mc:Fallback>
          <p:sp>
            <p:nvSpPr>
              <p:cNvPr id="25" name="Inhaltsplatzhalter 15"/>
              <p:cNvSpPr txBox="1">
                <a:spLocks noRot="1" noChangeAspect="1" noMove="1" noResize="1" noEditPoints="1" noAdjustHandles="1" noChangeArrowheads="1" noChangeShapeType="1" noTextEdit="1"/>
              </p:cNvSpPr>
              <p:nvPr/>
            </p:nvSpPr>
            <p:spPr>
              <a:xfrm>
                <a:off x="6236708" y="1546118"/>
                <a:ext cx="5475289" cy="4168882"/>
              </a:xfrm>
              <a:prstGeom prst="rect">
                <a:avLst/>
              </a:prstGeom>
              <a:blipFill rotWithShape="1">
                <a:blip r:embed="rId5"/>
                <a:stretch>
                  <a:fillRect l="-7" t="-13" r="1"/>
                </a:stretch>
              </a:blipFill>
            </p:spPr>
            <p:txBody>
              <a:bodyPr/>
              <a:lstStyle/>
              <a:p>
                <a:r>
                  <a:rPr lang="zh-CN" altLang="en-US">
                    <a:noFill/>
                  </a:rPr>
                  <a:t> </a:t>
                </a:r>
              </a:p>
            </p:txBody>
          </p:sp>
        </mc:Fallback>
      </mc:AlternateContent>
      <p:sp>
        <p:nvSpPr>
          <p:cNvPr id="26" name="Textplatzhalter 2"/>
          <p:cNvSpPr txBox="1"/>
          <p:nvPr/>
        </p:nvSpPr>
        <p:spPr bwMode="gray">
          <a:xfrm>
            <a:off x="6236708" y="903441"/>
            <a:ext cx="5475290" cy="806036"/>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4: Maximum Conditional Likelihood Estimator (MCLE)</a:t>
            </a:r>
            <a:endParaRPr lang="en-US" sz="1600" b="1" noProof="0" dirty="0">
              <a:solidFill>
                <a:schemeClr val="bg1"/>
              </a:solidFill>
            </a:endParaRPr>
          </a:p>
        </p:txBody>
      </p:sp>
      <p:sp>
        <p:nvSpPr>
          <p:cNvPr id="6" name="Foliennummernplatzhalter 5"/>
          <p:cNvSpPr>
            <a:spLocks noGrp="1"/>
          </p:cNvSpPr>
          <p:nvPr>
            <p:ph type="sldNum" sz="quarter" idx="11"/>
          </p:nvPr>
        </p:nvSpPr>
        <p:spPr/>
        <p:txBody>
          <a:bodyPr/>
          <a:lstStyle/>
          <a:p>
            <a:fld id="{8FF9B0DE-3FEB-4AA0-B465-B80EF7C1333D}" type="slidenum">
              <a:rPr lang="en-US" noProof="0" smtClean="0"/>
            </a:fld>
            <a:endParaRPr lang="en-US" noProof="0" dirty="0"/>
          </a:p>
        </p:txBody>
      </p:sp>
      <p:pic>
        <p:nvPicPr>
          <p:cNvPr id="16" name="Picture 15"/>
          <p:cNvPicPr>
            <a:picLocks noChangeAspect="1"/>
          </p:cNvPicPr>
          <p:nvPr/>
        </p:nvPicPr>
        <p:blipFill>
          <a:blip r:embed="rId6"/>
          <a:stretch>
            <a:fillRect/>
          </a:stretch>
        </p:blipFill>
        <p:spPr>
          <a:xfrm>
            <a:off x="6667650" y="4455316"/>
            <a:ext cx="4684934" cy="965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spid="_x0000_s0" name="think-cell Folie" r:id="rId2" imgW="12700" imgH="12700" progId="TCLayout.ActiveDocument.1">
                  <p:embed/>
                </p:oleObj>
              </mc:Choice>
              <mc:Fallback>
                <p:oleObj name="think-cell Folie" r:id="rId2" imgW="12700" imgH="12700" progId="TCLayout.ActiveDocument.1">
                  <p:embed/>
                  <p:pic>
                    <p:nvPicPr>
                      <p:cNvPr id="0" name="Objekt 6" hidden="1"/>
                      <p:cNvPicPr/>
                      <p:nvPr/>
                    </p:nvPicPr>
                    <p:blipFill>
                      <a:blip r:embed="rId3"/>
                      <a:stretch>
                        <a:fillRect/>
                      </a:stretch>
                    </p:blipFill>
                    <p:spPr>
                      <a:xfrm>
                        <a:off x="2118" y="2118"/>
                        <a:ext cx="2116" cy="2116"/>
                      </a:xfrm>
                      <a:prstGeom prst="rect">
                        <a:avLst/>
                      </a:prstGeom>
                    </p:spPr>
                  </p:pic>
                </p:oleObj>
              </mc:Fallback>
            </mc:AlternateContent>
          </a:graphicData>
        </a:graphic>
      </p:graphicFrame>
      <p:sp>
        <p:nvSpPr>
          <p:cNvPr id="3" name="Rechteck 2" hidden="1"/>
          <p:cNvSpPr/>
          <p:nvPr>
            <p:custDataLst>
              <p:tags r:id="rId4"/>
            </p:custDataLst>
          </p:nvPr>
        </p:nvSpPr>
        <p:spPr>
          <a:xfrm>
            <a:off x="0" y="0"/>
            <a:ext cx="211667" cy="211667"/>
          </a:xfrm>
          <a:prstGeom prst="rect">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t" anchorCtr="0" forceAA="0" compatLnSpc="1">
            <a:noAutofit/>
          </a:bodyPr>
          <a:lstStyle/>
          <a:p>
            <a:pPr>
              <a:spcBef>
                <a:spcPct val="0"/>
              </a:spcBef>
              <a:spcAft>
                <a:spcPct val="0"/>
              </a:spcAft>
              <a:buSzPct val="90000"/>
            </a:pPr>
            <a:endParaRPr lang="en-US" sz="2665" noProof="0" dirty="0">
              <a:solidFill>
                <a:schemeClr val="tx1"/>
              </a:solidFill>
              <a:latin typeface="Boehringer Forward Head" panose="02000500000000020000" pitchFamily="34" charset="0"/>
              <a:ea typeface="+mj-ea"/>
              <a:cs typeface="+mj-cs"/>
              <a:sym typeface="Lufthansa Office Head"/>
            </a:endParaRPr>
          </a:p>
        </p:txBody>
      </p:sp>
      <p:sp>
        <p:nvSpPr>
          <p:cNvPr id="2" name="Titel 1"/>
          <p:cNvSpPr>
            <a:spLocks noGrp="1"/>
          </p:cNvSpPr>
          <p:nvPr>
            <p:ph type="title"/>
          </p:nvPr>
        </p:nvSpPr>
        <p:spPr/>
        <p:txBody>
          <a:bodyPr/>
          <a:lstStyle/>
          <a:p>
            <a:r>
              <a:rPr lang="en-US" noProof="0" dirty="0"/>
              <a:t>Bias Subtraction Methods</a:t>
            </a:r>
            <a:endParaRPr lang="en-US" noProof="0" dirty="0"/>
          </a:p>
        </p:txBody>
      </p:sp>
      <p:sp>
        <p:nvSpPr>
          <p:cNvPr id="8" name="Fußzeilenplatzhalter 7"/>
          <p:cNvSpPr>
            <a:spLocks noGrp="1"/>
          </p:cNvSpPr>
          <p:nvPr>
            <p:ph type="ftr" sz="quarter" idx="10"/>
          </p:nvPr>
        </p:nvSpPr>
        <p:spPr/>
        <p:txBody>
          <a:bodyPr/>
          <a:lstStyle/>
          <a:p>
            <a:r>
              <a:rPr lang="en-US" noProof="0" dirty="0"/>
              <a:t>Slide library     |     ONLY FOR INTERNAL USE</a:t>
            </a:r>
            <a:endParaRPr lang="en-US" noProof="0" dirty="0"/>
          </a:p>
        </p:txBody>
      </p:sp>
      <p:sp>
        <p:nvSpPr>
          <p:cNvPr id="9" name="Inhaltsplatzhalter 15"/>
          <p:cNvSpPr txBox="1"/>
          <p:nvPr/>
        </p:nvSpPr>
        <p:spPr>
          <a:xfrm>
            <a:off x="479424" y="2819400"/>
            <a:ext cx="3582989"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sz="1400" dirty="0"/>
              <a:t>Main idea: This method uses a Bayesian framework with </a:t>
            </a:r>
            <a:r>
              <a:rPr lang="en-US" sz="1400" b="1" dirty="0"/>
              <a:t>a vague prior </a:t>
            </a:r>
            <a:r>
              <a:rPr lang="en-US" sz="1400" dirty="0"/>
              <a:t>and computes the bias as a percentile (e.g., </a:t>
            </a:r>
            <a:r>
              <a:rPr lang="en-US" sz="1400" b="1" dirty="0"/>
              <a:t>20th percentile</a:t>
            </a:r>
            <a:r>
              <a:rPr lang="en-US" sz="1400" dirty="0"/>
              <a:t>) of the posterior distribution.</a:t>
            </a:r>
            <a:endParaRPr lang="en-US" sz="1400" dirty="0"/>
          </a:p>
          <a:p>
            <a:r>
              <a:rPr lang="en-US" sz="1400" dirty="0"/>
              <a:t>Intuition</a:t>
            </a:r>
            <a:r>
              <a:rPr lang="en-US" sz="1400" noProof="0" dirty="0"/>
              <a:t>: </a:t>
            </a:r>
            <a:r>
              <a:rPr lang="en-US" sz="1400" dirty="0"/>
              <a:t>Use a percentile to reflect uncertainty and subtract a conservative estimate of the bias.</a:t>
            </a:r>
            <a:endParaRPr lang="en-US" sz="1400" noProof="0" dirty="0"/>
          </a:p>
        </p:txBody>
      </p:sp>
      <p:sp>
        <p:nvSpPr>
          <p:cNvPr id="10" name="Textplatzhalter 2"/>
          <p:cNvSpPr txBox="1"/>
          <p:nvPr/>
        </p:nvSpPr>
        <p:spPr bwMode="gray">
          <a:xfrm>
            <a:off x="479424" y="2340081"/>
            <a:ext cx="3582989" cy="479318"/>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5: Percentile Bias (PB)</a:t>
            </a:r>
            <a:endParaRPr lang="en-US" sz="1600" b="1" noProof="0" dirty="0">
              <a:solidFill>
                <a:schemeClr val="bg1"/>
              </a:solidFill>
            </a:endParaRPr>
          </a:p>
        </p:txBody>
      </p:sp>
      <p:sp>
        <p:nvSpPr>
          <p:cNvPr id="16" name="Inhaltsplatzhalter 15"/>
          <p:cNvSpPr txBox="1"/>
          <p:nvPr/>
        </p:nvSpPr>
        <p:spPr>
          <a:xfrm>
            <a:off x="4191000" y="2819400"/>
            <a:ext cx="3832251"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sz="1400" noProof="0" dirty="0"/>
              <a:t>Main idea</a:t>
            </a:r>
            <a:r>
              <a:rPr lang="en-US" sz="1400" dirty="0"/>
              <a:t>: This method calculates the expected bias under the normal likelihood, weighted by the likelihood function.</a:t>
            </a:r>
            <a:endParaRPr lang="en-US" sz="1400" dirty="0"/>
          </a:p>
          <a:p>
            <a:r>
              <a:rPr lang="en-US" sz="1400" dirty="0"/>
              <a:t>Intuition</a:t>
            </a:r>
            <a:r>
              <a:rPr lang="en-US" sz="1400" noProof="0" dirty="0"/>
              <a:t>: </a:t>
            </a:r>
            <a:r>
              <a:rPr lang="en-US" sz="1400" dirty="0"/>
              <a:t>It integrates over possible true effects, weighting by how plausible they are given the observed data.</a:t>
            </a:r>
            <a:endParaRPr lang="en-US" sz="1400" noProof="0" dirty="0"/>
          </a:p>
        </p:txBody>
      </p:sp>
      <p:sp>
        <p:nvSpPr>
          <p:cNvPr id="17" name="Textplatzhalter 2"/>
          <p:cNvSpPr txBox="1"/>
          <p:nvPr/>
        </p:nvSpPr>
        <p:spPr bwMode="gray">
          <a:xfrm>
            <a:off x="4191000" y="2176722"/>
            <a:ext cx="3832251" cy="806036"/>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6: Likelihood Weighted Bias (LWB)</a:t>
            </a:r>
            <a:endParaRPr lang="en-US" sz="1600" b="1" noProof="0" dirty="0">
              <a:solidFill>
                <a:schemeClr val="bg1"/>
              </a:solidFill>
            </a:endParaRPr>
          </a:p>
        </p:txBody>
      </p:sp>
      <mc:AlternateContent xmlns:mc="http://schemas.openxmlformats.org/markup-compatibility/2006">
        <mc:Choice xmlns:a14="http://schemas.microsoft.com/office/drawing/2010/main" Requires="a14">
          <p:sp>
            <p:nvSpPr>
              <p:cNvPr id="23" name="Inhaltsplatzhalter 15"/>
              <p:cNvSpPr txBox="1"/>
              <p:nvPr/>
            </p:nvSpPr>
            <p:spPr>
              <a:xfrm>
                <a:off x="8131149" y="2819400"/>
                <a:ext cx="3832251"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a:lnSpc>
                    <a:spcPct val="130000"/>
                  </a:lnSpc>
                </a:pPr>
                <a:r>
                  <a:rPr lang="en-US" sz="1200" noProof="0" dirty="0"/>
                  <a:t>Main </a:t>
                </a:r>
                <a:r>
                  <a:rPr lang="en-US" sz="1200" dirty="0"/>
                  <a:t>idea: Similar to LWB, but uses a conditional likelihood based on a truncated normal distribution: </a:t>
                </a:r>
                <a14:m>
                  <m:oMath xmlns:m="http://schemas.openxmlformats.org/officeDocument/2006/math">
                    <m:acc>
                      <m:accPr>
                        <m:ctrlPr>
                          <a:rPr lang="en-US" sz="1200" i="1">
                            <a:solidFill>
                              <a:srgbClr val="836967"/>
                            </a:solidFill>
                            <a:latin typeface="Cambria Math" panose="02040503050406030204" pitchFamily="18" charset="0"/>
                          </a:rPr>
                        </m:ctrlPr>
                      </m:accPr>
                      <m:e>
                        <m:r>
                          <m:rPr>
                            <m:sty m:val="p"/>
                          </m:rPr>
                          <a:rPr lang="en-US" sz="1200" i="1">
                            <a:latin typeface="Cambria Math" panose="02040503050406030204" pitchFamily="18" charset="0"/>
                          </a:rPr>
                          <m:t>Δ</m:t>
                        </m:r>
                      </m:e>
                    </m:acc>
                    <m:r>
                      <a:rPr lang="en-US" sz="1200" i="1">
                        <a:latin typeface="Cambria Math" panose="02040503050406030204" pitchFamily="18" charset="0"/>
                      </a:rPr>
                      <m:t>~</m:t>
                    </m:r>
                    <m:r>
                      <a:rPr lang="en-US" sz="1200" i="1">
                        <a:latin typeface="Cambria Math" panose="02040503050406030204" pitchFamily="18" charset="0"/>
                      </a:rPr>
                      <m:t>𝑁</m:t>
                    </m:r>
                    <m:d>
                      <m:dPr>
                        <m:ctrlPr>
                          <a:rPr lang="en-US" sz="1200" i="1">
                            <a:solidFill>
                              <a:srgbClr val="836967"/>
                            </a:solidFill>
                            <a:latin typeface="Cambria Math" panose="02040503050406030204" pitchFamily="18" charset="0"/>
                          </a:rPr>
                        </m:ctrlPr>
                      </m:dPr>
                      <m:e>
                        <m:r>
                          <m:rPr>
                            <m:sty m:val="p"/>
                          </m:rPr>
                          <a:rPr lang="en-US" sz="1200" i="1">
                            <a:latin typeface="Cambria Math" panose="02040503050406030204" pitchFamily="18" charset="0"/>
                          </a:rPr>
                          <m:t>Δ</m:t>
                        </m:r>
                        <m:r>
                          <a:rPr lang="en-US" sz="1200" i="1">
                            <a:latin typeface="Cambria Math" panose="02040503050406030204" pitchFamily="18" charset="0"/>
                          </a:rPr>
                          <m:t>,</m:t>
                        </m:r>
                        <m:rad>
                          <m:radPr>
                            <m:degHide m:val="on"/>
                            <m:ctrlPr>
                              <a:rPr lang="en-US" sz="1200" i="1">
                                <a:solidFill>
                                  <a:srgbClr val="836967"/>
                                </a:solidFill>
                                <a:latin typeface="Cambria Math" panose="02040503050406030204" pitchFamily="18" charset="0"/>
                              </a:rPr>
                            </m:ctrlPr>
                          </m:radPr>
                          <m:deg/>
                          <m:e>
                            <m:r>
                              <a:rPr lang="en-US" sz="1200" i="1">
                                <a:latin typeface="Cambria Math" panose="02040503050406030204" pitchFamily="18" charset="0"/>
                              </a:rPr>
                              <m:t>2</m:t>
                            </m:r>
                            <m:f>
                              <m:fPr>
                                <m:type m:val="lin"/>
                                <m:ctrlPr>
                                  <a:rPr lang="en-US" sz="1200" i="1">
                                    <a:latin typeface="Cambria Math" panose="02040503050406030204" pitchFamily="18" charset="0"/>
                                  </a:rPr>
                                </m:ctrlPr>
                              </m:fPr>
                              <m:num>
                                <m:sSup>
                                  <m:sSupPr>
                                    <m:ctrlPr>
                                      <a:rPr lang="en-US" sz="1200" i="1">
                                        <a:solidFill>
                                          <a:srgbClr val="836967"/>
                                        </a:solidFill>
                                        <a:latin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𝜎</m:t>
                                    </m:r>
                                  </m:e>
                                  <m:sup>
                                    <m:r>
                                      <a:rPr lang="en-US" sz="1200" i="1">
                                        <a:latin typeface="Cambria Math" panose="02040503050406030204" pitchFamily="18" charset="0"/>
                                      </a:rPr>
                                      <m:t>2</m:t>
                                    </m:r>
                                  </m:sup>
                                </m:sSup>
                              </m:num>
                              <m:den>
                                <m:r>
                                  <a:rPr lang="en-US" sz="1200" i="1">
                                    <a:latin typeface="Cambria Math" panose="02040503050406030204" pitchFamily="18" charset="0"/>
                                  </a:rPr>
                                  <m:t>𝑚</m:t>
                                </m:r>
                              </m:den>
                            </m:f>
                          </m:e>
                        </m:rad>
                      </m:e>
                    </m:d>
                  </m:oMath>
                </a14:m>
                <a:r>
                  <a:rPr lang="en-US" sz="1200" noProof="0" dirty="0"/>
                  <a:t> for </a:t>
                </a:r>
                <a14:m>
                  <m:oMath xmlns:m="http://schemas.openxmlformats.org/officeDocument/2006/math">
                    <m:acc>
                      <m:accPr>
                        <m:ctrlPr>
                          <a:rPr lang="en-US" sz="1200" i="1">
                            <a:solidFill>
                              <a:srgbClr val="836967"/>
                            </a:solidFill>
                            <a:latin typeface="Cambria Math" panose="02040503050406030204" pitchFamily="18" charset="0"/>
                          </a:rPr>
                        </m:ctrlPr>
                      </m:accPr>
                      <m:e>
                        <m:r>
                          <m:rPr>
                            <m:sty m:val="p"/>
                          </m:rPr>
                          <a:rPr lang="en-US" sz="1200" i="1">
                            <a:latin typeface="Cambria Math" panose="02040503050406030204" pitchFamily="18" charset="0"/>
                          </a:rPr>
                          <m:t>Δ</m:t>
                        </m:r>
                      </m:e>
                    </m:acc>
                    <m:r>
                      <a:rPr lang="en-US" sz="1200" b="0" i="1" smtClean="0">
                        <a:latin typeface="Cambria Math" panose="02040503050406030204" pitchFamily="18" charset="0"/>
                      </a:rPr>
                      <m:t>&gt;</m:t>
                    </m:r>
                    <m:sSub>
                      <m:sSubPr>
                        <m:ctrlPr>
                          <a:rPr lang="en-US" sz="1200" i="1" dirty="0">
                            <a:latin typeface="Cambria Math" panose="02040503050406030204" pitchFamily="18" charset="0"/>
                          </a:rPr>
                        </m:ctrlPr>
                      </m:sSubPr>
                      <m:e>
                        <m:r>
                          <m:rPr>
                            <m:sty m:val="p"/>
                          </m:rPr>
                          <a:rPr lang="en-US" sz="1200" dirty="0">
                            <a:latin typeface="Cambria Math" panose="02040503050406030204" pitchFamily="18" charset="0"/>
                          </a:rPr>
                          <m:t>Δ</m:t>
                        </m:r>
                      </m:e>
                      <m:sub>
                        <m:r>
                          <a:rPr lang="en-US" sz="1200" i="1" dirty="0">
                            <a:latin typeface="Cambria Math" panose="02040503050406030204" pitchFamily="18" charset="0"/>
                          </a:rPr>
                          <m:t>𝑃𝐷</m:t>
                        </m:r>
                      </m:sub>
                    </m:sSub>
                  </m:oMath>
                </a14:m>
                <a:r>
                  <a:rPr lang="en-US" sz="1200" noProof="0" dirty="0"/>
                  <a:t> and 0 otherwise.</a:t>
                </a:r>
                <a:endParaRPr lang="en-US" sz="1200" noProof="0" dirty="0"/>
              </a:p>
              <a:p>
                <a:pPr>
                  <a:lnSpc>
                    <a:spcPct val="130000"/>
                  </a:lnSpc>
                </a:pPr>
                <a:r>
                  <a:rPr lang="en-US" sz="1200" dirty="0"/>
                  <a:t>Intuition: By conditioning on the threshold, it provides a more accurate bias estimate for scenarios where only “successful” Phase II studies (</a:t>
                </a:r>
                <a14:m>
                  <m:oMath xmlns:m="http://schemas.openxmlformats.org/officeDocument/2006/math">
                    <m:acc>
                      <m:accPr>
                        <m:ctrlPr>
                          <a:rPr lang="en-US" sz="1200" i="1" dirty="0">
                            <a:latin typeface="Cambria Math" panose="02040503050406030204" pitchFamily="18" charset="0"/>
                          </a:rPr>
                        </m:ctrlPr>
                      </m:accPr>
                      <m:e>
                        <m:r>
                          <m:rPr>
                            <m:sty m:val="p"/>
                          </m:rPr>
                          <a:rPr lang="en-US" sz="1200" dirty="0">
                            <a:latin typeface="Cambria Math" panose="02040503050406030204" pitchFamily="18" charset="0"/>
                          </a:rPr>
                          <m:t>Δ</m:t>
                        </m:r>
                      </m:e>
                    </m:acc>
                    <m:r>
                      <a:rPr lang="en-US" sz="1200" dirty="0">
                        <a:latin typeface="Cambria Math" panose="02040503050406030204" pitchFamily="18" charset="0"/>
                      </a:rPr>
                      <m:t>&gt;</m:t>
                    </m:r>
                    <m:sSub>
                      <m:sSubPr>
                        <m:ctrlPr>
                          <a:rPr lang="en-US" sz="1200" i="1" dirty="0">
                            <a:latin typeface="Cambria Math" panose="02040503050406030204" pitchFamily="18" charset="0"/>
                          </a:rPr>
                        </m:ctrlPr>
                      </m:sSubPr>
                      <m:e>
                        <m:r>
                          <m:rPr>
                            <m:sty m:val="p"/>
                          </m:rPr>
                          <a:rPr lang="en-US" sz="1200" dirty="0">
                            <a:latin typeface="Cambria Math" panose="02040503050406030204" pitchFamily="18" charset="0"/>
                          </a:rPr>
                          <m:t>Δ</m:t>
                        </m:r>
                      </m:e>
                      <m:sub>
                        <m:r>
                          <a:rPr lang="en-US" sz="1200" i="1" dirty="0">
                            <a:latin typeface="Cambria Math" panose="02040503050406030204" pitchFamily="18" charset="0"/>
                          </a:rPr>
                          <m:t>𝑃𝐷</m:t>
                        </m:r>
                      </m:sub>
                    </m:sSub>
                  </m:oMath>
                </a14:m>
                <a:r>
                  <a:rPr lang="en-US" sz="1200" dirty="0"/>
                  <a:t>) are considered.</a:t>
                </a:r>
                <a:endParaRPr lang="en-US" sz="1200" noProof="0" dirty="0"/>
              </a:p>
            </p:txBody>
          </p:sp>
        </mc:Choice>
        <mc:Fallback>
          <p:sp>
            <p:nvSpPr>
              <p:cNvPr id="23" name="Inhaltsplatzhalter 15"/>
              <p:cNvSpPr txBox="1">
                <a:spLocks noRot="1" noChangeAspect="1" noMove="1" noResize="1" noEditPoints="1" noAdjustHandles="1" noChangeArrowheads="1" noChangeShapeType="1" noTextEdit="1"/>
              </p:cNvSpPr>
              <p:nvPr/>
            </p:nvSpPr>
            <p:spPr>
              <a:xfrm>
                <a:off x="8131149" y="2819400"/>
                <a:ext cx="3832251" cy="3219958"/>
              </a:xfrm>
              <a:prstGeom prst="rect">
                <a:avLst/>
              </a:prstGeom>
              <a:blipFill rotWithShape="1">
                <a:blip r:embed="rId5"/>
                <a:stretch>
                  <a:fillRect l="-16" b="16"/>
                </a:stretch>
              </a:blipFill>
            </p:spPr>
            <p:txBody>
              <a:bodyPr/>
              <a:lstStyle/>
              <a:p>
                <a:r>
                  <a:rPr lang="zh-CN" altLang="en-US">
                    <a:noFill/>
                  </a:rPr>
                  <a:t> </a:t>
                </a:r>
              </a:p>
            </p:txBody>
          </p:sp>
        </mc:Fallback>
      </mc:AlternateContent>
      <p:sp>
        <p:nvSpPr>
          <p:cNvPr id="24" name="Textplatzhalter 2"/>
          <p:cNvSpPr txBox="1"/>
          <p:nvPr/>
        </p:nvSpPr>
        <p:spPr bwMode="gray">
          <a:xfrm>
            <a:off x="8131149" y="2176722"/>
            <a:ext cx="3832251" cy="806036"/>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7: Conditional Likelihood Weighted Bias (CLWB)</a:t>
            </a:r>
            <a:endParaRPr lang="en-US" sz="1600" b="1" noProof="0" dirty="0">
              <a:solidFill>
                <a:schemeClr val="bg1"/>
              </a:solidFill>
            </a:endParaRPr>
          </a:p>
        </p:txBody>
      </p:sp>
      <p:sp>
        <p:nvSpPr>
          <p:cNvPr id="6" name="Foliennummernplatzhalter 5"/>
          <p:cNvSpPr>
            <a:spLocks noGrp="1"/>
          </p:cNvSpPr>
          <p:nvPr>
            <p:ph type="sldNum" sz="quarter" idx="11"/>
          </p:nvPr>
        </p:nvSpPr>
        <p:spPr/>
        <p:txBody>
          <a:bodyPr/>
          <a:lstStyle/>
          <a:p>
            <a:fld id="{8FF9B0DE-3FEB-4AA0-B465-B80EF7C1333D}" type="slidenum">
              <a:rPr lang="en-US" noProof="0" smtClean="0"/>
            </a:fld>
            <a:endParaRPr lang="en-US" noProof="0" dirty="0"/>
          </a:p>
        </p:txBody>
      </p:sp>
      <mc:AlternateContent xmlns:mc="http://schemas.openxmlformats.org/markup-compatibility/2006">
        <mc:Choice xmlns:a14="http://schemas.microsoft.com/office/drawing/2010/main" Requires="a14">
          <p:sp>
            <p:nvSpPr>
              <p:cNvPr id="4" name="Textplatzhalter 2"/>
              <p:cNvSpPr txBox="1"/>
              <p:nvPr/>
            </p:nvSpPr>
            <p:spPr bwMode="gray">
              <a:xfrm>
                <a:off x="533400" y="1022680"/>
                <a:ext cx="9982200" cy="1752600"/>
              </a:xfrm>
              <a:prstGeom prst="rect">
                <a:avLst/>
              </a:prstGeom>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330200" indent="-285750">
                  <a:lnSpc>
                    <a:spcPct val="150000"/>
                  </a:lnSpc>
                </a:pPr>
                <a:r>
                  <a:rPr lang="en-US" dirty="0"/>
                  <a:t>Under the condition that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dirty="0">
                        <a:latin typeface="Cambria Math" panose="02040503050406030204" pitchFamily="18" charset="0"/>
                      </a:rPr>
                      <m:t>&gt;</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Δ</m:t>
                        </m:r>
                      </m:e>
                      <m:sub>
                        <m:r>
                          <a:rPr lang="en-US" i="1" dirty="0">
                            <a:latin typeface="Cambria Math" panose="02040503050406030204" pitchFamily="18" charset="0"/>
                          </a:rPr>
                          <m:t>𝑃𝐷</m:t>
                        </m:r>
                      </m:sub>
                    </m:sSub>
                  </m:oMath>
                </a14:m>
                <a:r>
                  <a:rPr lang="en-US" dirty="0"/>
                  <a:t>, the bias can be expressed as</a:t>
                </a:r>
                <a:endParaRPr lang="en-US" dirty="0"/>
              </a:p>
              <a:p>
                <a:pPr marL="330200" indent="-285750">
                  <a:lnSpc>
                    <a:spcPct val="150000"/>
                  </a:lnSpc>
                </a:pPr>
                <a:endParaRPr lang="en-US" dirty="0"/>
              </a:p>
              <a:p>
                <a:pPr marL="330200" indent="-285750">
                  <a:lnSpc>
                    <a:spcPct val="150000"/>
                  </a:lnSpc>
                </a:pPr>
                <a:r>
                  <a:rPr lang="en-US" dirty="0">
                    <a:solidFill>
                      <a:srgbClr val="FF0000"/>
                    </a:solidFill>
                  </a:rPr>
                  <a:t>Bias-adjusted effect: </a:t>
                </a:r>
                <a14:m>
                  <m:oMath xmlns:m="http://schemas.openxmlformats.org/officeDocument/2006/math">
                    <m:acc>
                      <m:accPr>
                        <m:ctrlPr>
                          <a:rPr lang="en-US" i="1" dirty="0">
                            <a:solidFill>
                              <a:srgbClr val="FF0000"/>
                            </a:solidFill>
                            <a:latin typeface="Cambria Math" panose="02040503050406030204" pitchFamily="18" charset="0"/>
                          </a:rPr>
                        </m:ctrlPr>
                      </m:accPr>
                      <m:e>
                        <m:r>
                          <m:rPr>
                            <m:sty m:val="p"/>
                          </m:rPr>
                          <a:rPr lang="en-US" dirty="0">
                            <a:solidFill>
                              <a:srgbClr val="FF0000"/>
                            </a:solidFill>
                            <a:latin typeface="Cambria Math" panose="02040503050406030204" pitchFamily="18" charset="0"/>
                          </a:rPr>
                          <m:t>Δ</m:t>
                        </m:r>
                      </m:e>
                    </m:acc>
                    <m:r>
                      <a:rPr lang="en-US" dirty="0">
                        <a:solidFill>
                          <a:srgbClr val="FF0000"/>
                        </a:solidFill>
                        <a:latin typeface="Cambria Math" panose="02040503050406030204" pitchFamily="18" charset="0"/>
                      </a:rPr>
                      <m:t>−</m:t>
                    </m:r>
                  </m:oMath>
                </a14:m>
                <a:r>
                  <a:rPr lang="en-US" dirty="0">
                    <a:solidFill>
                      <a:srgbClr val="FF0000"/>
                    </a:solidFill>
                  </a:rPr>
                  <a:t> bias</a:t>
                </a:r>
                <a:endParaRPr lang="en-US" dirty="0">
                  <a:solidFill>
                    <a:srgbClr val="FF0000"/>
                  </a:solidFill>
                </a:endParaRPr>
              </a:p>
            </p:txBody>
          </p:sp>
        </mc:Choice>
        <mc:Fallback>
          <p:sp>
            <p:nvSpPr>
              <p:cNvPr id="4" name="Textplatzhalter 2"/>
              <p:cNvSpPr txBox="1">
                <a:spLocks noRot="1" noChangeAspect="1" noMove="1" noResize="1" noEditPoints="1" noAdjustHandles="1" noChangeArrowheads="1" noChangeShapeType="1" noTextEdit="1"/>
              </p:cNvSpPr>
              <p:nvPr/>
            </p:nvSpPr>
            <p:spPr bwMode="gray">
              <a:xfrm>
                <a:off x="533400" y="1022680"/>
                <a:ext cx="9982200" cy="1752600"/>
              </a:xfrm>
              <a:prstGeom prst="rect">
                <a:avLst/>
              </a:prstGeom>
              <a:blipFill rotWithShape="1">
                <a:blip r:embed="rId6"/>
                <a:stretch>
                  <a:fillRect t="-19" b="19"/>
                </a:stretch>
              </a:blipFill>
            </p:spPr>
            <p:txBody>
              <a:bodyPr/>
              <a:lstStyle/>
              <a:p>
                <a:r>
                  <a:rPr lang="zh-CN" altLang="en-US">
                    <a:noFill/>
                  </a:rPr>
                  <a:t> </a:t>
                </a:r>
              </a:p>
            </p:txBody>
          </p:sp>
        </mc:Fallback>
      </mc:AlternateContent>
      <p:pic>
        <p:nvPicPr>
          <p:cNvPr id="12" name="Picture 11"/>
          <p:cNvPicPr>
            <a:picLocks noChangeAspect="1"/>
          </p:cNvPicPr>
          <p:nvPr/>
        </p:nvPicPr>
        <p:blipFill>
          <a:blip r:embed="rId7"/>
          <a:stretch>
            <a:fillRect/>
          </a:stretch>
        </p:blipFill>
        <p:spPr>
          <a:xfrm>
            <a:off x="4037013" y="1414992"/>
            <a:ext cx="3582990" cy="368668"/>
          </a:xfrm>
          <a:prstGeom prst="rect">
            <a:avLst/>
          </a:prstGeom>
        </p:spPr>
      </p:pic>
      <p:sp>
        <p:nvSpPr>
          <p:cNvPr id="13" name="TextBox 12"/>
          <p:cNvSpPr txBox="1"/>
          <p:nvPr/>
        </p:nvSpPr>
        <p:spPr bwMode="gray">
          <a:xfrm>
            <a:off x="7576721" y="1447060"/>
            <a:ext cx="43282" cy="315920"/>
          </a:xfrm>
          <a:prstGeom prst="rect">
            <a:avLst/>
          </a:prstGeom>
          <a:noFill/>
        </p:spPr>
        <p:txBody>
          <a:bodyPr wrap="none" lIns="0" tIns="0" rIns="0" bIns="0" rtlCol="0">
            <a:spAutoFit/>
          </a:bodyPr>
          <a:lstStyle/>
          <a:p>
            <a:pPr algn="l">
              <a:lnSpc>
                <a:spcPct val="140000"/>
              </a:lnSpc>
            </a:pPr>
            <a:r>
              <a:rPr lang="en-US" sz="1600" dirty="0"/>
              <a:t>.</a:t>
            </a:r>
            <a:endParaRPr lang="en-US" sz="1600" dirty="0"/>
          </a:p>
        </p:txBody>
      </p:sp>
      <p:pic>
        <p:nvPicPr>
          <p:cNvPr id="20" name="Picture 19"/>
          <p:cNvPicPr>
            <a:picLocks noChangeAspect="1"/>
          </p:cNvPicPr>
          <p:nvPr/>
        </p:nvPicPr>
        <p:blipFill>
          <a:blip r:embed="rId8"/>
          <a:stretch>
            <a:fillRect/>
          </a:stretch>
        </p:blipFill>
        <p:spPr>
          <a:xfrm>
            <a:off x="4579871" y="5150603"/>
            <a:ext cx="3054507" cy="882695"/>
          </a:xfrm>
          <a:prstGeom prst="rect">
            <a:avLst/>
          </a:prstGeom>
        </p:spPr>
      </p:pic>
      <p:pic>
        <p:nvPicPr>
          <p:cNvPr id="25" name="Picture 24"/>
          <p:cNvPicPr>
            <a:picLocks noChangeAspect="1"/>
          </p:cNvPicPr>
          <p:nvPr/>
        </p:nvPicPr>
        <p:blipFill>
          <a:blip r:embed="rId9"/>
          <a:stretch>
            <a:fillRect/>
          </a:stretch>
        </p:blipFill>
        <p:spPr>
          <a:xfrm>
            <a:off x="8482024" y="5125824"/>
            <a:ext cx="3073558" cy="8572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9AA"/>
        </a:solidFill>
        <a:effectLst/>
      </p:bgPr>
    </p:bg>
    <p:spTree>
      <p:nvGrpSpPr>
        <p:cNvPr id="1" name=""/>
        <p:cNvGrpSpPr/>
        <p:nvPr/>
      </p:nvGrpSpPr>
      <p:grpSpPr>
        <a:xfrm>
          <a:off x="0" y="0"/>
          <a:ext cx="0" cy="0"/>
          <a:chOff x="0" y="0"/>
          <a:chExt cx="0" cy="0"/>
        </a:xfrm>
      </p:grpSpPr>
      <p:sp>
        <p:nvSpPr>
          <p:cNvPr id="8" name="Titel 7"/>
          <p:cNvSpPr>
            <a:spLocks noGrp="1"/>
          </p:cNvSpPr>
          <p:nvPr>
            <p:ph type="title"/>
          </p:nvPr>
        </p:nvSpPr>
        <p:spPr bwMode="gray"/>
        <p:txBody>
          <a:bodyPr/>
          <a:lstStyle/>
          <a:p>
            <a:r>
              <a:rPr lang="en-US" noProof="0" dirty="0"/>
              <a:t>Real-Data Analysis</a:t>
            </a:r>
            <a:endParaRPr lang="en-US" noProof="0" dirty="0"/>
          </a:p>
        </p:txBody>
      </p:sp>
      <p:sp>
        <p:nvSpPr>
          <p:cNvPr id="2" name="Foliennummernplatzhalter 1"/>
          <p:cNvSpPr>
            <a:spLocks noGrp="1"/>
          </p:cNvSpPr>
          <p:nvPr>
            <p:ph type="sldNum" sz="quarter" idx="16"/>
          </p:nvPr>
        </p:nvSpPr>
        <p:spPr/>
        <p:txBody>
          <a:bodyPr/>
          <a:lstStyle/>
          <a:p>
            <a:fld id="{8FF9B0DE-3FEB-4AA0-B465-B80EF7C1333D}" type="slidenum">
              <a:rPr lang="en-US" noProof="0" smtClean="0"/>
            </a:fld>
            <a:endParaRPr lang="en-US" noProof="0" dirty="0"/>
          </a:p>
        </p:txBody>
      </p:sp>
      <p:sp>
        <p:nvSpPr>
          <p:cNvPr id="5" name="Fußzeilenplatzhalter 4"/>
          <p:cNvSpPr>
            <a:spLocks noGrp="1"/>
          </p:cNvSpPr>
          <p:nvPr>
            <p:ph type="ftr" sz="quarter" idx="19"/>
          </p:nvPr>
        </p:nvSpPr>
        <p:spPr bwMode="gray"/>
        <p:txBody>
          <a:bodyPr/>
          <a:lstStyle/>
          <a:p>
            <a:r>
              <a:rPr lang="en-US" noProof="0" dirty="0"/>
              <a:t>Slide library     |     ONLY FOR INTERNAL USE</a:t>
            </a:r>
            <a:endParaRPr lang="en-US" noProof="0" dirty="0"/>
          </a:p>
        </p:txBody>
      </p:sp>
      <p:pic>
        <p:nvPicPr>
          <p:cNvPr id="10" name="Grafik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24192" y="1588902"/>
            <a:ext cx="3712306" cy="3712306"/>
          </a:xfrm>
          <a:prstGeom prst="rect">
            <a:avLst/>
          </a:prstGeom>
        </p:spPr>
      </p:pic>
      <p:grpSp>
        <p:nvGrpSpPr>
          <p:cNvPr id="3" name="Group 2"/>
          <p:cNvGrpSpPr>
            <a:grpSpLocks noGrp="1" noRot="1" noMove="1" noResize="1" noUngrp="1"/>
          </p:cNvGrpSpPr>
          <p:nvPr/>
        </p:nvGrpSpPr>
        <p:grpSpPr>
          <a:xfrm>
            <a:off x="12399976" y="-1"/>
            <a:ext cx="2743200" cy="4951649"/>
            <a:chOff x="12399976" y="-1"/>
            <a:chExt cx="2743200" cy="4951649"/>
          </a:xfrm>
        </p:grpSpPr>
        <p:sp>
          <p:nvSpPr>
            <p:cNvPr id="4" name="TextBox 7"/>
            <p:cNvSpPr txBox="1">
              <a:spLocks noGrp="1" noRot="1" noMove="1" noResize="1" noEditPoints="1" noAdjustHandles="1" noChangeArrowheads="1" noChangeShapeType="1"/>
            </p:cNvSpPr>
            <p:nvPr/>
          </p:nvSpPr>
          <p:spPr bwMode="gray">
            <a:xfrm>
              <a:off x="12399976" y="-1"/>
              <a:ext cx="2743200" cy="4951649"/>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noProof="0" dirty="0">
                  <a:effectLst/>
                  <a:latin typeface="+mj-lt"/>
                </a:rPr>
                <a:t>To change the illustration:</a:t>
              </a:r>
              <a:endParaRPr lang="en-US" sz="1100" b="1" noProof="0" dirty="0">
                <a:effectLst/>
                <a:latin typeface="+mj-lt"/>
              </a:endParaRPr>
            </a:p>
            <a:p>
              <a:pPr marL="144145" indent="-144145">
                <a:lnSpc>
                  <a:spcPct val="120000"/>
                </a:lnSpc>
                <a:spcAft>
                  <a:spcPts val="600"/>
                </a:spcAft>
                <a:buFont typeface="+mj-lt"/>
                <a:buAutoNum type="arabicPeriod"/>
              </a:pPr>
              <a:r>
                <a:rPr lang="en-US" sz="900" noProof="0" dirty="0"/>
                <a:t>Choose a standalone illustration from our Brand Hub and download it as an SVG in the appropriate color:</a:t>
              </a:r>
              <a:br>
                <a:rPr lang="en-US" sz="900" noProof="0" dirty="0"/>
              </a:br>
              <a:r>
                <a:rPr lang="en-US" sz="900" noProof="0" dirty="0">
                  <a:hlinkClick r:id="rId3"/>
                </a:rPr>
                <a:t>Go to the illustration library ↗</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Click on the existing illustration.</a:t>
              </a:r>
              <a:endParaRPr lang="en-US" sz="900" noProof="0" dirty="0"/>
            </a:p>
            <a:p>
              <a:pPr marL="144145" indent="-144145">
                <a:lnSpc>
                  <a:spcPct val="120000"/>
                </a:lnSpc>
                <a:spcAft>
                  <a:spcPts val="600"/>
                </a:spcAft>
                <a:buFont typeface="+mj-lt"/>
                <a:buAutoNum type="arabicPeriod"/>
              </a:pPr>
              <a:r>
                <a:rPr lang="en-US" sz="900" noProof="0" dirty="0"/>
                <a:t>Open the menu ‘Graphics Format’.</a:t>
              </a:r>
              <a:endParaRPr lang="en-US" sz="900" noProof="0" dirty="0"/>
            </a:p>
            <a:p>
              <a:pPr marL="144145" indent="-144145">
                <a:lnSpc>
                  <a:spcPct val="120000"/>
                </a:lnSpc>
                <a:spcAft>
                  <a:spcPts val="600"/>
                </a:spcAft>
                <a:buFont typeface="+mj-lt"/>
                <a:buAutoNum type="arabicPeriod"/>
              </a:pPr>
              <a:r>
                <a:rPr lang="en-US" sz="900" noProof="0" dirty="0"/>
                <a:t>Choose ‘Change Graphic’ and then the corresponding source where the illustration is located.</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Now the illustration has been loaded into the </a:t>
              </a:r>
              <a:br>
                <a:rPr lang="en-US" sz="900" noProof="0" dirty="0"/>
              </a:br>
              <a:r>
                <a:rPr lang="en-US" sz="900" noProof="0" dirty="0"/>
                <a:t>placeholder.</a:t>
              </a:r>
              <a:endParaRPr lang="en-US" sz="900" noProof="0" dirty="0"/>
            </a:p>
          </p:txBody>
        </p:sp>
        <p:pic>
          <p:nvPicPr>
            <p:cNvPr id="6" name="Picture 5"/>
            <p:cNvPicPr>
              <a:picLocks noGrp="1" noRot="1" noMove="1" noResize="1" noEditPoints="1" noAdjustHandles="1" noChangeArrowheads="1" noChangeShapeType="1" noCrop="1"/>
            </p:cNvPicPr>
            <p:nvPr userDrawn="1"/>
          </p:nvPicPr>
          <p:blipFill>
            <a:blip r:embed="rId4"/>
            <a:stretch>
              <a:fillRect/>
            </a:stretch>
          </p:blipFill>
          <p:spPr>
            <a:xfrm>
              <a:off x="12648728" y="3356992"/>
              <a:ext cx="1080120" cy="984668"/>
            </a:xfrm>
            <a:prstGeom prst="rect">
              <a:avLst/>
            </a:prstGeom>
          </p:spPr>
        </p:pic>
        <p:pic>
          <p:nvPicPr>
            <p:cNvPr id="18" name="Picture 17"/>
            <p:cNvPicPr>
              <a:picLocks noGrp="1" noRot="1" noChangeAspect="1" noMove="1" noResize="1" noEditPoints="1" noAdjustHandles="1" noChangeArrowheads="1" noChangeShapeType="1" noCrop="1"/>
            </p:cNvPicPr>
            <p:nvPr/>
          </p:nvPicPr>
          <p:blipFill rotWithShape="1">
            <a:blip r:embed="rId5"/>
            <a:srcRect b="-2425"/>
            <a:stretch>
              <a:fillRect/>
            </a:stretch>
          </p:blipFill>
          <p:spPr>
            <a:xfrm>
              <a:off x="12648728" y="1143000"/>
              <a:ext cx="2376264" cy="984668"/>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3"/>
          <p:cNvGrpSpPr/>
          <p:nvPr/>
        </p:nvGrpSpPr>
        <p:grpSpPr>
          <a:xfrm>
            <a:off x="3589868" y="381000"/>
            <a:ext cx="5012266" cy="606568"/>
            <a:chOff x="0" y="0"/>
            <a:chExt cx="19541547" cy="1002592"/>
          </a:xfrm>
        </p:grpSpPr>
        <p:grpSp>
          <p:nvGrpSpPr>
            <p:cNvPr id="7" name="Group 4"/>
            <p:cNvGrpSpPr/>
            <p:nvPr/>
          </p:nvGrpSpPr>
          <p:grpSpPr>
            <a:xfrm>
              <a:off x="0" y="0"/>
              <a:ext cx="19541547" cy="1002592"/>
              <a:chOff x="0" y="0"/>
              <a:chExt cx="10127819" cy="519615"/>
            </a:xfrm>
          </p:grpSpPr>
          <p:sp>
            <p:nvSpPr>
              <p:cNvPr id="9"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sz="1200"/>
              </a:p>
            </p:txBody>
          </p:sp>
          <p:sp>
            <p:nvSpPr>
              <p:cNvPr id="10" name="TextBox 6"/>
              <p:cNvSpPr txBox="1"/>
              <p:nvPr/>
            </p:nvSpPr>
            <p:spPr>
              <a:xfrm>
                <a:off x="0" y="-38100"/>
                <a:ext cx="10127819" cy="557715"/>
              </a:xfrm>
              <a:prstGeom prst="rect">
                <a:avLst/>
              </a:prstGeom>
            </p:spPr>
            <p:txBody>
              <a:bodyPr lIns="33867" tIns="33867" rIns="33867" bIns="33867" rtlCol="0" anchor="ctr"/>
              <a:lstStyle/>
              <a:p>
                <a:pPr algn="ctr">
                  <a:lnSpc>
                    <a:spcPts val="1775"/>
                  </a:lnSpc>
                  <a:spcBef>
                    <a:spcPct val="0"/>
                  </a:spcBef>
                </a:pPr>
                <a:endParaRPr sz="1200"/>
              </a:p>
            </p:txBody>
          </p:sp>
        </p:grpSp>
        <p:sp>
          <p:nvSpPr>
            <p:cNvPr id="8" name="TextBox 7"/>
            <p:cNvSpPr txBox="1"/>
            <p:nvPr/>
          </p:nvSpPr>
          <p:spPr>
            <a:xfrm>
              <a:off x="1481394" y="223742"/>
              <a:ext cx="16578758" cy="572312"/>
            </a:xfrm>
            <a:prstGeom prst="rect">
              <a:avLst/>
            </a:prstGeom>
          </p:spPr>
          <p:txBody>
            <a:bodyPr lIns="0" tIns="0" rIns="0" bIns="0" rtlCol="0" anchor="t">
              <a:spAutoFit/>
            </a:bodyPr>
            <a:lstStyle/>
            <a:p>
              <a:pPr algn="ctr">
                <a:lnSpc>
                  <a:spcPts val="2710"/>
                </a:lnSpc>
              </a:pPr>
              <a:r>
                <a:rPr lang="en-US" sz="2605" dirty="0">
                  <a:solidFill>
                    <a:srgbClr val="FFFFFF"/>
                  </a:solidFill>
                  <a:latin typeface="League Gothic" panose="020B0604020202020204"/>
                  <a:ea typeface="League Gothic" panose="020B0604020202020204"/>
                  <a:cs typeface="League Gothic" panose="020B0604020202020204"/>
                  <a:sym typeface="League Gothic" panose="020B0604020202020204"/>
                </a:rPr>
                <a:t>BI Phase II &amp; Phase III Trials</a:t>
              </a:r>
              <a:endParaRPr lang="en-US" sz="2605" dirty="0">
                <a:solidFill>
                  <a:srgbClr val="FFFFFF"/>
                </a:solidFill>
                <a:latin typeface="League Gothic" panose="020B0604020202020204"/>
                <a:ea typeface="League Gothic" panose="020B0604020202020204"/>
                <a:cs typeface="League Gothic" panose="020B0604020202020204"/>
                <a:sym typeface="League Gothic" panose="020B0604020202020204"/>
              </a:endParaRPr>
            </a:p>
          </p:txBody>
        </p:sp>
      </p:grpSp>
      <p:grpSp>
        <p:nvGrpSpPr>
          <p:cNvPr id="18" name="Group 3"/>
          <p:cNvGrpSpPr/>
          <p:nvPr/>
        </p:nvGrpSpPr>
        <p:grpSpPr>
          <a:xfrm>
            <a:off x="1865468" y="2159001"/>
            <a:ext cx="9608193" cy="1054315"/>
            <a:chOff x="0" y="0"/>
            <a:chExt cx="4090226" cy="493707"/>
          </a:xfrm>
        </p:grpSpPr>
        <p:sp>
          <p:nvSpPr>
            <p:cNvPr id="19" name="Freeform 4"/>
            <p:cNvSpPr/>
            <p:nvPr/>
          </p:nvSpPr>
          <p:spPr>
            <a:xfrm>
              <a:off x="0" y="0"/>
              <a:ext cx="4090226" cy="493707"/>
            </a:xfrm>
            <a:custGeom>
              <a:avLst/>
              <a:gdLst/>
              <a:ahLst/>
              <a:cxnLst/>
              <a:rect l="l" t="t" r="r" b="b"/>
              <a:pathLst>
                <a:path w="4090226" h="493707">
                  <a:moveTo>
                    <a:pt x="0" y="0"/>
                  </a:moveTo>
                  <a:lnTo>
                    <a:pt x="4090226" y="0"/>
                  </a:lnTo>
                  <a:lnTo>
                    <a:pt x="4090226" y="493707"/>
                  </a:lnTo>
                  <a:lnTo>
                    <a:pt x="0" y="493707"/>
                  </a:lnTo>
                  <a:close/>
                </a:path>
              </a:pathLst>
            </a:custGeom>
            <a:noFill/>
            <a:ln>
              <a:noFill/>
            </a:ln>
          </p:spPr>
          <p:txBody>
            <a:bodyPr/>
            <a:lstStyle/>
            <a:p>
              <a:endParaRPr lang="en-US" sz="1200"/>
            </a:p>
          </p:txBody>
        </p:sp>
        <p:sp>
          <p:nvSpPr>
            <p:cNvPr id="20" name="TextBox 5"/>
            <p:cNvSpPr txBox="1"/>
            <p:nvPr/>
          </p:nvSpPr>
          <p:spPr>
            <a:xfrm>
              <a:off x="0" y="-57150"/>
              <a:ext cx="4090226" cy="550857"/>
            </a:xfrm>
            <a:prstGeom prst="rect">
              <a:avLst/>
            </a:prstGeom>
          </p:spPr>
          <p:txBody>
            <a:bodyPr lIns="33867" tIns="33867" rIns="33867" bIns="33867" rtlCol="0" anchor="ctr"/>
            <a:lstStyle/>
            <a:p>
              <a:pPr algn="ctr">
                <a:lnSpc>
                  <a:spcPts val="1800"/>
                </a:lnSpc>
              </a:pPr>
              <a:endParaRPr sz="1200"/>
            </a:p>
          </p:txBody>
        </p:sp>
      </p:grpSp>
      <p:grpSp>
        <p:nvGrpSpPr>
          <p:cNvPr id="22" name="Group 7"/>
          <p:cNvGrpSpPr/>
          <p:nvPr/>
        </p:nvGrpSpPr>
        <p:grpSpPr>
          <a:xfrm>
            <a:off x="1865468" y="3401845"/>
            <a:ext cx="9608193" cy="595134"/>
            <a:chOff x="0" y="0"/>
            <a:chExt cx="4090226" cy="493707"/>
          </a:xfrm>
        </p:grpSpPr>
        <p:sp>
          <p:nvSpPr>
            <p:cNvPr id="23" name="Freeform 8"/>
            <p:cNvSpPr/>
            <p:nvPr/>
          </p:nvSpPr>
          <p:spPr>
            <a:xfrm>
              <a:off x="0" y="0"/>
              <a:ext cx="4090226" cy="493707"/>
            </a:xfrm>
            <a:custGeom>
              <a:avLst/>
              <a:gdLst/>
              <a:ahLst/>
              <a:cxnLst/>
              <a:rect l="l" t="t" r="r" b="b"/>
              <a:pathLst>
                <a:path w="4090226" h="493707">
                  <a:moveTo>
                    <a:pt x="0" y="0"/>
                  </a:moveTo>
                  <a:lnTo>
                    <a:pt x="4090226" y="0"/>
                  </a:lnTo>
                  <a:lnTo>
                    <a:pt x="4090226" y="493707"/>
                  </a:lnTo>
                  <a:lnTo>
                    <a:pt x="0" y="493707"/>
                  </a:lnTo>
                  <a:close/>
                </a:path>
              </a:pathLst>
            </a:custGeom>
            <a:noFill/>
          </p:spPr>
          <p:txBody>
            <a:bodyPr/>
            <a:lstStyle/>
            <a:p>
              <a:endParaRPr lang="en-US" sz="1200"/>
            </a:p>
          </p:txBody>
        </p:sp>
        <p:sp>
          <p:nvSpPr>
            <p:cNvPr id="24" name="TextBox 9"/>
            <p:cNvSpPr txBox="1"/>
            <p:nvPr/>
          </p:nvSpPr>
          <p:spPr>
            <a:xfrm>
              <a:off x="0" y="-57150"/>
              <a:ext cx="4090226" cy="550857"/>
            </a:xfrm>
            <a:prstGeom prst="rect">
              <a:avLst/>
            </a:prstGeom>
          </p:spPr>
          <p:txBody>
            <a:bodyPr lIns="33867" tIns="33867" rIns="33867" bIns="33867" rtlCol="0" anchor="ctr"/>
            <a:lstStyle/>
            <a:p>
              <a:pPr algn="ctr">
                <a:lnSpc>
                  <a:spcPts val="1800"/>
                </a:lnSpc>
              </a:pPr>
              <a:endParaRPr sz="1200"/>
            </a:p>
          </p:txBody>
        </p:sp>
      </p:grpSp>
      <p:sp>
        <p:nvSpPr>
          <p:cNvPr id="28" name="TextBox 13"/>
          <p:cNvSpPr txBox="1"/>
          <p:nvPr/>
        </p:nvSpPr>
        <p:spPr>
          <a:xfrm>
            <a:off x="1865468" y="4116840"/>
            <a:ext cx="9608193" cy="664025"/>
          </a:xfrm>
          <a:prstGeom prst="rect">
            <a:avLst/>
          </a:prstGeom>
        </p:spPr>
        <p:txBody>
          <a:bodyPr lIns="33867" tIns="33867" rIns="33867" bIns="33867" rtlCol="0" anchor="ctr"/>
          <a:lstStyle/>
          <a:p>
            <a:pPr algn="ctr">
              <a:lnSpc>
                <a:spcPts val="1800"/>
              </a:lnSpc>
            </a:pPr>
            <a:endParaRPr sz="1200"/>
          </a:p>
        </p:txBody>
      </p:sp>
      <p:sp>
        <p:nvSpPr>
          <p:cNvPr id="31" name="TextBox 16"/>
          <p:cNvSpPr txBox="1"/>
          <p:nvPr/>
        </p:nvSpPr>
        <p:spPr>
          <a:xfrm>
            <a:off x="1865468" y="4809186"/>
            <a:ext cx="9608193" cy="1176359"/>
          </a:xfrm>
          <a:prstGeom prst="rect">
            <a:avLst/>
          </a:prstGeom>
        </p:spPr>
        <p:txBody>
          <a:bodyPr lIns="33867" tIns="33867" rIns="33867" bIns="33867" rtlCol="0" anchor="ctr"/>
          <a:lstStyle/>
          <a:p>
            <a:pPr algn="ctr">
              <a:lnSpc>
                <a:spcPts val="1800"/>
              </a:lnSpc>
            </a:pPr>
            <a:endParaRPr sz="1200"/>
          </a:p>
        </p:txBody>
      </p:sp>
      <p:sp>
        <p:nvSpPr>
          <p:cNvPr id="46" name="Freeform 31"/>
          <p:cNvSpPr/>
          <p:nvPr/>
        </p:nvSpPr>
        <p:spPr>
          <a:xfrm>
            <a:off x="1144393" y="4881038"/>
            <a:ext cx="620778" cy="467911"/>
          </a:xfrm>
          <a:custGeom>
            <a:avLst/>
            <a:gdLst/>
            <a:ahLst/>
            <a:cxnLst/>
            <a:rect l="l" t="t" r="r" b="b"/>
            <a:pathLst>
              <a:path w="931167" h="701867">
                <a:moveTo>
                  <a:pt x="0" y="0"/>
                </a:moveTo>
                <a:lnTo>
                  <a:pt x="931167" y="0"/>
                </a:lnTo>
                <a:lnTo>
                  <a:pt x="931167" y="701867"/>
                </a:lnTo>
                <a:lnTo>
                  <a:pt x="0" y="70186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US" sz="1200"/>
          </a:p>
        </p:txBody>
      </p:sp>
      <p:sp>
        <p:nvSpPr>
          <p:cNvPr id="47" name="Freeform 32"/>
          <p:cNvSpPr/>
          <p:nvPr/>
        </p:nvSpPr>
        <p:spPr>
          <a:xfrm>
            <a:off x="1161615" y="2968068"/>
            <a:ext cx="586334" cy="533031"/>
          </a:xfrm>
          <a:custGeom>
            <a:avLst/>
            <a:gdLst/>
            <a:ahLst/>
            <a:cxnLst/>
            <a:rect l="l" t="t" r="r" b="b"/>
            <a:pathLst>
              <a:path w="879501" h="879501">
                <a:moveTo>
                  <a:pt x="0" y="0"/>
                </a:moveTo>
                <a:lnTo>
                  <a:pt x="879501" y="0"/>
                </a:lnTo>
                <a:lnTo>
                  <a:pt x="879501" y="879501"/>
                </a:lnTo>
                <a:lnTo>
                  <a:pt x="0" y="8795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48" name="TextBox 33"/>
          <p:cNvSpPr txBox="1"/>
          <p:nvPr/>
        </p:nvSpPr>
        <p:spPr>
          <a:xfrm>
            <a:off x="1977232" y="2988886"/>
            <a:ext cx="9254517" cy="1811714"/>
          </a:xfrm>
          <a:prstGeom prst="rect">
            <a:avLst/>
          </a:prstGeom>
        </p:spPr>
        <p:txBody>
          <a:bodyPr wrap="square" lIns="0" tIns="0" rIns="0" bIns="0" rtlCol="0" anchor="t">
            <a:spAutoFit/>
          </a:bodyPr>
          <a:lstStyle/>
          <a:p>
            <a:pPr marL="285750" indent="-285750" algn="just">
              <a:lnSpc>
                <a:spcPct val="150000"/>
              </a:lnSpc>
              <a:buFont typeface="Arial" panose="020B0604020202020204" pitchFamily="34" charset="0"/>
              <a:buChar char="•"/>
            </a:pPr>
            <a:r>
              <a:rPr lang="en-US" sz="1600" dirty="0">
                <a:ea typeface="Roboto" panose="02000000000000000000"/>
                <a:cs typeface="Roboto" panose="02000000000000000000"/>
                <a:sym typeface="Roboto" panose="02000000000000000000"/>
              </a:rPr>
              <a:t>Phase II Trial: Proof-of-concept and dose-finding study of </a:t>
            </a:r>
            <a:r>
              <a:rPr lang="en-US" sz="1600" u="sng" dirty="0">
                <a:ea typeface="Roboto" panose="02000000000000000000"/>
                <a:cs typeface="Roboto" panose="02000000000000000000"/>
                <a:sym typeface="Roboto" panose="02000000000000000000"/>
              </a:rPr>
              <a:t>BI 425809 versus placebo </a:t>
            </a:r>
            <a:r>
              <a:rPr lang="en-US" sz="1600" dirty="0">
                <a:ea typeface="Roboto" panose="02000000000000000000"/>
                <a:cs typeface="Roboto" panose="02000000000000000000"/>
                <a:sym typeface="Roboto" panose="02000000000000000000"/>
              </a:rPr>
              <a:t>in patients with schizophrenia, where primary endpoint was change from baseline to Week 12 in MCCB overall composite T-score. </a:t>
            </a:r>
            <a:endParaRPr lang="en-US" sz="1600" dirty="0">
              <a:ea typeface="Roboto" panose="02000000000000000000"/>
              <a:cs typeface="Roboto" panose="02000000000000000000"/>
              <a:sym typeface="Roboto" panose="02000000000000000000"/>
            </a:endParaRPr>
          </a:p>
          <a:p>
            <a:pPr marL="285750" indent="-285750" algn="just">
              <a:lnSpc>
                <a:spcPct val="150000"/>
              </a:lnSpc>
              <a:buFont typeface="Arial" panose="020B0604020202020204" pitchFamily="34" charset="0"/>
              <a:buChar char="•"/>
            </a:pPr>
            <a:r>
              <a:rPr lang="en-US" sz="1600" dirty="0">
                <a:ea typeface="Roboto" panose="02000000000000000000"/>
                <a:cs typeface="Roboto" panose="02000000000000000000"/>
                <a:sym typeface="Roboto" panose="02000000000000000000"/>
              </a:rPr>
              <a:t>Phase III Trials: Three studies evaluating the efficacy of </a:t>
            </a:r>
            <a:r>
              <a:rPr lang="en-US" sz="1600" u="sng" dirty="0">
                <a:ea typeface="Roboto" panose="02000000000000000000"/>
                <a:cs typeface="Roboto" panose="02000000000000000000"/>
                <a:sym typeface="Roboto" panose="02000000000000000000"/>
              </a:rPr>
              <a:t>BI 425809 (10 mg)</a:t>
            </a:r>
            <a:r>
              <a:rPr lang="en-US" sz="1600" dirty="0">
                <a:ea typeface="Roboto" panose="02000000000000000000"/>
                <a:cs typeface="Roboto" panose="02000000000000000000"/>
                <a:sym typeface="Roboto" panose="02000000000000000000"/>
              </a:rPr>
              <a:t> in improving cognitive impairment in schizophrenia over 26 weeks </a:t>
            </a:r>
            <a:r>
              <a:rPr lang="en-US" sz="1600" u="sng" dirty="0">
                <a:ea typeface="Roboto" panose="02000000000000000000"/>
                <a:cs typeface="Roboto" panose="02000000000000000000"/>
                <a:sym typeface="Roboto" panose="02000000000000000000"/>
              </a:rPr>
              <a:t>compared with placebo </a:t>
            </a:r>
            <a:r>
              <a:rPr lang="en-US" sz="1600" dirty="0">
                <a:ea typeface="Roboto" panose="02000000000000000000"/>
                <a:cs typeface="Roboto" panose="02000000000000000000"/>
                <a:sym typeface="Roboto" panose="02000000000000000000"/>
              </a:rPr>
              <a:t>using MCCB.</a:t>
            </a:r>
            <a:endParaRPr lang="en-US" sz="1600" dirty="0">
              <a:ea typeface="Roboto" panose="02000000000000000000"/>
              <a:cs typeface="Roboto" panose="02000000000000000000"/>
              <a:sym typeface="Roboto" panose="02000000000000000000"/>
            </a:endParaRPr>
          </a:p>
        </p:txBody>
      </p:sp>
      <p:sp>
        <p:nvSpPr>
          <p:cNvPr id="51" name="TextBox 36"/>
          <p:cNvSpPr txBox="1"/>
          <p:nvPr/>
        </p:nvSpPr>
        <p:spPr>
          <a:xfrm>
            <a:off x="1977232" y="4881038"/>
            <a:ext cx="9221613" cy="1367362"/>
          </a:xfrm>
          <a:prstGeom prst="rect">
            <a:avLst/>
          </a:prstGeom>
        </p:spPr>
        <p:txBody>
          <a:bodyPr wrap="square" lIns="0" tIns="0" rIns="0" bIns="0" rtlCol="0" anchor="t">
            <a:spAutoFit/>
          </a:bodyPr>
          <a:lstStyle/>
          <a:p>
            <a:pPr algn="just">
              <a:lnSpc>
                <a:spcPct val="150000"/>
              </a:lnSpc>
            </a:pPr>
            <a:r>
              <a:rPr lang="en-US" sz="1600" b="1" dirty="0">
                <a:ea typeface="Roboto" panose="02000000000000000000"/>
                <a:cs typeface="Roboto" panose="02000000000000000000"/>
                <a:sym typeface="Roboto" panose="02000000000000000000"/>
              </a:rPr>
              <a:t>Results:</a:t>
            </a:r>
            <a:r>
              <a:rPr lang="en-US" sz="1600" dirty="0">
                <a:ea typeface="Roboto" panose="02000000000000000000"/>
                <a:cs typeface="Roboto" panose="02000000000000000000"/>
                <a:sym typeface="Roboto" panose="02000000000000000000"/>
              </a:rPr>
              <a:t> The </a:t>
            </a:r>
            <a:r>
              <a:rPr lang="en-US" sz="1600" dirty="0"/>
              <a:t>Phase II study showed a positive treatment effect (p-value &lt; 0.05), but all three subsequent Phase III trials did not demonstrate a statistically significant treatment effect (p-values &gt; 0.05).</a:t>
            </a:r>
            <a:endParaRPr lang="en-US" sz="1600" dirty="0"/>
          </a:p>
          <a:p>
            <a:pPr algn="just">
              <a:lnSpc>
                <a:spcPts val="2110"/>
              </a:lnSpc>
            </a:pPr>
            <a:r>
              <a:rPr lang="en-US" sz="1600" dirty="0">
                <a:ea typeface="Roboto" panose="02000000000000000000"/>
                <a:cs typeface="Roboto" panose="02000000000000000000"/>
                <a:sym typeface="Roboto" panose="02000000000000000000"/>
              </a:rPr>
              <a:t> </a:t>
            </a:r>
            <a:endParaRPr lang="en-US" sz="1600" dirty="0">
              <a:ea typeface="Roboto" panose="02000000000000000000"/>
              <a:cs typeface="Roboto" panose="02000000000000000000"/>
              <a:sym typeface="Roboto" panose="0200000000000000000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2190413" y="1342869"/>
              <a:ext cx="8153052" cy="1138266"/>
            </p:xfrm>
            <a:graphic>
              <a:graphicData uri="http://schemas.openxmlformats.org/drawingml/2006/table">
                <a:tbl>
                  <a:tblPr firstRow="1" bandRow="1">
                    <a:tableStyleId>{5C22544A-7EE6-4342-B048-85BDC9FD1C3A}</a:tableStyleId>
                  </a:tblPr>
                  <a:tblGrid>
                    <a:gridCol w="1780879"/>
                    <a:gridCol w="1480221"/>
                    <a:gridCol w="1630730"/>
                    <a:gridCol w="1630611"/>
                    <a:gridCol w="1630611"/>
                  </a:tblGrid>
                  <a:tr h="379422">
                    <a:tc>
                      <a:txBody>
                        <a:bodyPr/>
                        <a:lstStyle/>
                        <a:p>
                          <a:pPr algn="ct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cap="none" baseline="0" noProof="0" dirty="0">
                              <a:solidFill>
                                <a:schemeClr val="tx1"/>
                              </a:solidFill>
                              <a:latin typeface="+mn-lt"/>
                            </a:rPr>
                            <a:t>Phase II</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Phase III</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32700" marR="132700" marT="49763" marB="4976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9422">
                    <a:tc>
                      <a:txBody>
                        <a:bodyPr/>
                        <a:lstStyle/>
                        <a:p>
                          <a:pPr algn="ctr"/>
                          <a:r>
                            <a:rPr lang="en-US" sz="1300" b="1" cap="none" baseline="0" noProof="0" dirty="0">
                              <a:solidFill>
                                <a:schemeClr val="tx1"/>
                              </a:solidFill>
                              <a:latin typeface="+mn-lt"/>
                            </a:rPr>
                            <a:t>Trial</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cap="none" baseline="0" noProof="0" dirty="0">
                              <a:solidFill>
                                <a:schemeClr val="tx1"/>
                              </a:solidFill>
                              <a:latin typeface="+mn-lt"/>
                            </a:rPr>
                            <a:t>1349-0009</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1349-0011</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1349-0012</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1349-0013</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9422">
                    <a:tc>
                      <a:txBody>
                        <a:bodyPr/>
                        <a:lstStyle/>
                        <a:p>
                          <a:pPr algn="ctr"/>
                          <a14:m>
                            <m:oMath xmlns:m="http://schemas.openxmlformats.org/officeDocument/2006/math">
                              <m:acc>
                                <m:accPr>
                                  <m:ctrlPr>
                                    <a:rPr lang="en-US" sz="1300" i="1" dirty="0" smtClean="0">
                                      <a:solidFill>
                                        <a:schemeClr val="tx1"/>
                                      </a:solidFill>
                                      <a:latin typeface="Cambria Math" panose="02040503050406030204" pitchFamily="18" charset="0"/>
                                    </a:rPr>
                                  </m:ctrlPr>
                                </m:accPr>
                                <m:e>
                                  <m:r>
                                    <m:rPr>
                                      <m:sty m:val="p"/>
                                    </m:rPr>
                                    <a:rPr lang="en-US" sz="1300" dirty="0">
                                      <a:solidFill>
                                        <a:schemeClr val="tx1"/>
                                      </a:solidFill>
                                      <a:latin typeface="Cambria Math" panose="02040503050406030204" pitchFamily="18" charset="0"/>
                                    </a:rPr>
                                    <m:t>Δ</m:t>
                                  </m:r>
                                </m:e>
                              </m:acc>
                              <m:r>
                                <m:rPr>
                                  <m:nor/>
                                </m:rPr>
                                <a:rPr lang="en-US" sz="1300" b="0" i="0" dirty="0" smtClean="0">
                                  <a:solidFill>
                                    <a:schemeClr val="tx1"/>
                                  </a:solidFill>
                                  <a:latin typeface="Cambria Math" panose="02040503050406030204" pitchFamily="18" charset="0"/>
                                </a:rPr>
                                <m:t> </m:t>
                              </m:r>
                              <m:r>
                                <m:rPr>
                                  <m:nor/>
                                </m:rPr>
                                <a:rPr kumimoji="0" lang="en-US" sz="1300" b="0" i="0" u="none" strike="noStrike" kern="1200" cap="none" spc="0" normalizeH="0" baseline="0" noProof="0" dirty="0" smtClean="0">
                                  <a:ln>
                                    <a:noFill/>
                                  </a:ln>
                                  <a:solidFill>
                                    <a:schemeClr val="tx1"/>
                                  </a:solidFill>
                                  <a:effectLst/>
                                  <a:uLnTx/>
                                  <a:uFillTx/>
                                  <a:latin typeface="+mn-lt"/>
                                  <a:ea typeface="+mn-ea"/>
                                  <a:cs typeface="+mn-cs"/>
                                </a:rPr>
                                <m:t>±</m:t>
                              </m:r>
                              <m:r>
                                <m:rPr>
                                  <m:nor/>
                                </m:rPr>
                                <a:rPr kumimoji="0" lang="en-US" sz="1300" b="0" i="0" u="none" strike="noStrike" kern="1200" cap="none" spc="0" normalizeH="0" baseline="0" noProof="0" dirty="0" smtClean="0">
                                  <a:ln>
                                    <a:noFill/>
                                  </a:ln>
                                  <a:solidFill>
                                    <a:schemeClr val="tx1"/>
                                  </a:solidFill>
                                  <a:effectLst/>
                                  <a:uLnTx/>
                                  <a:uFillTx/>
                                  <a:latin typeface="+mn-lt"/>
                                  <a:ea typeface="+mn-ea"/>
                                  <a:cs typeface="+mn-cs"/>
                                </a:rPr>
                                <m:t> </m:t>
                              </m:r>
                              <m:r>
                                <a:rPr lang="en-US" sz="1300" b="0" i="1" dirty="0" smtClean="0">
                                  <a:solidFill>
                                    <a:schemeClr val="tx1"/>
                                  </a:solidFill>
                                  <a:latin typeface="Cambria Math" panose="02040503050406030204" pitchFamily="18" charset="0"/>
                                </a:rPr>
                                <m:t>𝑆𝐸</m:t>
                              </m:r>
                            </m:oMath>
                          </a14:m>
                          <a:r>
                            <a:rPr lang="en-US" sz="1300" noProof="0" dirty="0">
                              <a:solidFill>
                                <a:schemeClr val="tx1"/>
                              </a:solidFill>
                              <a:latin typeface="+mn-lt"/>
                            </a:rPr>
                            <a:t> </a:t>
                          </a:r>
                          <a:endParaRPr lang="en-US" sz="130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r>
                            <a:rPr lang="en-US" sz="1300" noProof="0" dirty="0">
                              <a:solidFill>
                                <a:srgbClr val="FF0000"/>
                              </a:solidFill>
                              <a:latin typeface="+mn-lt"/>
                            </a:rPr>
                            <a:t>1.45 </a:t>
                          </a:r>
                          <a:r>
                            <a:rPr kumimoji="0" lang="en-US" sz="1300" b="0" i="0" u="none" strike="noStrike" kern="1200" cap="none" spc="0" normalizeH="0" baseline="0" noProof="0" dirty="0">
                              <a:ln>
                                <a:noFill/>
                              </a:ln>
                              <a:solidFill>
                                <a:srgbClr val="FF0000"/>
                              </a:solidFill>
                              <a:effectLst/>
                              <a:uLnTx/>
                              <a:uFillTx/>
                              <a:latin typeface="+mn-lt"/>
                              <a:ea typeface="+mn-ea"/>
                              <a:cs typeface="+mn-cs"/>
                            </a:rPr>
                            <a:t>± 0.60*</a:t>
                          </a:r>
                          <a:endParaRPr lang="en-US" sz="1300" noProof="0" dirty="0">
                            <a:solidFill>
                              <a:srgbClr val="FF0000"/>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0.06 ± 0.45</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0.84 ± 0.49</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-0.26 ± 0.49</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bl>
              </a:graphicData>
            </a:graphic>
          </p:graphicFrame>
        </mc:Choice>
        <mc:Fallback xmlns="">
          <p:graphicFrame>
            <p:nvGraphicFramePr>
              <p:cNvPr id="5" name="Table 4"/>
              <p:cNvGraphicFramePr>
                <a:graphicFrameLocks noGrp="1"/>
              </p:cNvGraphicFramePr>
              <p:nvPr/>
            </p:nvGraphicFramePr>
            <p:xfrm>
              <a:off x="2190413" y="1342869"/>
              <a:ext cx="8153052" cy="1138266"/>
            </p:xfrm>
            <a:graphic>
              <a:graphicData uri="http://schemas.openxmlformats.org/drawingml/2006/table">
                <a:tbl>
                  <a:tblPr firstRow="1" bandRow="1">
                    <a:tableStyleId>{5C22544A-7EE6-4342-B048-85BDC9FD1C3A}</a:tableStyleId>
                  </a:tblPr>
                  <a:tblGrid>
                    <a:gridCol w="1780879"/>
                    <a:gridCol w="1480221"/>
                    <a:gridCol w="1630730"/>
                    <a:gridCol w="1630611"/>
                    <a:gridCol w="1630611"/>
                  </a:tblGrid>
                  <a:tr h="379422">
                    <a:tc>
                      <a:txBody>
                        <a:bodyPr/>
                        <a:lstStyle/>
                        <a:p>
                          <a:pPr algn="ct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cap="none" baseline="0" noProof="0" dirty="0">
                              <a:solidFill>
                                <a:schemeClr val="tx1"/>
                              </a:solidFill>
                              <a:latin typeface="+mn-lt"/>
                            </a:rPr>
                            <a:t>Phase II</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Phase III</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32700" marR="132700" marT="49763" marB="4976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9422">
                    <a:tc>
                      <a:txBody>
                        <a:bodyPr/>
                        <a:lstStyle/>
                        <a:p>
                          <a:pPr algn="ctr"/>
                          <a:r>
                            <a:rPr lang="en-US" sz="1300" b="1" cap="none" baseline="0" noProof="0" dirty="0">
                              <a:solidFill>
                                <a:schemeClr val="tx1"/>
                              </a:solidFill>
                              <a:latin typeface="+mn-lt"/>
                            </a:rPr>
                            <a:t>Trial</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cap="none" baseline="0" noProof="0" dirty="0">
                              <a:solidFill>
                                <a:schemeClr val="tx1"/>
                              </a:solidFill>
                              <a:latin typeface="+mn-lt"/>
                            </a:rPr>
                            <a:t>1349-0009</a:t>
                          </a:r>
                          <a:endParaRPr lang="en-US" sz="1300" b="1" cap="none" baseline="0" noProof="0" dirty="0">
                            <a:solidFill>
                              <a:schemeClr val="tx1"/>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1349-0011</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1349-0012</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300" b="1" i="0" u="none" strike="noStrike" kern="1200" cap="none" spc="0" normalizeH="0" baseline="0" noProof="0" dirty="0">
                              <a:ln>
                                <a:noFill/>
                              </a:ln>
                              <a:solidFill>
                                <a:schemeClr val="tx1"/>
                              </a:solidFill>
                              <a:effectLst/>
                              <a:uLnTx/>
                              <a:uFillTx/>
                              <a:latin typeface="+mn-lt"/>
                              <a:ea typeface="+mn-ea"/>
                              <a:cs typeface="+mn-cs"/>
                            </a:rPr>
                            <a:t>1349-0013</a:t>
                          </a: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9730">
                    <a:tc>
                      <a:txBody>
                        <a:bodyPr/>
                        <a:lstStyle/>
                        <a:p>
                          <a:endParaRPr lang="zh-CN"/>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blipFill>
                      </a:tcPr>
                    </a:tc>
                    <a:tc>
                      <a:txBody>
                        <a:bodyPr/>
                        <a:lstStyle/>
                        <a:p>
                          <a:pPr algn="ctr"/>
                          <a:r>
                            <a:rPr lang="en-US" sz="1300" noProof="0" dirty="0">
                              <a:solidFill>
                                <a:srgbClr val="FF0000"/>
                              </a:solidFill>
                              <a:latin typeface="+mn-lt"/>
                            </a:rPr>
                            <a:t>1.45 </a:t>
                          </a:r>
                          <a:r>
                            <a:rPr kumimoji="0" lang="en-US" sz="1300" b="0" i="0" u="none" strike="noStrike" kern="1200" cap="none" spc="0" normalizeH="0" baseline="0" noProof="0" dirty="0">
                              <a:ln>
                                <a:noFill/>
                              </a:ln>
                              <a:solidFill>
                                <a:srgbClr val="FF0000"/>
                              </a:solidFill>
                              <a:effectLst/>
                              <a:uLnTx/>
                              <a:uFillTx/>
                              <a:latin typeface="+mn-lt"/>
                              <a:ea typeface="+mn-ea"/>
                              <a:cs typeface="+mn-cs"/>
                            </a:rPr>
                            <a:t>± 0.60*</a:t>
                          </a:r>
                          <a:endParaRPr lang="en-US" sz="1300" noProof="0" dirty="0">
                            <a:solidFill>
                              <a:srgbClr val="FF0000"/>
                            </a:solidFill>
                            <a:latin typeface="+mn-lt"/>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0.06 ± 0.45</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0.84 ± 0.49</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chemeClr val="tx1"/>
                              </a:solidFill>
                              <a:effectLst/>
                              <a:uLnTx/>
                              <a:uFillTx/>
                              <a:latin typeface="+mn-lt"/>
                              <a:ea typeface="+mn-ea"/>
                              <a:cs typeface="+mn-cs"/>
                            </a:rPr>
                            <a:t>-0.26 ± 0.49</a:t>
                          </a:r>
                          <a:endParaRPr kumimoji="0" lang="en-US" sz="1300" b="0" i="0" u="none" strike="noStrike" kern="1200" cap="none" spc="0" normalizeH="0" baseline="0" noProof="0" dirty="0">
                            <a:ln>
                              <a:noFill/>
                            </a:ln>
                            <a:solidFill>
                              <a:schemeClr val="tx1"/>
                            </a:solidFill>
                            <a:effectLst/>
                            <a:uLnTx/>
                            <a:uFillTx/>
                            <a:latin typeface="+mn-lt"/>
                            <a:ea typeface="+mn-ea"/>
                            <a:cs typeface="+mn-cs"/>
                          </a:endParaRPr>
                        </a:p>
                      </a:txBody>
                      <a:tcPr marL="114460" marR="114460" marT="42923" marB="42923"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bl>
              </a:graphicData>
            </a:graphic>
          </p:graphicFrame>
        </mc:Fallback>
      </mc:AlternateContent>
      <p:sp>
        <p:nvSpPr>
          <p:cNvPr id="2" name="TextBox 1"/>
          <p:cNvSpPr txBox="1"/>
          <p:nvPr/>
        </p:nvSpPr>
        <p:spPr bwMode="gray">
          <a:xfrm>
            <a:off x="2180349" y="2603179"/>
            <a:ext cx="8850036" cy="276999"/>
          </a:xfrm>
          <a:prstGeom prst="rect">
            <a:avLst/>
          </a:prstGeom>
          <a:noFill/>
        </p:spPr>
        <p:txBody>
          <a:bodyPr wrap="square">
            <a:spAutoFit/>
          </a:bodyPr>
          <a:lstStyle/>
          <a:p>
            <a:r>
              <a:rPr lang="en-US" sz="1200" dirty="0"/>
              <a:t>* The estimates were derived from a dose-response model based on the aggregated group-level data using MCP-Mod.</a:t>
            </a:r>
            <a:endParaRPr lang="en-US" sz="1200" dirty="0"/>
          </a:p>
        </p:txBody>
      </p:sp>
      <p:sp>
        <p:nvSpPr>
          <p:cNvPr id="3" name="Foliennummernplatzhalter 5"/>
          <p:cNvSpPr txBox="1"/>
          <p:nvPr/>
        </p:nvSpPr>
        <p:spPr bwMode="gray">
          <a:xfrm>
            <a:off x="11424592" y="6246836"/>
            <a:ext cx="28800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fld id="{8FF9B0DE-3FEB-4AA0-B465-B80EF7C1333D}"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91769" y="1937568"/>
            <a:ext cx="1685231" cy="492443"/>
          </a:xfrm>
          <a:prstGeom prst="rect">
            <a:avLst/>
          </a:prstGeom>
        </p:spPr>
        <p:txBody>
          <a:bodyPr lIns="0" tIns="0" rIns="0" bIns="0" rtlCol="0" anchor="t">
            <a:spAutoFit/>
          </a:bodyPr>
          <a:lstStyle/>
          <a:p>
            <a:pPr algn="ctr"/>
            <a:r>
              <a:rPr lang="en-US" sz="1600" b="1" dirty="0">
                <a:solidFill>
                  <a:srgbClr val="00E57C"/>
                </a:solidFill>
                <a:sym typeface="Poppins Bold"/>
              </a:rPr>
              <a:t>Utilized as historical data</a:t>
            </a:r>
            <a:endParaRPr lang="en-US" sz="1600" b="1" dirty="0">
              <a:solidFill>
                <a:srgbClr val="00E57C"/>
              </a:solidFill>
              <a:sym typeface="Poppins Bold"/>
            </a:endParaRPr>
          </a:p>
        </p:txBody>
      </p:sp>
      <p:sp>
        <p:nvSpPr>
          <p:cNvPr id="52" name="Titel 1"/>
          <p:cNvSpPr txBox="1"/>
          <p:nvPr/>
        </p:nvSpPr>
        <p:spPr>
          <a:xfrm>
            <a:off x="479424" y="376689"/>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dirty="0"/>
              <a:t>Meta-Analytic-Predictive (MAP) prior</a:t>
            </a:r>
            <a:endParaRPr lang="en-US" dirty="0"/>
          </a:p>
        </p:txBody>
      </p:sp>
      <mc:AlternateContent xmlns:mc="http://schemas.openxmlformats.org/markup-compatibility/2006">
        <mc:Choice xmlns:a14="http://schemas.microsoft.com/office/drawing/2010/main" Requires="a14">
          <p:sp>
            <p:nvSpPr>
              <p:cNvPr id="57" name="TextBox 56"/>
              <p:cNvSpPr txBox="1"/>
              <p:nvPr/>
            </p:nvSpPr>
            <p:spPr bwMode="gray">
              <a:xfrm>
                <a:off x="1022720" y="4375501"/>
                <a:ext cx="10744200" cy="19040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Historical studies were selected based on Phase II data only, while Phase 3 data were intentionally excluded to avoid informing a Phase 2 prior with Phase 3 outcomes.</a:t>
                </a:r>
                <a:endParaRPr lang="en-US" sz="1600" dirty="0"/>
              </a:p>
              <a:p>
                <a:pPr marL="285750" indent="-285750">
                  <a:lnSpc>
                    <a:spcPct val="150000"/>
                  </a:lnSpc>
                  <a:buFont typeface="Arial" panose="020B0604020202020204" pitchFamily="34" charset="0"/>
                  <a:buChar char="•"/>
                </a:pPr>
                <a14:m>
                  <m:oMath xmlns:m="http://schemas.openxmlformats.org/officeDocument/2006/math">
                    <m:sSub>
                      <m:sSubPr>
                        <m:ctrlPr>
                          <a:rPr lang="en-US" sz="1600" i="1" dirty="0">
                            <a:solidFill>
                              <a:srgbClr val="FF0000"/>
                            </a:solidFill>
                            <a:latin typeface="Cambria Math" panose="02040503050406030204" pitchFamily="18" charset="0"/>
                          </a:rPr>
                        </m:ctrlPr>
                      </m:sSubPr>
                      <m:e>
                        <m:r>
                          <m:rPr>
                            <m:sty m:val="p"/>
                          </m:rPr>
                          <a:rPr lang="en-US" sz="1600" dirty="0">
                            <a:solidFill>
                              <a:srgbClr val="FF0000"/>
                            </a:solidFill>
                            <a:latin typeface="Cambria Math" panose="02040503050406030204" pitchFamily="18" charset="0"/>
                          </a:rPr>
                          <m:t>Δ</m:t>
                        </m:r>
                      </m:e>
                      <m:sub>
                        <m:r>
                          <a:rPr lang="en-US" sz="1600" i="1" dirty="0">
                            <a:solidFill>
                              <a:srgbClr val="FF0000"/>
                            </a:solidFill>
                            <a:latin typeface="Cambria Math" panose="02040503050406030204" pitchFamily="18" charset="0"/>
                          </a:rPr>
                          <m:t>𝑃𝐷</m:t>
                        </m:r>
                      </m:sub>
                    </m:sSub>
                    <m:r>
                      <a:rPr lang="en-US" sz="1600" i="1" dirty="0">
                        <a:solidFill>
                          <a:srgbClr val="FF0000"/>
                        </a:solidFill>
                        <a:latin typeface="Cambria Math" panose="02040503050406030204" pitchFamily="18" charset="0"/>
                      </a:rPr>
                      <m:t>=</m:t>
                    </m:r>
                    <m:r>
                      <a:rPr lang="en-US" sz="1600" i="1" dirty="0">
                        <a:solidFill>
                          <a:srgbClr val="FF0000"/>
                        </a:solidFill>
                        <a:latin typeface="Cambria Math" panose="02040503050406030204" pitchFamily="18" charset="0"/>
                      </a:rPr>
                      <m:t>1</m:t>
                    </m:r>
                  </m:oMath>
                </a14:m>
                <a:r>
                  <a:rPr lang="en-US" sz="1600" dirty="0"/>
                  <a:t>: A decision rule that seems reasonable given the data and was not something used by the study team.</a:t>
                </a:r>
                <a:endParaRPr lang="en-US" sz="1600" dirty="0"/>
              </a:p>
              <a:p>
                <a:pPr marL="285750" indent="-285750">
                  <a:lnSpc>
                    <a:spcPct val="150000"/>
                  </a:lnSpc>
                  <a:buFont typeface="Arial" panose="020B0604020202020204" pitchFamily="34" charset="0"/>
                  <a:buChar char="•"/>
                </a:pPr>
                <a:r>
                  <a:rPr lang="en-US" sz="1600" dirty="0"/>
                  <a:t>The MAP prior indicates a smaller treatment effect compared to the observed effect in the Phase II study (1346-0009).</a:t>
                </a:r>
                <a:endParaRPr lang="en-US" sz="1600" dirty="0"/>
              </a:p>
            </p:txBody>
          </p:sp>
        </mc:Choice>
        <mc:Fallback>
          <p:sp>
            <p:nvSpPr>
              <p:cNvPr id="57" name="TextBox 56"/>
              <p:cNvSpPr txBox="1">
                <a:spLocks noRot="1" noChangeAspect="1" noMove="1" noResize="1" noEditPoints="1" noAdjustHandles="1" noChangeArrowheads="1" noChangeShapeType="1" noTextEdit="1"/>
              </p:cNvSpPr>
              <p:nvPr/>
            </p:nvSpPr>
            <p:spPr bwMode="gray">
              <a:xfrm>
                <a:off x="1022720" y="4375501"/>
                <a:ext cx="10744200" cy="1904047"/>
              </a:xfrm>
              <a:prstGeom prst="rect">
                <a:avLst/>
              </a:prstGeom>
              <a:blipFill rotWithShape="1">
                <a:blip r:embed="rId1"/>
                <a:stretch>
                  <a:fillRect l="-3" t="-18" r="3" b="2"/>
                </a:stretch>
              </a:blipFill>
            </p:spPr>
            <p:txBody>
              <a:bodyPr/>
              <a:lstStyle/>
              <a:p>
                <a:r>
                  <a:rPr lang="zh-CN" altLang="en-US">
                    <a:noFill/>
                  </a:rPr>
                  <a:t> </a:t>
                </a:r>
              </a:p>
            </p:txBody>
          </p:sp>
        </mc:Fallback>
      </mc:AlternateContent>
      <p:pic>
        <p:nvPicPr>
          <p:cNvPr id="60" name="Picture 59"/>
          <p:cNvPicPr>
            <a:picLocks noChangeAspect="1"/>
          </p:cNvPicPr>
          <p:nvPr/>
        </p:nvPicPr>
        <p:blipFill>
          <a:blip r:embed="rId2"/>
          <a:srcRect t="9209"/>
          <a:stretch>
            <a:fillRect/>
          </a:stretch>
        </p:blipFill>
        <p:spPr>
          <a:xfrm>
            <a:off x="6502850" y="1662865"/>
            <a:ext cx="4927150" cy="2331206"/>
          </a:xfrm>
          <a:prstGeom prst="rect">
            <a:avLst/>
          </a:prstGeom>
        </p:spPr>
      </p:pic>
      <p:sp>
        <p:nvSpPr>
          <p:cNvPr id="61" name="TextBox 34"/>
          <p:cNvSpPr txBox="1"/>
          <p:nvPr/>
        </p:nvSpPr>
        <p:spPr>
          <a:xfrm>
            <a:off x="6553200" y="1295400"/>
            <a:ext cx="2567157" cy="257956"/>
          </a:xfrm>
          <a:prstGeom prst="rect">
            <a:avLst/>
          </a:prstGeom>
        </p:spPr>
        <p:txBody>
          <a:bodyPr wrap="square" lIns="0" tIns="0" rIns="0" bIns="0" rtlCol="0" anchor="t">
            <a:spAutoFit/>
          </a:bodyPr>
          <a:lstStyle/>
          <a:p>
            <a:pPr algn="just">
              <a:lnSpc>
                <a:spcPts val="2110"/>
              </a:lnSpc>
            </a:pPr>
            <a:r>
              <a:rPr lang="en-US" sz="1600" dirty="0"/>
              <a:t>Density of the MAP prior</a:t>
            </a:r>
            <a:endParaRPr lang="en-US" sz="1600" dirty="0">
              <a:latin typeface="Roboto" panose="02000000000000000000"/>
              <a:ea typeface="Roboto" panose="02000000000000000000"/>
              <a:cs typeface="Roboto" panose="02000000000000000000"/>
              <a:sym typeface="Roboto" panose="02000000000000000000"/>
            </a:endParaRPr>
          </a:p>
        </p:txBody>
      </p:sp>
      <p:graphicFrame>
        <p:nvGraphicFramePr>
          <p:cNvPr id="4" name="Table 3"/>
          <p:cNvGraphicFramePr>
            <a:graphicFrameLocks noGrp="1"/>
          </p:cNvGraphicFramePr>
          <p:nvPr/>
        </p:nvGraphicFramePr>
        <p:xfrm>
          <a:off x="1022720" y="1308820"/>
          <a:ext cx="3502349" cy="2805980"/>
        </p:xfrm>
        <a:graphic>
          <a:graphicData uri="http://schemas.openxmlformats.org/drawingml/2006/table">
            <a:tbl>
              <a:tblPr firstRow="1" bandRow="1">
                <a:tableStyleId>{5C22544A-7EE6-4342-B048-85BDC9FD1C3A}</a:tableStyleId>
              </a:tblPr>
              <a:tblGrid>
                <a:gridCol w="674722"/>
                <a:gridCol w="1227427"/>
                <a:gridCol w="838200"/>
                <a:gridCol w="762000"/>
              </a:tblGrid>
              <a:tr h="280598">
                <a:tc>
                  <a:txBody>
                    <a:bodyPr/>
                    <a:lstStyle/>
                    <a:p>
                      <a:pPr algn="ctr" fontAlgn="b"/>
                      <a:r>
                        <a:rPr lang="en-US" sz="1200" u="none" strike="noStrike" dirty="0">
                          <a:solidFill>
                            <a:schemeClr val="tx1"/>
                          </a:solidFill>
                          <a:effectLst/>
                        </a:rPr>
                        <a:t>Study</a:t>
                      </a:r>
                      <a:endParaRPr lang="en-US" sz="1200" b="1" i="0" u="none" strike="noStrike" dirty="0">
                        <a:solidFill>
                          <a:schemeClr val="tx1"/>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Phase</a:t>
                      </a:r>
                      <a:endParaRPr lang="en-US" sz="1200" b="1" i="0" u="none" strike="noStrike" dirty="0">
                        <a:solidFill>
                          <a:schemeClr val="tx1"/>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Mean</a:t>
                      </a:r>
                      <a:endParaRPr lang="en-US" sz="1200" b="1" i="0" u="none" strike="noStrike" dirty="0">
                        <a:solidFill>
                          <a:schemeClr val="tx1"/>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SE</a:t>
                      </a:r>
                      <a:endParaRPr lang="en-US" sz="1200" b="1" i="0" u="none" strike="noStrike" dirty="0">
                        <a:solidFill>
                          <a:schemeClr val="tx1"/>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0598">
                <a:tc>
                  <a:txBody>
                    <a:bodyPr/>
                    <a:lstStyle/>
                    <a:p>
                      <a:pPr algn="ct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highlight>
                            <a:srgbClr val="FFFF00"/>
                          </a:highlight>
                        </a:rPr>
                        <a:t>Ph2</a:t>
                      </a:r>
                      <a:endParaRPr lang="en-US" sz="1200" b="0" i="0" u="none" strike="noStrike" dirty="0">
                        <a:solidFill>
                          <a:srgbClr val="000000"/>
                        </a:solidFill>
                        <a:effectLst/>
                        <a:highlight>
                          <a:srgbClr val="FFFF00"/>
                        </a:highligh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0.7</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1.78</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80598">
                <a:tc>
                  <a:txBody>
                    <a:bodyPr/>
                    <a:lstStyle/>
                    <a:p>
                      <a:pPr algn="ctr" fontAlgn="b"/>
                      <a:r>
                        <a:rPr lang="en-US" sz="1200" u="none" strike="noStrike" dirty="0">
                          <a:effectLst/>
                        </a:rPr>
                        <a:t>2</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highlight>
                            <a:srgbClr val="FFFF00"/>
                          </a:highlight>
                        </a:rPr>
                        <a:t>Ph2</a:t>
                      </a:r>
                      <a:endParaRPr lang="en-US" sz="1200" b="0" i="0" u="none" strike="noStrike" dirty="0">
                        <a:solidFill>
                          <a:srgbClr val="000000"/>
                        </a:solidFill>
                        <a:effectLst/>
                        <a:highlight>
                          <a:srgbClr val="FFFF00"/>
                        </a:highligh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1.14</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1.82</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3</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highlight>
                            <a:srgbClr val="FFFF00"/>
                          </a:highlight>
                        </a:rPr>
                        <a:t>Ph2</a:t>
                      </a:r>
                      <a:endParaRPr lang="en-US" sz="1200" b="0" i="0" u="none" strike="noStrike" dirty="0">
                        <a:solidFill>
                          <a:srgbClr val="000000"/>
                        </a:solidFill>
                        <a:effectLst/>
                        <a:highlight>
                          <a:srgbClr val="FFFF00"/>
                        </a:highligh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1.3</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1.00</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4</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highlight>
                            <a:srgbClr val="FFFF00"/>
                          </a:highlight>
                        </a:rPr>
                        <a:t>Ph2</a:t>
                      </a:r>
                      <a:endParaRPr lang="en-US" sz="1200" b="0" i="0" u="none" strike="noStrike" dirty="0">
                        <a:solidFill>
                          <a:srgbClr val="000000"/>
                        </a:solidFill>
                        <a:effectLst/>
                        <a:highlight>
                          <a:srgbClr val="FFFF00"/>
                        </a:highligh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1.5</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1.00</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5</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Ph3 (1346.11)</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0.06</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0.45</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6</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Ph3 (1346.12)</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0.84</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effectLst/>
                        </a:rPr>
                        <a:t>0.49</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7</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Ph3 (1346.13)</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-0.26</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0.49</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8</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Ph3</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a:effectLst/>
                        </a:rPr>
                        <a:t>0.6</a:t>
                      </a:r>
                      <a:endParaRPr lang="en-US" sz="1200" b="0" i="0" u="none" strike="noStrike">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0.41</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80598">
                <a:tc>
                  <a:txBody>
                    <a:bodyPr/>
                    <a:lstStyle/>
                    <a:p>
                      <a:pPr marL="0" algn="ctr" defTabSz="914400" rtl="0" eaLnBrk="1" fontAlgn="b" latinLnBrk="0" hangingPunct="1"/>
                      <a:r>
                        <a:rPr lang="en-US" sz="1200" u="none" strike="noStrike" kern="1200" dirty="0">
                          <a:solidFill>
                            <a:schemeClr val="dk1"/>
                          </a:solidFill>
                          <a:effectLst/>
                          <a:latin typeface="+mn-lt"/>
                          <a:ea typeface="+mn-ea"/>
                          <a:cs typeface="+mn-cs"/>
                        </a:rPr>
                        <a:t>9</a:t>
                      </a:r>
                      <a:endParaRPr lang="en-US" sz="1200" u="none" strike="noStrike" kern="1200" dirty="0">
                        <a:solidFill>
                          <a:schemeClr val="dk1"/>
                        </a:solidFill>
                        <a:effectLst/>
                        <a:latin typeface="+mn-lt"/>
                        <a:ea typeface="+mn-ea"/>
                        <a:cs typeface="+mn-cs"/>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Ph3</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0.6</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fontAlgn="b"/>
                      <a:r>
                        <a:rPr lang="en-US" sz="1200" u="none" strike="noStrike" dirty="0">
                          <a:effectLst/>
                        </a:rPr>
                        <a:t>0.43</a:t>
                      </a:r>
                      <a:endParaRPr lang="en-US" sz="1200" b="0" i="0" u="none" strike="noStrike" dirty="0">
                        <a:solidFill>
                          <a:srgbClr val="000000"/>
                        </a:solidFill>
                        <a:effectLst/>
                        <a:latin typeface="Calibri" panose="020F0502020204030204" pitchFamily="34" charset="0"/>
                      </a:endParaRPr>
                    </a:p>
                  </a:txBody>
                  <a:tcPr marL="5957" marR="5957" marT="5957"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bl>
          </a:graphicData>
        </a:graphic>
      </p:graphicFrame>
      <p:sp>
        <p:nvSpPr>
          <p:cNvPr id="6" name="Right Brace 5"/>
          <p:cNvSpPr/>
          <p:nvPr/>
        </p:nvSpPr>
        <p:spPr bwMode="gray">
          <a:xfrm>
            <a:off x="4677469" y="1613620"/>
            <a:ext cx="228600" cy="1066800"/>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 name="Picture 7"/>
          <p:cNvPicPr>
            <a:picLocks noChangeAspect="1"/>
          </p:cNvPicPr>
          <p:nvPr/>
        </p:nvPicPr>
        <p:blipFill>
          <a:blip r:embed="rId3"/>
          <a:stretch>
            <a:fillRect/>
          </a:stretch>
        </p:blipFill>
        <p:spPr>
          <a:xfrm>
            <a:off x="5239613" y="3948342"/>
            <a:ext cx="6481588" cy="250168"/>
          </a:xfrm>
          <a:prstGeom prst="rect">
            <a:avLst/>
          </a:prstGeom>
        </p:spPr>
      </p:pic>
      <p:sp>
        <p:nvSpPr>
          <p:cNvPr id="9" name="Foliennummernplatzhalter 5"/>
          <p:cNvSpPr txBox="1"/>
          <p:nvPr/>
        </p:nvSpPr>
        <p:spPr bwMode="gray">
          <a:xfrm>
            <a:off x="11424592" y="6246836"/>
            <a:ext cx="28800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fld id="{8FF9B0DE-3FEB-4AA0-B465-B80EF7C1333D}" type="slidenum">
              <a:rPr lang="en-US" smtClean="0"/>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3385" y="590550"/>
            <a:ext cx="1685231" cy="517321"/>
          </a:xfrm>
          <a:prstGeom prst="rect">
            <a:avLst/>
          </a:prstGeom>
        </p:spPr>
        <p:txBody>
          <a:bodyPr lIns="0" tIns="0" rIns="0" bIns="0" rtlCol="0" anchor="t">
            <a:spAutoFit/>
          </a:bodyPr>
          <a:lstStyle/>
          <a:p>
            <a:pPr algn="ctr">
              <a:lnSpc>
                <a:spcPts val="4480"/>
              </a:lnSpc>
            </a:pPr>
            <a:endParaRPr lang="en-US" sz="2665" b="1" dirty="0">
              <a:solidFill>
                <a:srgbClr val="00E57C"/>
              </a:solidFill>
              <a:latin typeface="Montserrat Bold" panose="00000800000000000000"/>
              <a:sym typeface="Poppins Bold"/>
            </a:endParaRPr>
          </a:p>
        </p:txBody>
      </p:sp>
      <p:sp>
        <p:nvSpPr>
          <p:cNvPr id="52" name="Titel 1"/>
          <p:cNvSpPr txBox="1"/>
          <p:nvPr/>
        </p:nvSpPr>
        <p:spPr>
          <a:xfrm>
            <a:off x="479424" y="376689"/>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dirty="0"/>
              <a:t>Result</a:t>
            </a:r>
            <a:endParaRPr lang="en-US" dirty="0"/>
          </a:p>
        </p:txBody>
      </p:sp>
      <p:graphicFrame>
        <p:nvGraphicFramePr>
          <p:cNvPr id="55" name="Table 54"/>
          <p:cNvGraphicFramePr>
            <a:graphicFrameLocks noGrp="1"/>
          </p:cNvGraphicFramePr>
          <p:nvPr/>
        </p:nvGraphicFramePr>
        <p:xfrm>
          <a:off x="3381579" y="1354463"/>
          <a:ext cx="5657442" cy="2393016"/>
        </p:xfrm>
        <a:graphic>
          <a:graphicData uri="http://schemas.openxmlformats.org/drawingml/2006/table">
            <a:tbl>
              <a:tblPr firstRow="1" bandRow="1">
                <a:tableStyleId>{5C22544A-7EE6-4342-B048-85BDC9FD1C3A}</a:tableStyleId>
              </a:tblPr>
              <a:tblGrid>
                <a:gridCol w="2129144"/>
                <a:gridCol w="1896134"/>
                <a:gridCol w="1632164"/>
              </a:tblGrid>
              <a:tr h="299127">
                <a:tc>
                  <a:txBody>
                    <a:bodyPr/>
                    <a:lstStyle/>
                    <a:p>
                      <a:r>
                        <a:rPr lang="en-US" sz="1100" b="1" cap="none" baseline="0" noProof="0" dirty="0">
                          <a:solidFill>
                            <a:schemeClr val="tx1"/>
                          </a:solidFill>
                          <a:latin typeface="+mn-lt"/>
                        </a:rPr>
                        <a:t>Method</a:t>
                      </a:r>
                      <a:endParaRPr lang="en-US" sz="1100" b="1" cap="none" baseline="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100" b="1" i="0" u="none" strike="noStrike" kern="1200" cap="none" spc="0" normalizeH="0" baseline="0" noProof="0" dirty="0">
                          <a:ln>
                            <a:noFill/>
                          </a:ln>
                          <a:solidFill>
                            <a:schemeClr val="tx1"/>
                          </a:solidFill>
                          <a:effectLst/>
                          <a:uLnTx/>
                          <a:uFillTx/>
                          <a:latin typeface="+mn-lt"/>
                          <a:ea typeface="+mn-ea"/>
                          <a:cs typeface="+mn-cs"/>
                        </a:rPr>
                        <a:t>Without Historical Data</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100" b="1" i="0" u="none" strike="noStrike" kern="1200" cap="none" spc="0" normalizeH="0" baseline="0" noProof="0" dirty="0">
                          <a:ln>
                            <a:noFill/>
                          </a:ln>
                          <a:solidFill>
                            <a:schemeClr val="tx1"/>
                          </a:solidFill>
                          <a:effectLst/>
                          <a:uLnTx/>
                          <a:uFillTx/>
                          <a:latin typeface="+mn-lt"/>
                          <a:ea typeface="+mn-ea"/>
                          <a:cs typeface="+mn-cs"/>
                        </a:rPr>
                        <a:t>With Historical Data</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99127">
                <a:tc>
                  <a:txBody>
                    <a:bodyPr/>
                    <a:lstStyle/>
                    <a:p>
                      <a:r>
                        <a:rPr lang="en-US" sz="1100" noProof="0" dirty="0">
                          <a:solidFill>
                            <a:schemeClr val="tx1"/>
                          </a:solidFill>
                          <a:latin typeface="+mn-lt"/>
                        </a:rPr>
                        <a:t>Shifting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0.857</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0.907</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99127">
                <a:tc>
                  <a:txBody>
                    <a:bodyPr/>
                    <a:lstStyle/>
                    <a:p>
                      <a:r>
                        <a:rPr lang="en-US" sz="1100" noProof="0" dirty="0">
                          <a:solidFill>
                            <a:schemeClr val="tx1"/>
                          </a:solidFill>
                          <a:latin typeface="+mn-lt"/>
                        </a:rPr>
                        <a:t>0.9 Multiplicative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1.307</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1.251</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99127">
                <a:tc>
                  <a:txBody>
                    <a:bodyPr/>
                    <a:lstStyle/>
                    <a:p>
                      <a:r>
                        <a:rPr lang="en-US" sz="1100" noProof="0" dirty="0">
                          <a:solidFill>
                            <a:schemeClr val="tx1"/>
                          </a:solidFill>
                          <a:latin typeface="+mn-lt"/>
                        </a:rPr>
                        <a:t>Informative Prior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1.390</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99127">
                <a:tc>
                  <a:txBody>
                    <a:bodyPr/>
                    <a:lstStyle/>
                    <a:p>
                      <a:r>
                        <a:rPr lang="en-US" sz="1100" noProof="0" dirty="0">
                          <a:solidFill>
                            <a:schemeClr val="tx1"/>
                          </a:solidFill>
                          <a:latin typeface="+mn-lt"/>
                        </a:rPr>
                        <a:t>MCLE</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0.936</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1.012</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99127">
                <a:tc>
                  <a:txBody>
                    <a:bodyPr/>
                    <a:lstStyle/>
                    <a:p>
                      <a:r>
                        <a:rPr lang="en-US" sz="1100" noProof="0" dirty="0">
                          <a:solidFill>
                            <a:schemeClr val="tx1"/>
                          </a:solidFill>
                          <a:latin typeface="+mn-lt"/>
                        </a:rPr>
                        <a:t>PB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0.496</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r h="299127">
                <a:tc>
                  <a:txBody>
                    <a:bodyPr/>
                    <a:lstStyle/>
                    <a:p>
                      <a:r>
                        <a:rPr lang="en-US" sz="1100" noProof="0" dirty="0">
                          <a:solidFill>
                            <a:schemeClr val="tx1"/>
                          </a:solidFill>
                          <a:latin typeface="+mn-lt"/>
                        </a:rPr>
                        <a:t>LWB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1.147</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1.152</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99127">
                <a:tc>
                  <a:txBody>
                    <a:bodyPr/>
                    <a:lstStyle/>
                    <a:p>
                      <a:r>
                        <a:rPr lang="en-US" sz="1100" noProof="0" dirty="0">
                          <a:solidFill>
                            <a:schemeClr val="tx1"/>
                          </a:solidFill>
                          <a:latin typeface="+mn-lt"/>
                        </a:rPr>
                        <a:t>CLWB Method</a:t>
                      </a:r>
                      <a:endParaRPr lang="en-US" sz="1100" noProof="0" dirty="0">
                        <a:solidFill>
                          <a:schemeClr val="tx1"/>
                        </a:solidFill>
                        <a:latin typeface="+mn-lt"/>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1.356</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noProof="0" dirty="0">
                          <a:ln>
                            <a:noFill/>
                          </a:ln>
                          <a:solidFill>
                            <a:schemeClr val="tx1"/>
                          </a:solidFill>
                          <a:effectLst/>
                          <a:uLnTx/>
                          <a:uFillTx/>
                          <a:latin typeface="+mn-lt"/>
                          <a:ea typeface="+mn-ea"/>
                          <a:cs typeface="+mn-cs"/>
                        </a:rPr>
                        <a:t>1.317</a:t>
                      </a:r>
                      <a:endParaRPr kumimoji="0" lang="en-US" sz="1100" b="0" i="0" u="none" strike="noStrike" kern="1200" cap="none" spc="0" normalizeH="0" baseline="0" noProof="0" dirty="0">
                        <a:ln>
                          <a:noFill/>
                        </a:ln>
                        <a:solidFill>
                          <a:schemeClr val="tx1"/>
                        </a:solidFill>
                        <a:effectLst/>
                        <a:uLnTx/>
                        <a:uFillTx/>
                        <a:latin typeface="+mn-lt"/>
                        <a:ea typeface="+mn-ea"/>
                        <a:cs typeface="+mn-cs"/>
                      </a:endParaRPr>
                    </a:p>
                  </a:txBody>
                  <a:tcPr marL="90238" marR="90238" marT="33839" marB="33839"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r>
            </a:tbl>
          </a:graphicData>
        </a:graphic>
      </p:graphicFrame>
      <mc:AlternateContent xmlns:mc="http://schemas.openxmlformats.org/markup-compatibility/2006">
        <mc:Choice xmlns:a14="http://schemas.microsoft.com/office/drawing/2010/main" Requires="a14">
          <p:sp>
            <p:nvSpPr>
              <p:cNvPr id="57" name="TextBox 56"/>
              <p:cNvSpPr txBox="1"/>
              <p:nvPr/>
            </p:nvSpPr>
            <p:spPr bwMode="gray">
              <a:xfrm>
                <a:off x="1371600" y="4191000"/>
                <a:ext cx="9677400" cy="7960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All bias adjustment methods move estimates in the direction of the decision threshold </a:t>
                </a:r>
                <a14:m>
                  <m:oMath xmlns:m="http://schemas.openxmlformats.org/officeDocument/2006/math">
                    <m:sSub>
                      <m:sSubPr>
                        <m:ctrlPr>
                          <a:rPr lang="en-US" sz="1600" i="1" dirty="0">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r>
                      <a:rPr lang="en-US" sz="1600" i="1" dirty="0">
                        <a:latin typeface="Cambria Math" panose="02040503050406030204" pitchFamily="18" charset="0"/>
                      </a:rPr>
                      <m:t>=</m:t>
                    </m:r>
                    <m:r>
                      <a:rPr lang="en-US" sz="1600" i="1" dirty="0">
                        <a:latin typeface="Cambria Math" panose="02040503050406030204" pitchFamily="18" charset="0"/>
                      </a:rPr>
                      <m:t>1</m:t>
                    </m:r>
                  </m:oMath>
                </a14:m>
                <a:r>
                  <a:rPr lang="en-US" sz="1600" dirty="0"/>
                  <a:t>, regardless of whether historical data is included .</a:t>
                </a:r>
                <a:endParaRPr lang="en-US" sz="1600" dirty="0"/>
              </a:p>
            </p:txBody>
          </p:sp>
        </mc:Choice>
        <mc:Fallback>
          <p:sp>
            <p:nvSpPr>
              <p:cNvPr id="57" name="TextBox 56"/>
              <p:cNvSpPr txBox="1">
                <a:spLocks noRot="1" noChangeAspect="1" noMove="1" noResize="1" noEditPoints="1" noAdjustHandles="1" noChangeArrowheads="1" noChangeShapeType="1" noTextEdit="1"/>
              </p:cNvSpPr>
              <p:nvPr/>
            </p:nvSpPr>
            <p:spPr bwMode="gray">
              <a:xfrm>
                <a:off x="1371600" y="4191000"/>
                <a:ext cx="9677400" cy="796052"/>
              </a:xfrm>
              <a:prstGeom prst="rect">
                <a:avLst/>
              </a:prstGeom>
              <a:blipFill rotWithShape="1">
                <a:blip r:embed="rId1"/>
                <a:stretch>
                  <a:fillRect b="50"/>
                </a:stretch>
              </a:blipFill>
            </p:spPr>
            <p:txBody>
              <a:bodyPr/>
              <a:lstStyle/>
              <a:p>
                <a:r>
                  <a:rPr lang="zh-CN" altLang="en-US">
                    <a:noFill/>
                  </a:rPr>
                  <a:t> </a:t>
                </a:r>
              </a:p>
            </p:txBody>
          </p:sp>
        </mc:Fallback>
      </mc:AlternateContent>
      <p:sp>
        <p:nvSpPr>
          <p:cNvPr id="4" name="Foliennummernplatzhalter 5"/>
          <p:cNvSpPr txBox="1"/>
          <p:nvPr/>
        </p:nvSpPr>
        <p:spPr bwMode="gray">
          <a:xfrm>
            <a:off x="11424592" y="6246836"/>
            <a:ext cx="28800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fld id="{8FF9B0DE-3FEB-4AA0-B465-B80EF7C1333D}" type="slidenum">
              <a:rPr lang="en-US" smtClean="0"/>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E1F6"/>
        </a:solidFill>
        <a:effectLst/>
      </p:bgPr>
    </p:bg>
    <p:spTree>
      <p:nvGrpSpPr>
        <p:cNvPr id="1" name=""/>
        <p:cNvGrpSpPr/>
        <p:nvPr/>
      </p:nvGrpSpPr>
      <p:grpSpPr>
        <a:xfrm>
          <a:off x="0" y="0"/>
          <a:ext cx="0" cy="0"/>
          <a:chOff x="0" y="0"/>
          <a:chExt cx="0" cy="0"/>
        </a:xfrm>
      </p:grpSpPr>
      <p:sp>
        <p:nvSpPr>
          <p:cNvPr id="8" name="Titel 7"/>
          <p:cNvSpPr>
            <a:spLocks noGrp="1"/>
          </p:cNvSpPr>
          <p:nvPr>
            <p:ph type="title"/>
          </p:nvPr>
        </p:nvSpPr>
        <p:spPr bwMode="gray"/>
        <p:txBody>
          <a:bodyPr/>
          <a:lstStyle/>
          <a:p>
            <a:r>
              <a:rPr lang="en-US" noProof="0" dirty="0">
                <a:solidFill>
                  <a:srgbClr val="5D4495"/>
                </a:solidFill>
              </a:rPr>
              <a:t>Simulation Study</a:t>
            </a:r>
            <a:endParaRPr lang="en-US" noProof="0" dirty="0">
              <a:solidFill>
                <a:srgbClr val="5D4495"/>
              </a:solidFill>
            </a:endParaRPr>
          </a:p>
        </p:txBody>
      </p:sp>
      <p:sp>
        <p:nvSpPr>
          <p:cNvPr id="9" name="Untertitel 8"/>
          <p:cNvSpPr>
            <a:spLocks noGrp="1"/>
          </p:cNvSpPr>
          <p:nvPr>
            <p:ph type="subTitle" idx="14"/>
          </p:nvPr>
        </p:nvSpPr>
        <p:spPr bwMode="gray"/>
        <p:txBody>
          <a:bodyPr/>
          <a:lstStyle/>
          <a:p>
            <a:pPr lvl="1"/>
            <a:r>
              <a:rPr lang="en-US" sz="1800" dirty="0">
                <a:solidFill>
                  <a:schemeClr val="tx1">
                    <a:lumMod val="95000"/>
                    <a:lumOff val="5000"/>
                  </a:schemeClr>
                </a:solidFill>
              </a:rPr>
              <a:t>Assessing bias adjustment methods through simulation.</a:t>
            </a:r>
            <a:endParaRPr lang="en-US" sz="1800" dirty="0">
              <a:solidFill>
                <a:schemeClr val="tx1">
                  <a:lumMod val="95000"/>
                  <a:lumOff val="5000"/>
                </a:schemeClr>
              </a:solidFill>
            </a:endParaRPr>
          </a:p>
        </p:txBody>
      </p:sp>
      <p:sp>
        <p:nvSpPr>
          <p:cNvPr id="3" name="Foliennummernplatzhalter 2"/>
          <p:cNvSpPr>
            <a:spLocks noGrp="1"/>
          </p:cNvSpPr>
          <p:nvPr>
            <p:ph type="sldNum" sz="quarter" idx="16"/>
          </p:nvPr>
        </p:nvSpPr>
        <p:spPr/>
        <p:txBody>
          <a:bodyPr/>
          <a:lstStyle/>
          <a:p>
            <a:fld id="{8FF9B0DE-3FEB-4AA0-B465-B80EF7C1333D}" type="slidenum">
              <a:rPr lang="en-US" noProof="0" smtClean="0"/>
            </a:fld>
            <a:endParaRPr lang="en-US" noProof="0" dirty="0"/>
          </a:p>
        </p:txBody>
      </p:sp>
      <p:sp>
        <p:nvSpPr>
          <p:cNvPr id="5" name="Fußzeilenplatzhalter 4"/>
          <p:cNvSpPr>
            <a:spLocks noGrp="1"/>
          </p:cNvSpPr>
          <p:nvPr>
            <p:ph type="ftr" sz="quarter" idx="19"/>
          </p:nvPr>
        </p:nvSpPr>
        <p:spPr bwMode="gray"/>
        <p:txBody>
          <a:bodyPr/>
          <a:lstStyle/>
          <a:p>
            <a:r>
              <a:rPr lang="en-US" noProof="0" dirty="0"/>
              <a:t>Slide library     |     ONLY FOR INTERNAL USE</a:t>
            </a:r>
            <a:endParaRPr lang="en-US" noProof="0" dirty="0"/>
          </a:p>
        </p:txBody>
      </p:sp>
      <p:pic>
        <p:nvPicPr>
          <p:cNvPr id="6" name="Grafik 5"/>
          <p:cNvPicPr>
            <a:picLocks noChangeAspect="1"/>
          </p:cNvPicPr>
          <p:nvPr/>
        </p:nvPicPr>
        <p:blipFill>
          <a:blip r:embed="rId1"/>
          <a:stretch>
            <a:fillRect/>
          </a:stretch>
        </p:blipFill>
        <p:spPr bwMode="gray">
          <a:xfrm>
            <a:off x="479424" y="6165000"/>
            <a:ext cx="1234800" cy="372727"/>
          </a:xfrm>
          <a:prstGeom prst="rect">
            <a:avLst/>
          </a:prstGeom>
        </p:spPr>
      </p:pic>
      <p:grpSp>
        <p:nvGrpSpPr>
          <p:cNvPr id="16" name="Group 15"/>
          <p:cNvGrpSpPr/>
          <p:nvPr/>
        </p:nvGrpSpPr>
        <p:grpSpPr>
          <a:xfrm>
            <a:off x="12399976" y="-1"/>
            <a:ext cx="2743200" cy="4951649"/>
            <a:chOff x="12399976" y="-1"/>
            <a:chExt cx="2743200" cy="4951649"/>
          </a:xfrm>
        </p:grpSpPr>
        <p:sp>
          <p:nvSpPr>
            <p:cNvPr id="13" name="TextBox 7"/>
            <p:cNvSpPr txBox="1"/>
            <p:nvPr/>
          </p:nvSpPr>
          <p:spPr bwMode="gray">
            <a:xfrm>
              <a:off x="12399976" y="-1"/>
              <a:ext cx="2743200" cy="4951649"/>
            </a:xfrm>
            <a:prstGeom prst="rect">
              <a:avLst/>
            </a:prstGeom>
            <a:solidFill>
              <a:schemeClr val="bg1"/>
            </a:solidFill>
          </p:spPr>
          <p:txBody>
            <a:bodyPr wrap="square" lIns="108000" tIns="108000" rIns="108000" bIns="108000">
              <a:spAutoFit/>
            </a:bodyPr>
            <a:lstStyle/>
            <a:p>
              <a:pPr>
                <a:lnSpc>
                  <a:spcPct val="120000"/>
                </a:lnSpc>
                <a:spcAft>
                  <a:spcPts val="600"/>
                </a:spcAft>
              </a:pPr>
              <a:r>
                <a:rPr lang="en-US" sz="1100" b="1" noProof="0" dirty="0">
                  <a:effectLst/>
                  <a:latin typeface="+mj-lt"/>
                </a:rPr>
                <a:t>To change the illustration:</a:t>
              </a:r>
              <a:endParaRPr lang="en-US" sz="1100" b="1" noProof="0" dirty="0">
                <a:effectLst/>
                <a:latin typeface="+mj-lt"/>
              </a:endParaRPr>
            </a:p>
            <a:p>
              <a:pPr marL="144145" indent="-144145">
                <a:lnSpc>
                  <a:spcPct val="120000"/>
                </a:lnSpc>
                <a:spcAft>
                  <a:spcPts val="600"/>
                </a:spcAft>
                <a:buFont typeface="+mj-lt"/>
                <a:buAutoNum type="arabicPeriod"/>
              </a:pPr>
              <a:r>
                <a:rPr lang="en-US" sz="900" noProof="0" dirty="0"/>
                <a:t>Choose a scene illustration from our Brand Hub and download it as an SVG in the appropriate color:</a:t>
              </a:r>
              <a:br>
                <a:rPr lang="en-US" sz="900" noProof="0" dirty="0"/>
              </a:br>
              <a:r>
                <a:rPr lang="en-US" sz="900" noProof="0" dirty="0">
                  <a:hlinkClick r:id="rId2"/>
                </a:rPr>
                <a:t>Go to the illustration library ↗</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Click on the existing illustration.</a:t>
              </a:r>
              <a:endParaRPr lang="en-US" sz="900" noProof="0" dirty="0"/>
            </a:p>
            <a:p>
              <a:pPr marL="144145" indent="-144145">
                <a:lnSpc>
                  <a:spcPct val="120000"/>
                </a:lnSpc>
                <a:spcAft>
                  <a:spcPts val="600"/>
                </a:spcAft>
                <a:buFont typeface="+mj-lt"/>
                <a:buAutoNum type="arabicPeriod"/>
              </a:pPr>
              <a:r>
                <a:rPr lang="en-US" sz="900" noProof="0" dirty="0"/>
                <a:t>Open the menu ‘Graphics Format’.</a:t>
              </a:r>
              <a:endParaRPr lang="en-US" sz="900" noProof="0" dirty="0"/>
            </a:p>
            <a:p>
              <a:pPr marL="144145" indent="-144145">
                <a:lnSpc>
                  <a:spcPct val="120000"/>
                </a:lnSpc>
                <a:spcAft>
                  <a:spcPts val="600"/>
                </a:spcAft>
                <a:buFont typeface="+mj-lt"/>
                <a:buAutoNum type="arabicPeriod"/>
              </a:pPr>
              <a:r>
                <a:rPr lang="en-US" sz="900" noProof="0" dirty="0"/>
                <a:t>Choose ‘Change Graphic’ and then the corresponding source where the illustration is located.</a:t>
              </a:r>
              <a:br>
                <a:rPr lang="en-US" sz="900" noProof="0" dirty="0"/>
              </a:br>
              <a:br>
                <a:rPr lang="en-US" sz="900" noProof="0" dirty="0"/>
              </a:br>
              <a:br>
                <a:rPr lang="en-US" sz="900" noProof="0" dirty="0"/>
              </a:br>
              <a:br>
                <a:rPr lang="en-US" sz="900" noProof="0" dirty="0"/>
              </a:br>
              <a:br>
                <a:rPr lang="en-US" sz="900" noProof="0" dirty="0"/>
              </a:br>
              <a:br>
                <a:rPr lang="en-US" sz="900" noProof="0" dirty="0"/>
              </a:br>
              <a:br>
                <a:rPr lang="en-US" sz="900" noProof="0" dirty="0"/>
              </a:br>
              <a:endParaRPr lang="en-US" sz="900" noProof="0" dirty="0"/>
            </a:p>
            <a:p>
              <a:pPr marL="144145" indent="-144145">
                <a:lnSpc>
                  <a:spcPct val="120000"/>
                </a:lnSpc>
                <a:spcAft>
                  <a:spcPts val="600"/>
                </a:spcAft>
                <a:buFont typeface="+mj-lt"/>
                <a:buAutoNum type="arabicPeriod"/>
              </a:pPr>
              <a:r>
                <a:rPr lang="en-US" sz="900" noProof="0" dirty="0"/>
                <a:t>Now the illustration has been loaded into the </a:t>
              </a:r>
              <a:br>
                <a:rPr lang="en-US" sz="900" noProof="0" dirty="0"/>
              </a:br>
              <a:r>
                <a:rPr lang="en-US" sz="900" noProof="0" dirty="0"/>
                <a:t>placeholder.</a:t>
              </a:r>
              <a:endParaRPr lang="en-US" sz="900" noProof="0" dirty="0"/>
            </a:p>
          </p:txBody>
        </p:sp>
        <p:pic>
          <p:nvPicPr>
            <p:cNvPr id="14" name="Picture 13"/>
            <p:cNvPicPr/>
            <p:nvPr/>
          </p:nvPicPr>
          <p:blipFill>
            <a:blip r:embed="rId3"/>
            <a:stretch>
              <a:fillRect/>
            </a:stretch>
          </p:blipFill>
          <p:spPr>
            <a:xfrm>
              <a:off x="12648728" y="3356992"/>
              <a:ext cx="1080120" cy="984668"/>
            </a:xfrm>
            <a:prstGeom prst="rect">
              <a:avLst/>
            </a:prstGeom>
          </p:spPr>
        </p:pic>
        <p:pic>
          <p:nvPicPr>
            <p:cNvPr id="15" name="Picture 14"/>
            <p:cNvPicPr>
              <a:picLocks noChangeAspect="1"/>
            </p:cNvPicPr>
            <p:nvPr/>
          </p:nvPicPr>
          <p:blipFill rotWithShape="1">
            <a:blip r:embed="rId4"/>
            <a:srcRect l="2134" r="2134"/>
            <a:stretch>
              <a:fillRect/>
            </a:stretch>
          </p:blipFill>
          <p:spPr>
            <a:xfrm>
              <a:off x="12648728" y="1143000"/>
              <a:ext cx="2376264" cy="984668"/>
            </a:xfrm>
            <a:prstGeom prst="rect">
              <a:avLst/>
            </a:prstGeom>
          </p:spPr>
        </p:pic>
      </p:grpSp>
      <p:pic>
        <p:nvPicPr>
          <p:cNvPr id="2" name="Grafik 5"/>
          <p:cNvPicPr>
            <a:picLocks noChangeAspect="1"/>
          </p:cNvPicPr>
          <p:nvPr/>
        </p:nvPicPr>
        <p:blipFill>
          <a:blip r:embed="rId5">
            <a:extLst>
              <a:ext uri="{96DAC541-7B7A-43D3-8B79-37D633B846F1}">
                <asvg:svgBlip xmlns:asvg="http://schemas.microsoft.com/office/drawing/2016/SVG/main" r:embed="rId6"/>
              </a:ext>
            </a:extLst>
          </a:blip>
          <a:srcRect/>
          <a:stretch>
            <a:fillRect/>
          </a:stretch>
        </p:blipFill>
        <p:spPr bwMode="gray">
          <a:xfrm>
            <a:off x="7680664" y="1341020"/>
            <a:ext cx="3887928" cy="38879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Simulation Design</a:t>
            </a:r>
            <a:endParaRPr lang="en-US" sz="2200" noProof="0" dirty="0"/>
          </a:p>
        </p:txBody>
      </p:sp>
      <p:sp>
        <p:nvSpPr>
          <p:cNvPr id="10" name="Textplatzhalter 9"/>
          <p:cNvSpPr>
            <a:spLocks noGrp="1"/>
          </p:cNvSpPr>
          <p:nvPr>
            <p:ph type="body" sz="quarter" idx="13"/>
          </p:nvPr>
        </p:nvSpPr>
        <p:spPr bwMode="gray"/>
        <p:txBody>
          <a:bodyPr/>
          <a:lstStyle/>
          <a:p>
            <a:endParaRPr lang="en-US"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sp>
        <p:nvSpPr>
          <p:cNvPr id="3" name="Arrow: Right 2"/>
          <p:cNvSpPr/>
          <p:nvPr/>
        </p:nvSpPr>
        <p:spPr bwMode="gray">
          <a:xfrm>
            <a:off x="304800" y="2667000"/>
            <a:ext cx="10472259" cy="3534628"/>
          </a:xfrm>
          <a:prstGeom prst="rightArrow">
            <a:avLst>
              <a:gd name="adj1" fmla="val 50000"/>
              <a:gd name="adj2" fmla="val 24619"/>
            </a:avLst>
          </a:prstGeom>
          <a:solidFill>
            <a:srgbClr val="EFEEEB"/>
          </a:solidFill>
          <a:ln w="6350">
            <a:solidFill>
              <a:srgbClr val="EFEE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mc:AlternateContent xmlns:mc="http://schemas.openxmlformats.org/markup-compatibility/2006">
        <mc:Choice xmlns:a14="http://schemas.microsoft.com/office/drawing/2010/main" Requires="a14">
          <p:sp>
            <p:nvSpPr>
              <p:cNvPr id="5" name="Rectangle: Rounded Corners 4"/>
              <p:cNvSpPr/>
              <p:nvPr/>
            </p:nvSpPr>
            <p:spPr bwMode="gray">
              <a:xfrm>
                <a:off x="1905000" y="3598569"/>
                <a:ext cx="1628954" cy="1694112"/>
              </a:xfrm>
              <a:prstGeom prst="roundRect">
                <a:avLst/>
              </a:prstGeom>
              <a:solidFill>
                <a:srgbClr val="00E47C"/>
              </a:solid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Sample Phase II estimate: </a:t>
                </a:r>
                <a14:m>
                  <m:oMath xmlns:m="http://schemas.openxmlformats.org/officeDocument/2006/math">
                    <m:acc>
                      <m:accPr>
                        <m:ctrlPr>
                          <a:rPr lang="en-US" sz="1400" i="1" dirty="0" smtClean="0">
                            <a:solidFill>
                              <a:schemeClr val="tx1"/>
                            </a:solidFill>
                            <a:latin typeface="Cambria Math" panose="02040503050406030204" pitchFamily="18" charset="0"/>
                          </a:rPr>
                        </m:ctrlPr>
                      </m:accPr>
                      <m:e>
                        <m:r>
                          <m:rPr>
                            <m:sty m:val="p"/>
                          </m:rPr>
                          <a:rPr lang="en-US" sz="1400" dirty="0">
                            <a:solidFill>
                              <a:schemeClr val="tx1"/>
                            </a:solidFill>
                            <a:latin typeface="Cambria Math" panose="02040503050406030204" pitchFamily="18" charset="0"/>
                          </a:rPr>
                          <m:t>Δ</m:t>
                        </m:r>
                      </m:e>
                    </m:acc>
                    <m:r>
                      <a:rPr lang="en-US" sz="1400" b="0" i="1" dirty="0" smtClean="0">
                        <a:solidFill>
                          <a:schemeClr val="tx1"/>
                        </a:solidFill>
                        <a:latin typeface="Cambria Math" panose="02040503050406030204" pitchFamily="18" charset="0"/>
                      </a:rPr>
                      <m:t>~</m:t>
                    </m:r>
                    <m:r>
                      <a:rPr lang="en-US" sz="1400" b="0" i="1" dirty="0" smtClean="0">
                        <a:solidFill>
                          <a:schemeClr val="tx1"/>
                        </a:solidFill>
                        <a:latin typeface="Cambria Math" panose="02040503050406030204" pitchFamily="18" charset="0"/>
                      </a:rPr>
                      <m:t>𝑁</m:t>
                    </m:r>
                    <m:r>
                      <a:rPr lang="en-US" sz="1400" b="0" i="1" dirty="0" smtClean="0">
                        <a:solidFill>
                          <a:schemeClr val="tx1"/>
                        </a:solidFill>
                        <a:latin typeface="Cambria Math" panose="02040503050406030204" pitchFamily="18" charset="0"/>
                      </a:rPr>
                      <m:t>(</m:t>
                    </m:r>
                    <m:sSub>
                      <m:sSubPr>
                        <m:ctrlPr>
                          <a:rPr lang="en-US" sz="1400" i="1" dirty="0">
                            <a:solidFill>
                              <a:schemeClr val="tx1"/>
                            </a:solidFill>
                            <a:latin typeface="Cambria Math" panose="02040503050406030204" pitchFamily="18" charset="0"/>
                          </a:rPr>
                        </m:ctrlPr>
                      </m:sSubPr>
                      <m:e>
                        <m:r>
                          <m:rPr>
                            <m:sty m:val="p"/>
                          </m:rPr>
                          <a:rPr lang="en-US" sz="1400" dirty="0">
                            <a:solidFill>
                              <a:schemeClr val="tx1"/>
                            </a:solidFill>
                            <a:latin typeface="Cambria Math" panose="02040503050406030204" pitchFamily="18" charset="0"/>
                          </a:rPr>
                          <m:t>Δ</m:t>
                        </m:r>
                      </m:e>
                      <m:sub>
                        <m:r>
                          <a:rPr lang="en-US" sz="1400" dirty="0">
                            <a:solidFill>
                              <a:schemeClr val="tx1"/>
                            </a:solidFill>
                            <a:latin typeface="Cambria Math" panose="02040503050406030204" pitchFamily="18" charset="0"/>
                          </a:rPr>
                          <m:t>02</m:t>
                        </m:r>
                      </m:sub>
                    </m:sSub>
                    <m:r>
                      <a:rPr lang="en-US" sz="1400" b="0" i="1" dirty="0" smtClean="0">
                        <a:solidFill>
                          <a:schemeClr val="tx1"/>
                        </a:solidFill>
                        <a:latin typeface="Cambria Math" panose="02040503050406030204" pitchFamily="18" charset="0"/>
                      </a:rPr>
                      <m:t>,</m:t>
                    </m:r>
                    <m:rad>
                      <m:radPr>
                        <m:degHide m:val="on"/>
                        <m:ctrlPr>
                          <a:rPr lang="en-US" sz="1400" i="1">
                            <a:solidFill>
                              <a:schemeClr val="tx1"/>
                            </a:solidFill>
                            <a:latin typeface="Cambria Math" panose="02040503050406030204" pitchFamily="18" charset="0"/>
                          </a:rPr>
                        </m:ctrlPr>
                      </m:radPr>
                      <m:deg/>
                      <m:e>
                        <m:r>
                          <a:rPr lang="en-US" sz="1400" i="1">
                            <a:solidFill>
                              <a:schemeClr val="tx1"/>
                            </a:solidFill>
                            <a:latin typeface="Cambria Math" panose="02040503050406030204" pitchFamily="18" charset="0"/>
                          </a:rPr>
                          <m:t>2</m:t>
                        </m:r>
                        <m:f>
                          <m:fPr>
                            <m:type m:val="lin"/>
                            <m:ctrlPr>
                              <a:rPr lang="en-US" sz="1400" i="1">
                                <a:solidFill>
                                  <a:schemeClr val="tx1"/>
                                </a:solidFill>
                                <a:latin typeface="Cambria Math" panose="02040503050406030204" pitchFamily="18" charset="0"/>
                              </a:rPr>
                            </m:ctrlPr>
                          </m:fPr>
                          <m:num>
                            <m:sSup>
                              <m:sSupPr>
                                <m:ctrlPr>
                                  <a:rPr lang="en-US" sz="1400" i="1">
                                    <a:solidFill>
                                      <a:schemeClr val="tx1"/>
                                    </a:solidFill>
                                    <a:latin typeface="Cambria Math" panose="02040503050406030204" pitchFamily="18" charset="0"/>
                                  </a:rPr>
                                </m:ctrlPr>
                              </m:sSupPr>
                              <m:e>
                                <m:r>
                                  <a:rPr lang="en-US" sz="1400" i="1" dirty="0">
                                    <a:solidFill>
                                      <a:schemeClr val="tx1"/>
                                    </a:solidFill>
                                    <a:latin typeface="Cambria Math" panose="02040503050406030204" pitchFamily="18" charset="0"/>
                                    <a:ea typeface="Cambria Math" panose="02040503050406030204" pitchFamily="18" charset="0"/>
                                  </a:rPr>
                                  <m:t>𝜎</m:t>
                                </m:r>
                              </m:e>
                              <m:sup>
                                <m:r>
                                  <a:rPr lang="en-US" sz="1400" i="1">
                                    <a:solidFill>
                                      <a:schemeClr val="tx1"/>
                                    </a:solidFill>
                                    <a:latin typeface="Cambria Math" panose="02040503050406030204" pitchFamily="18" charset="0"/>
                                  </a:rPr>
                                  <m:t>2</m:t>
                                </m:r>
                              </m:sup>
                            </m:sSup>
                          </m:num>
                          <m:den>
                            <m:r>
                              <a:rPr lang="en-US" sz="1400" i="1">
                                <a:solidFill>
                                  <a:schemeClr val="tx1"/>
                                </a:solidFill>
                                <a:latin typeface="Cambria Math" panose="02040503050406030204" pitchFamily="18" charset="0"/>
                              </a:rPr>
                              <m:t>𝑚</m:t>
                            </m:r>
                          </m:den>
                        </m:f>
                      </m:e>
                    </m:rad>
                    <m:r>
                      <a:rPr lang="en-US" sz="1400" b="0" i="1" smtClean="0">
                        <a:solidFill>
                          <a:schemeClr val="tx1"/>
                        </a:solidFill>
                        <a:latin typeface="Cambria Math" panose="02040503050406030204" pitchFamily="18" charset="0"/>
                      </a:rPr>
                      <m:t>)</m:t>
                    </m:r>
                  </m:oMath>
                </a14:m>
                <a:endParaRPr lang="en-US" sz="1400" dirty="0">
                  <a:solidFill>
                    <a:schemeClr val="tx1"/>
                  </a:solidFill>
                </a:endParaRPr>
              </a:p>
            </p:txBody>
          </p:sp>
        </mc:Choice>
        <mc:Fallback>
          <p:sp>
            <p:nvSpPr>
              <p:cNvPr id="5" name="Rectangle: Rounded Corners 4"/>
              <p:cNvSpPr>
                <a:spLocks noRot="1" noChangeAspect="1" noMove="1" noResize="1" noEditPoints="1" noAdjustHandles="1" noChangeArrowheads="1" noChangeShapeType="1" noTextEdit="1"/>
              </p:cNvSpPr>
              <p:nvPr/>
            </p:nvSpPr>
            <p:spPr bwMode="gray">
              <a:xfrm>
                <a:off x="1905000" y="3598569"/>
                <a:ext cx="1628954" cy="1694112"/>
              </a:xfrm>
              <a:prstGeom prst="roundRect">
                <a:avLst/>
              </a:prstGeom>
              <a:blipFill rotWithShape="1">
                <a:blip r:embed="rId1"/>
                <a:stretch>
                  <a:fillRect l="-312" t="-301" r="-262" b="-265"/>
                </a:stretch>
              </a:blip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bwMode="gray">
              <a:xfrm>
                <a:off x="761999" y="1065774"/>
                <a:ext cx="5353905" cy="254601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True Phase II effect: </a:t>
                </a:r>
                <a14:m>
                  <m:oMath xmlns:m="http://schemas.openxmlformats.org/officeDocument/2006/math">
                    <m:sSub>
                      <m:sSubPr>
                        <m:ctrlPr>
                          <a:rPr lang="en-US" i="1" dirty="0" smtClean="0">
                            <a:solidFill>
                              <a:srgbClr val="836967"/>
                            </a:solidFill>
                            <a:latin typeface="Cambria Math" panose="02040503050406030204" pitchFamily="18" charset="0"/>
                          </a:rPr>
                        </m:ctrlPr>
                      </m:sSubPr>
                      <m:e>
                        <m:r>
                          <m:rPr>
                            <m:sty m:val="p"/>
                          </m:rPr>
                          <a:rPr lang="en-US" dirty="0">
                            <a:latin typeface="Cambria Math" panose="02040503050406030204" pitchFamily="18" charset="0"/>
                          </a:rPr>
                          <m:t>Δ</m:t>
                        </m:r>
                      </m:e>
                      <m:sub>
                        <m:r>
                          <a:rPr lang="en-US" dirty="0">
                            <a:latin typeface="Cambria Math" panose="02040503050406030204" pitchFamily="18" charset="0"/>
                          </a:rPr>
                          <m:t>02</m:t>
                        </m:r>
                      </m:sub>
                    </m:sSub>
                  </m:oMath>
                </a14:m>
                <a:endParaRPr lang="en-US" dirty="0"/>
              </a:p>
              <a:p>
                <a:pPr marL="285750" indent="-285750">
                  <a:lnSpc>
                    <a:spcPct val="150000"/>
                  </a:lnSpc>
                  <a:buFont typeface="Arial" panose="020B0604020202020204" pitchFamily="34" charset="0"/>
                  <a:buChar char="•"/>
                </a:pPr>
                <a:r>
                  <a:rPr lang="en-US" dirty="0">
                    <a:solidFill>
                      <a:srgbClr val="FF0000"/>
                    </a:solidFill>
                  </a:rPr>
                  <a:t>True Phase III effect: </a:t>
                </a:r>
                <a14:m>
                  <m:oMath xmlns:m="http://schemas.openxmlformats.org/officeDocument/2006/math">
                    <m:sSub>
                      <m:sSubPr>
                        <m:ctrlPr>
                          <a:rPr lang="en-US" i="1" dirty="0">
                            <a:solidFill>
                              <a:srgbClr val="FF0000"/>
                            </a:solidFill>
                            <a:latin typeface="Cambria Math" panose="02040503050406030204" pitchFamily="18" charset="0"/>
                          </a:rPr>
                        </m:ctrlPr>
                      </m:sSubPr>
                      <m:e>
                        <m:r>
                          <m:rPr>
                            <m:sty m:val="p"/>
                          </m:rPr>
                          <a:rPr lang="en-US" dirty="0">
                            <a:solidFill>
                              <a:srgbClr val="FF0000"/>
                            </a:solidFill>
                            <a:latin typeface="Cambria Math" panose="02040503050406030204" pitchFamily="18" charset="0"/>
                          </a:rPr>
                          <m:t>Δ</m:t>
                        </m:r>
                      </m:e>
                      <m:sub>
                        <m:r>
                          <a:rPr lang="en-US" dirty="0">
                            <a:solidFill>
                              <a:srgbClr val="FF0000"/>
                            </a:solidFill>
                            <a:latin typeface="Cambria Math" panose="02040503050406030204" pitchFamily="18" charset="0"/>
                          </a:rPr>
                          <m:t>0</m:t>
                        </m:r>
                      </m:sub>
                    </m:sSub>
                  </m:oMath>
                </a14:m>
                <a:endParaRPr lang="en-US" dirty="0"/>
              </a:p>
              <a:p>
                <a:pPr marL="285750" indent="-285750">
                  <a:lnSpc>
                    <a:spcPct val="150000"/>
                  </a:lnSpc>
                  <a:buFont typeface="Arial" panose="020B0604020202020204" pitchFamily="34" charset="0"/>
                  <a:buChar char="•"/>
                </a:pPr>
                <a:r>
                  <a:rPr lang="en-US" dirty="0"/>
                  <a:t>Clinical Threshold:</a:t>
                </a:r>
                <a:r>
                  <a:rPr lang="en-US" dirty="0">
                    <a:latin typeface="Cambria Math" panose="02040503050406030204" pitchFamily="18" charset="0"/>
                  </a:rPr>
                  <a:t> </a:t>
                </a:r>
                <a14:m>
                  <m:oMath xmlns:m="http://schemas.openxmlformats.org/officeDocument/2006/math">
                    <m:sSub>
                      <m:sSubPr>
                        <m:ctrlPr>
                          <a:rPr lang="en-US" i="1" dirty="0">
                            <a:solidFill>
                              <a:srgbClr val="836967"/>
                            </a:solidFill>
                            <a:latin typeface="Cambria Math" panose="02040503050406030204" pitchFamily="18" charset="0"/>
                          </a:rPr>
                        </m:ctrlPr>
                      </m:sSubPr>
                      <m:e>
                        <m:r>
                          <m:rPr>
                            <m:sty m:val="p"/>
                          </m:rPr>
                          <a:rPr lang="en-US" dirty="0">
                            <a:latin typeface="Cambria Math" panose="02040503050406030204" pitchFamily="18" charset="0"/>
                          </a:rPr>
                          <m:t>Δ</m:t>
                        </m:r>
                      </m:e>
                      <m:sub>
                        <m:r>
                          <a:rPr lang="en-US" i="1" dirty="0">
                            <a:latin typeface="Cambria Math" panose="02040503050406030204" pitchFamily="18" charset="0"/>
                          </a:rPr>
                          <m:t>𝑃𝐷</m:t>
                        </m:r>
                      </m:sub>
                    </m:sSub>
                    <m:r>
                      <a:rPr lang="en-US" i="1" dirty="0">
                        <a:latin typeface="Cambria Math" panose="02040503050406030204" pitchFamily="18" charset="0"/>
                      </a:rPr>
                      <m:t>=</m:t>
                    </m:r>
                    <m:r>
                      <a:rPr lang="en-US" i="1" dirty="0">
                        <a:latin typeface="Cambria Math" panose="02040503050406030204" pitchFamily="18" charset="0"/>
                      </a:rPr>
                      <m:t>1</m:t>
                    </m:r>
                  </m:oMath>
                </a14:m>
                <a:endParaRPr lang="en-US" dirty="0"/>
              </a:p>
              <a:p>
                <a:pPr marL="285750" indent="-285750">
                  <a:lnSpc>
                    <a:spcPct val="150000"/>
                  </a:lnSpc>
                  <a:buFont typeface="Arial" panose="020B0604020202020204" pitchFamily="34" charset="0"/>
                  <a:buChar char="•"/>
                </a:pPr>
                <a:r>
                  <a:rPr lang="en-US" dirty="0"/>
                  <a:t>SD: </a:t>
                </a:r>
                <a14:m>
                  <m:oMath xmlns:m="http://schemas.openxmlformats.org/officeDocument/2006/math">
                    <m:r>
                      <a:rPr lang="en-US" i="1" dirty="0">
                        <a:latin typeface="Cambria Math" panose="02040503050406030204" pitchFamily="18" charset="0"/>
                      </a:rPr>
                      <m:t>𝜎</m:t>
                    </m:r>
                    <m:r>
                      <a:rPr lang="en-US" dirty="0">
                        <a:latin typeface="Cambria Math" panose="02040503050406030204" pitchFamily="18" charset="0"/>
                      </a:rPr>
                      <m:t>=</m:t>
                    </m:r>
                    <m:r>
                      <a:rPr lang="en-US" dirty="0">
                        <a:latin typeface="Cambria Math" panose="02040503050406030204" pitchFamily="18" charset="0"/>
                      </a:rPr>
                      <m:t>4</m:t>
                    </m:r>
                    <m:r>
                      <a:rPr lang="en-US" dirty="0">
                        <a:latin typeface="Cambria Math" panose="02040503050406030204" pitchFamily="18" charset="0"/>
                      </a:rPr>
                      <m:t>.</m:t>
                    </m:r>
                    <m:r>
                      <a:rPr lang="en-US" dirty="0">
                        <a:latin typeface="Cambria Math" panose="02040503050406030204" pitchFamily="18" charset="0"/>
                      </a:rPr>
                      <m:t>5</m:t>
                    </m:r>
                  </m:oMath>
                </a14:m>
                <a:r>
                  <a:rPr lang="en-US" dirty="0"/>
                  <a:t> </a:t>
                </a:r>
                <a:endParaRPr lang="en-US" dirty="0"/>
              </a:p>
              <a:p>
                <a:pPr marL="285750" indent="-285750">
                  <a:lnSpc>
                    <a:spcPct val="150000"/>
                  </a:lnSpc>
                  <a:buFont typeface="Arial" panose="020B0604020202020204" pitchFamily="34" charset="0"/>
                  <a:buChar char="•"/>
                </a:pPr>
                <a:r>
                  <a:rPr lang="en-US" dirty="0"/>
                  <a:t>Phase II sample size (per group): </a:t>
                </a:r>
                <a14:m>
                  <m:oMath xmlns:m="http://schemas.openxmlformats.org/officeDocument/2006/math">
                    <m:r>
                      <a:rPr lang="en-US" i="1" dirty="0">
                        <a:latin typeface="Cambria Math" panose="02040503050406030204" pitchFamily="18" charset="0"/>
                      </a:rPr>
                      <m:t>𝑚</m:t>
                    </m:r>
                    <m:r>
                      <a:rPr lang="en-US"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dirty="0">
                            <a:latin typeface="Cambria Math" panose="02040503050406030204" pitchFamily="18" charset="0"/>
                          </a:rPr>
                          <m:t>50</m:t>
                        </m:r>
                        <m:r>
                          <a:rPr lang="en-US" dirty="0">
                            <a:latin typeface="Cambria Math" panose="02040503050406030204" pitchFamily="18" charset="0"/>
                          </a:rPr>
                          <m:t>,</m:t>
                        </m:r>
                        <m:r>
                          <a:rPr lang="en-US" dirty="0">
                            <a:latin typeface="Cambria Math" panose="02040503050406030204" pitchFamily="18" charset="0"/>
                          </a:rPr>
                          <m:t>100</m:t>
                        </m:r>
                      </m:e>
                    </m:d>
                    <m:r>
                      <a:rPr lang="en-US" i="1" dirty="0">
                        <a:latin typeface="Cambria Math" panose="02040503050406030204" pitchFamily="18" charset="0"/>
                      </a:rPr>
                      <m:t> </m:t>
                    </m:r>
                  </m:oMath>
                </a14:m>
                <a:endParaRPr lang="en-US" dirty="0"/>
              </a:p>
              <a:p>
                <a:pPr marL="285750" indent="-285750">
                  <a:lnSpc>
                    <a:spcPct val="150000"/>
                  </a:lnSpc>
                  <a:buFont typeface="Arial" panose="020B0604020202020204" pitchFamily="34" charset="0"/>
                  <a:buChar char="•"/>
                </a:pPr>
                <a:endParaRPr lang="en-US" dirty="0"/>
              </a:p>
            </p:txBody>
          </p:sp>
        </mc:Choice>
        <mc:Fallback>
          <p:sp>
            <p:nvSpPr>
              <p:cNvPr id="9" name="TextBox 8"/>
              <p:cNvSpPr txBox="1">
                <a:spLocks noRot="1" noChangeAspect="1" noMove="1" noResize="1" noEditPoints="1" noAdjustHandles="1" noChangeArrowheads="1" noChangeShapeType="1" noTextEdit="1"/>
              </p:cNvSpPr>
              <p:nvPr/>
            </p:nvSpPr>
            <p:spPr bwMode="gray">
              <a:xfrm>
                <a:off x="761999" y="1065774"/>
                <a:ext cx="5353905" cy="2546018"/>
              </a:xfrm>
              <a:prstGeom prst="rect">
                <a:avLst/>
              </a:prstGeom>
              <a:blipFill rotWithShape="1">
                <a:blip r:embed="rId2"/>
                <a:stretch>
                  <a:fillRect l="-12" t="-10" r="4"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bwMode="gray">
              <a:xfrm>
                <a:off x="6087149" y="956241"/>
                <a:ext cx="6180826" cy="245208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Scenarios: </a:t>
                </a:r>
                <a:endParaRPr lang="en-US" dirty="0"/>
              </a:p>
              <a:p>
                <a:pPr marL="800100" lvl="1" indent="-342900">
                  <a:lnSpc>
                    <a:spcPct val="150000"/>
                  </a:lnSpc>
                  <a:buFont typeface="+mj-lt"/>
                  <a:buAutoNum type="arabicParenR"/>
                </a:pPr>
                <a:r>
                  <a:rPr lang="en-US" sz="1600" dirty="0"/>
                  <a:t>Positive : </a:t>
                </a:r>
                <a14:m>
                  <m:oMath xmlns:m="http://schemas.openxmlformats.org/officeDocument/2006/math">
                    <m:sSub>
                      <m:sSubPr>
                        <m:ctrlPr>
                          <a:rPr lang="en-US" sz="1600" i="1" dirty="0" smtClean="0">
                            <a:solidFill>
                              <a:srgbClr val="FF0000"/>
                            </a:solidFill>
                            <a:latin typeface="Cambria Math" panose="02040503050406030204" pitchFamily="18" charset="0"/>
                          </a:rPr>
                        </m:ctrlPr>
                      </m:sSubPr>
                      <m:e>
                        <m:r>
                          <m:rPr>
                            <m:sty m:val="p"/>
                          </m:rPr>
                          <a:rPr lang="en-US" sz="1600" dirty="0">
                            <a:solidFill>
                              <a:srgbClr val="FF0000"/>
                            </a:solidFill>
                            <a:latin typeface="Cambria Math" panose="02040503050406030204" pitchFamily="18" charset="0"/>
                          </a:rPr>
                          <m:t>Δ</m:t>
                        </m:r>
                      </m:e>
                      <m:sub>
                        <m:r>
                          <a:rPr lang="en-US" sz="1600" dirty="0">
                            <a:solidFill>
                              <a:srgbClr val="FF0000"/>
                            </a:solidFill>
                            <a:latin typeface="Cambria Math" panose="02040503050406030204" pitchFamily="18" charset="0"/>
                          </a:rPr>
                          <m:t>0</m:t>
                        </m:r>
                      </m:sub>
                    </m:sSub>
                    <m:r>
                      <a:rPr lang="en-US" sz="1600" dirty="0">
                        <a:latin typeface="Cambria Math" panose="02040503050406030204" pitchFamily="18" charset="0"/>
                      </a:rPr>
                      <m: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dirty="0">
                            <a:latin typeface="Cambria Math" panose="02040503050406030204" pitchFamily="18" charset="0"/>
                          </a:rPr>
                          <m:t>02</m:t>
                        </m:r>
                      </m:sub>
                    </m:sSub>
                    <m:r>
                      <a:rPr lang="en-US" sz="1600" dirty="0">
                        <a:latin typeface="Cambria Math" panose="02040503050406030204" pitchFamily="18" charset="0"/>
                      </a:rPr>
                      <m:t>=</m:t>
                    </m:r>
                    <m:r>
                      <a:rPr lang="en-US" sz="1600" i="1" dirty="0">
                        <a:latin typeface="Cambria Math" panose="02040503050406030204" pitchFamily="18" charset="0"/>
                      </a:rPr>
                      <m:t>1</m:t>
                    </m:r>
                    <m:r>
                      <a:rPr lang="en-US" sz="1600" i="1" dirty="0">
                        <a:latin typeface="Cambria Math" panose="02040503050406030204" pitchFamily="18" charset="0"/>
                      </a:rPr>
                      <m:t>.</m:t>
                    </m:r>
                    <m:r>
                      <a:rPr lang="en-US" sz="1600" i="1" dirty="0">
                        <a:latin typeface="Cambria Math" panose="02040503050406030204" pitchFamily="18" charset="0"/>
                      </a:rPr>
                      <m:t>45</m:t>
                    </m:r>
                  </m:oMath>
                </a14:m>
                <a:endParaRPr lang="en-US" sz="1600" dirty="0"/>
              </a:p>
              <a:p>
                <a:pPr marL="800100" lvl="1" indent="-342900">
                  <a:lnSpc>
                    <a:spcPct val="150000"/>
                  </a:lnSpc>
                  <a:buFont typeface="+mj-lt"/>
                  <a:buAutoNum type="arabicParenR"/>
                </a:pPr>
                <a:r>
                  <a:rPr lang="en-US" sz="1600" dirty="0"/>
                  <a:t>Negative: </a:t>
                </a:r>
                <a14:m>
                  <m:oMath xmlns:m="http://schemas.openxmlformats.org/officeDocument/2006/math">
                    <m:sSub>
                      <m:sSubPr>
                        <m:ctrlPr>
                          <a:rPr lang="en-US" sz="1600" i="1" dirty="0" smtClean="0">
                            <a:solidFill>
                              <a:srgbClr val="FF0000"/>
                            </a:solidFill>
                            <a:latin typeface="Cambria Math" panose="02040503050406030204" pitchFamily="18" charset="0"/>
                          </a:rPr>
                        </m:ctrlPr>
                      </m:sSubPr>
                      <m:e>
                        <m:r>
                          <m:rPr>
                            <m:sty m:val="p"/>
                          </m:rPr>
                          <a:rPr lang="en-US" sz="1600" dirty="0">
                            <a:solidFill>
                              <a:srgbClr val="FF0000"/>
                            </a:solidFill>
                            <a:latin typeface="Cambria Math" panose="02040503050406030204" pitchFamily="18" charset="0"/>
                          </a:rPr>
                          <m:t>Δ</m:t>
                        </m:r>
                      </m:e>
                      <m:sub>
                        <m:r>
                          <a:rPr lang="en-US" sz="1600" dirty="0">
                            <a:solidFill>
                              <a:srgbClr val="FF0000"/>
                            </a:solidFill>
                            <a:latin typeface="Cambria Math" panose="02040503050406030204" pitchFamily="18" charset="0"/>
                          </a:rPr>
                          <m:t>0</m:t>
                        </m:r>
                      </m:sub>
                    </m:sSub>
                    <m:r>
                      <a:rPr lang="en-US" sz="1600" dirty="0">
                        <a:latin typeface="Cambria Math" panose="02040503050406030204" pitchFamily="18" charset="0"/>
                      </a:rPr>
                      <m: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dirty="0">
                            <a:latin typeface="Cambria Math" panose="02040503050406030204" pitchFamily="18" charset="0"/>
                          </a:rPr>
                          <m:t>02</m:t>
                        </m:r>
                      </m:sub>
                    </m:sSub>
                    <m:r>
                      <a:rPr lang="en-US" sz="1600" dirty="0">
                        <a:latin typeface="Cambria Math" panose="02040503050406030204" pitchFamily="18" charset="0"/>
                      </a:rPr>
                      <m:t>=</m:t>
                    </m:r>
                    <m:r>
                      <a:rPr lang="en-US" sz="1600" i="1" dirty="0">
                        <a:latin typeface="Cambria Math" panose="02040503050406030204" pitchFamily="18" charset="0"/>
                      </a:rPr>
                      <m:t>0</m:t>
                    </m:r>
                    <m:r>
                      <a:rPr lang="en-US" sz="1600" i="1" dirty="0">
                        <a:latin typeface="Cambria Math" panose="02040503050406030204" pitchFamily="18" charset="0"/>
                      </a:rPr>
                      <m:t>.</m:t>
                    </m:r>
                    <m:r>
                      <a:rPr lang="en-US" sz="1600" i="1" dirty="0">
                        <a:latin typeface="Cambria Math" panose="02040503050406030204" pitchFamily="18" charset="0"/>
                      </a:rPr>
                      <m:t>80</m:t>
                    </m:r>
                  </m:oMath>
                </a14:m>
                <a:endParaRPr lang="en-US" dirty="0"/>
              </a:p>
              <a:p>
                <a:pPr marL="342900" indent="-342900">
                  <a:lnSpc>
                    <a:spcPct val="150000"/>
                  </a:lnSpc>
                  <a:buFont typeface="Arial" panose="020B0604020202020204" pitchFamily="34" charset="0"/>
                  <a:buChar char="•"/>
                </a:pPr>
                <a:r>
                  <a:rPr lang="en-US" dirty="0">
                    <a:solidFill>
                      <a:srgbClr val="FF0000"/>
                    </a:solidFill>
                  </a:rPr>
                  <a:t>Significance level for Phase III: </a:t>
                </a:r>
                <a14:m>
                  <m:oMath xmlns:m="http://schemas.openxmlformats.org/officeDocument/2006/math">
                    <m:r>
                      <a:rPr lang="en-US" i="1" dirty="0">
                        <a:solidFill>
                          <a:srgbClr val="FF0000"/>
                        </a:solidFill>
                        <a:latin typeface="Cambria Math" panose="02040503050406030204" pitchFamily="18" charset="0"/>
                      </a:rPr>
                      <m:t>𝛼</m:t>
                    </m:r>
                    <m:r>
                      <a:rPr lang="en-US" dirty="0">
                        <a:solidFill>
                          <a:srgbClr val="FF0000"/>
                        </a:solidFill>
                        <a:latin typeface="Cambria Math" panose="02040503050406030204" pitchFamily="18" charset="0"/>
                      </a:rPr>
                      <m:t>=</m:t>
                    </m:r>
                    <m:r>
                      <a:rPr lang="en-US" dirty="0">
                        <a:solidFill>
                          <a:srgbClr val="FF0000"/>
                        </a:solidFill>
                        <a:latin typeface="Cambria Math" panose="02040503050406030204" pitchFamily="18" charset="0"/>
                      </a:rPr>
                      <m:t>0</m:t>
                    </m:r>
                    <m:r>
                      <a:rPr lang="en-US" dirty="0">
                        <a:solidFill>
                          <a:srgbClr val="FF0000"/>
                        </a:solidFill>
                        <a:latin typeface="Cambria Math" panose="02040503050406030204" pitchFamily="18" charset="0"/>
                      </a:rPr>
                      <m:t>.</m:t>
                    </m:r>
                    <m:r>
                      <a:rPr lang="en-US" dirty="0">
                        <a:solidFill>
                          <a:srgbClr val="FF0000"/>
                        </a:solidFill>
                        <a:latin typeface="Cambria Math" panose="02040503050406030204" pitchFamily="18" charset="0"/>
                      </a:rPr>
                      <m:t>025</m:t>
                    </m:r>
                  </m:oMath>
                </a14:m>
                <a:endParaRPr lang="en-US" dirty="0">
                  <a:solidFill>
                    <a:srgbClr val="FF0000"/>
                  </a:solidFill>
                </a:endParaRPr>
              </a:p>
              <a:p>
                <a:pPr marL="342900" indent="-342900">
                  <a:lnSpc>
                    <a:spcPct val="150000"/>
                  </a:lnSpc>
                  <a:buFont typeface="Arial" panose="020B0604020202020204" pitchFamily="34" charset="0"/>
                  <a:buChar char="•"/>
                </a:pPr>
                <a:r>
                  <a:rPr lang="en-US" dirty="0">
                    <a:solidFill>
                      <a:srgbClr val="FF0000"/>
                    </a:solidFill>
                  </a:rPr>
                  <a:t>Planned power for phase III: </a:t>
                </a:r>
                <a14:m>
                  <m:oMath xmlns:m="http://schemas.openxmlformats.org/officeDocument/2006/math">
                    <m:r>
                      <a:rPr lang="en-US" dirty="0">
                        <a:solidFill>
                          <a:srgbClr val="FF0000"/>
                        </a:solidFill>
                        <a:latin typeface="Cambria Math" panose="02040503050406030204" pitchFamily="18" charset="0"/>
                      </a:rPr>
                      <m:t>1</m:t>
                    </m:r>
                    <m:r>
                      <a:rPr lang="en-US" dirty="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𝛽</m:t>
                    </m:r>
                    <m:r>
                      <a:rPr lang="en-US" dirty="0">
                        <a:solidFill>
                          <a:srgbClr val="FF0000"/>
                        </a:solidFill>
                        <a:latin typeface="Cambria Math" panose="02040503050406030204" pitchFamily="18" charset="0"/>
                      </a:rPr>
                      <m:t>=</m:t>
                    </m:r>
                    <m:r>
                      <a:rPr lang="en-US" dirty="0">
                        <a:solidFill>
                          <a:srgbClr val="FF0000"/>
                        </a:solidFill>
                        <a:latin typeface="Cambria Math" panose="02040503050406030204" pitchFamily="18" charset="0"/>
                      </a:rPr>
                      <m:t>0</m:t>
                    </m:r>
                    <m:r>
                      <a:rPr lang="en-US" dirty="0">
                        <a:solidFill>
                          <a:srgbClr val="FF0000"/>
                        </a:solidFill>
                        <a:latin typeface="Cambria Math" panose="02040503050406030204" pitchFamily="18" charset="0"/>
                      </a:rPr>
                      <m:t>.</m:t>
                    </m:r>
                    <m:r>
                      <a:rPr lang="en-US" dirty="0">
                        <a:solidFill>
                          <a:srgbClr val="FF0000"/>
                        </a:solidFill>
                        <a:latin typeface="Cambria Math" panose="02040503050406030204" pitchFamily="18" charset="0"/>
                      </a:rPr>
                      <m:t>9</m:t>
                    </m:r>
                  </m:oMath>
                </a14:m>
                <a:endParaRPr lang="en-US" dirty="0">
                  <a:solidFill>
                    <a:srgbClr val="FF0000"/>
                  </a:solidFill>
                </a:endParaRPr>
              </a:p>
              <a:p>
                <a:pPr marL="342900" indent="-342900">
                  <a:lnSpc>
                    <a:spcPct val="150000"/>
                  </a:lnSpc>
                  <a:buFont typeface="Arial" panose="020B0604020202020204" pitchFamily="34" charset="0"/>
                  <a:buChar char="•"/>
                </a:pPr>
                <a:r>
                  <a:rPr lang="en-US" dirty="0"/>
                  <a:t>Number of replicates: </a:t>
                </a:r>
                <a14:m>
                  <m:oMath xmlns:m="http://schemas.openxmlformats.org/officeDocument/2006/math">
                    <m:r>
                      <a:rPr lang="en-US" i="1" dirty="0">
                        <a:latin typeface="Cambria Math" panose="02040503050406030204" pitchFamily="18" charset="0"/>
                      </a:rPr>
                      <m:t>𝑠</m:t>
                    </m:r>
                    <m:r>
                      <a:rPr lang="en-US" dirty="0">
                        <a:latin typeface="Cambria Math" panose="02040503050406030204" pitchFamily="18" charset="0"/>
                      </a:rPr>
                      <m:t>=</m:t>
                    </m:r>
                    <m:r>
                      <a:rPr lang="en-US" dirty="0">
                        <a:latin typeface="Cambria Math" panose="02040503050406030204" pitchFamily="18" charset="0"/>
                      </a:rPr>
                      <m:t>1</m:t>
                    </m:r>
                    <m:r>
                      <a:rPr lang="en-US" dirty="0">
                        <a:latin typeface="Cambria Math" panose="02040503050406030204" pitchFamily="18" charset="0"/>
                      </a:rPr>
                      <m:t>,</m:t>
                    </m:r>
                    <m:r>
                      <a:rPr lang="en-US" dirty="0">
                        <a:latin typeface="Cambria Math" panose="02040503050406030204" pitchFamily="18" charset="0"/>
                      </a:rPr>
                      <m:t>000</m:t>
                    </m:r>
                  </m:oMath>
                </a14:m>
                <a:endParaRPr lang="en-US" dirty="0"/>
              </a:p>
            </p:txBody>
          </p:sp>
        </mc:Choice>
        <mc:Fallback>
          <p:sp>
            <p:nvSpPr>
              <p:cNvPr id="14" name="TextBox 13"/>
              <p:cNvSpPr txBox="1">
                <a:spLocks noRot="1" noChangeAspect="1" noMove="1" noResize="1" noEditPoints="1" noAdjustHandles="1" noChangeArrowheads="1" noChangeShapeType="1" noTextEdit="1"/>
              </p:cNvSpPr>
              <p:nvPr/>
            </p:nvSpPr>
            <p:spPr bwMode="gray">
              <a:xfrm>
                <a:off x="6087149" y="956241"/>
                <a:ext cx="6180826" cy="2452082"/>
              </a:xfrm>
              <a:prstGeom prst="rect">
                <a:avLst/>
              </a:prstGeom>
              <a:blipFill rotWithShape="1">
                <a:blip r:embed="rId3"/>
                <a:stretch>
                  <a:fillRect l="-1" t="-23" r="7"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Rectangle: Rounded Corners 14"/>
              <p:cNvSpPr/>
              <p:nvPr/>
            </p:nvSpPr>
            <p:spPr bwMode="gray">
              <a:xfrm>
                <a:off x="3686355" y="3598569"/>
                <a:ext cx="1628954" cy="1694112"/>
              </a:xfrm>
              <a:prstGeom prst="roundRect">
                <a:avLst/>
              </a:prstGeom>
              <a:solidFill>
                <a:srgbClr val="00E47C"/>
              </a:solid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Perform bias adjustment to obtain </a:t>
                </a:r>
                <a14:m>
                  <m:oMath xmlns:m="http://schemas.openxmlformats.org/officeDocument/2006/math">
                    <m:sSub>
                      <m:sSubPr>
                        <m:ctrlPr>
                          <a:rPr lang="en-US" sz="1400" i="1">
                            <a:solidFill>
                              <a:schemeClr val="tx1"/>
                            </a:solidFill>
                            <a:latin typeface="Cambria Math" panose="02040503050406030204" pitchFamily="18" charset="0"/>
                          </a:rPr>
                        </m:ctrlPr>
                      </m:sSubPr>
                      <m:e>
                        <m:acc>
                          <m:accPr>
                            <m:ctrlPr>
                              <a:rPr lang="en-US" sz="1400" i="1" dirty="0">
                                <a:solidFill>
                                  <a:schemeClr val="tx1"/>
                                </a:solidFill>
                                <a:latin typeface="Cambria Math" panose="02040503050406030204" pitchFamily="18" charset="0"/>
                              </a:rPr>
                            </m:ctrlPr>
                          </m:accPr>
                          <m:e>
                            <m:r>
                              <m:rPr>
                                <m:sty m:val="p"/>
                              </m:rPr>
                              <a:rPr lang="en-US" sz="1400" dirty="0">
                                <a:solidFill>
                                  <a:schemeClr val="tx1"/>
                                </a:solidFill>
                                <a:latin typeface="Cambria Math" panose="02040503050406030204" pitchFamily="18" charset="0"/>
                              </a:rPr>
                              <m:t>Δ</m:t>
                            </m:r>
                          </m:e>
                        </m:acc>
                      </m:e>
                      <m:sub>
                        <m:r>
                          <a:rPr lang="en-US" sz="1400" i="1">
                            <a:solidFill>
                              <a:schemeClr val="tx1"/>
                            </a:solidFill>
                            <a:latin typeface="Cambria Math" panose="02040503050406030204" pitchFamily="18" charset="0"/>
                          </a:rPr>
                          <m:t>𝑎𝑑𝑗</m:t>
                        </m:r>
                      </m:sub>
                    </m:sSub>
                  </m:oMath>
                </a14:m>
                <a:endParaRPr lang="en-US" sz="1400" dirty="0">
                  <a:solidFill>
                    <a:schemeClr val="tx1"/>
                  </a:solidFill>
                </a:endParaRPr>
              </a:p>
            </p:txBody>
          </p:sp>
        </mc:Choice>
        <mc:Fallback>
          <p:sp>
            <p:nvSpPr>
              <p:cNvPr id="15" name="Rectangle: Rounded Corners 14"/>
              <p:cNvSpPr>
                <a:spLocks noRot="1" noChangeAspect="1" noMove="1" noResize="1" noEditPoints="1" noAdjustHandles="1" noChangeArrowheads="1" noChangeShapeType="1" noTextEdit="1"/>
              </p:cNvSpPr>
              <p:nvPr/>
            </p:nvSpPr>
            <p:spPr bwMode="gray">
              <a:xfrm>
                <a:off x="3686355" y="3598569"/>
                <a:ext cx="1628954" cy="1694112"/>
              </a:xfrm>
              <a:prstGeom prst="roundRect">
                <a:avLst/>
              </a:prstGeom>
              <a:blipFill rotWithShape="1">
                <a:blip r:embed="rId4"/>
                <a:stretch>
                  <a:fillRect l="-323" t="-301" r="-290" b="-265"/>
                </a:stretch>
              </a:blip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Rectangle: Rounded Corners 15"/>
              <p:cNvSpPr/>
              <p:nvPr/>
            </p:nvSpPr>
            <p:spPr bwMode="gray">
              <a:xfrm>
                <a:off x="5467710" y="3598569"/>
                <a:ext cx="1923690" cy="1694112"/>
              </a:xfrm>
              <a:prstGeom prst="roundRect">
                <a:avLst/>
              </a:prstGeom>
              <a:solidFill>
                <a:srgbClr val="00E47C"/>
              </a:solid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Launch Phase III if </a:t>
                </a:r>
                <a14:m>
                  <m:oMath xmlns:m="http://schemas.openxmlformats.org/officeDocument/2006/math">
                    <m:sSub>
                      <m:sSubPr>
                        <m:ctrlPr>
                          <a:rPr lang="en-US" sz="1400" i="1">
                            <a:solidFill>
                              <a:schemeClr val="tx1"/>
                            </a:solidFill>
                            <a:latin typeface="Cambria Math" panose="02040503050406030204" pitchFamily="18" charset="0"/>
                          </a:rPr>
                        </m:ctrlPr>
                      </m:sSubPr>
                      <m:e>
                        <m:acc>
                          <m:accPr>
                            <m:ctrlPr>
                              <a:rPr lang="en-US" sz="1400" i="1" dirty="0">
                                <a:solidFill>
                                  <a:schemeClr val="tx1"/>
                                </a:solidFill>
                                <a:latin typeface="Cambria Math" panose="02040503050406030204" pitchFamily="18" charset="0"/>
                              </a:rPr>
                            </m:ctrlPr>
                          </m:accPr>
                          <m:e>
                            <m:r>
                              <m:rPr>
                                <m:sty m:val="p"/>
                              </m:rPr>
                              <a:rPr lang="en-US" sz="1400" dirty="0">
                                <a:solidFill>
                                  <a:schemeClr val="tx1"/>
                                </a:solidFill>
                                <a:latin typeface="Cambria Math" panose="02040503050406030204" pitchFamily="18" charset="0"/>
                              </a:rPr>
                              <m:t>Δ</m:t>
                            </m:r>
                          </m:e>
                        </m:acc>
                      </m:e>
                      <m:sub>
                        <m:r>
                          <a:rPr lang="en-US" sz="1400" i="1">
                            <a:solidFill>
                              <a:schemeClr val="tx1"/>
                            </a:solidFill>
                            <a:latin typeface="Cambria Math" panose="02040503050406030204" pitchFamily="18" charset="0"/>
                          </a:rPr>
                          <m:t>𝑎𝑑𝑗</m:t>
                        </m:r>
                      </m:sub>
                    </m:sSub>
                    <m:r>
                      <a:rPr lang="en-US" sz="1400" dirty="0">
                        <a:solidFill>
                          <a:schemeClr val="tx1"/>
                        </a:solidFill>
                        <a:latin typeface="Cambria Math" panose="02040503050406030204" pitchFamily="18" charset="0"/>
                      </a:rPr>
                      <m:t>&gt;</m:t>
                    </m:r>
                    <m:sSub>
                      <m:sSubPr>
                        <m:ctrlPr>
                          <a:rPr lang="en-US" sz="1400" i="1" dirty="0">
                            <a:solidFill>
                              <a:schemeClr val="tx1"/>
                            </a:solidFill>
                            <a:latin typeface="Cambria Math" panose="02040503050406030204" pitchFamily="18" charset="0"/>
                          </a:rPr>
                        </m:ctrlPr>
                      </m:sSubPr>
                      <m:e>
                        <m:r>
                          <m:rPr>
                            <m:sty m:val="p"/>
                          </m:rPr>
                          <a:rPr lang="en-US" sz="1400" dirty="0">
                            <a:solidFill>
                              <a:schemeClr val="tx1"/>
                            </a:solidFill>
                            <a:latin typeface="Cambria Math" panose="02040503050406030204" pitchFamily="18" charset="0"/>
                          </a:rPr>
                          <m:t>Δ</m:t>
                        </m:r>
                      </m:e>
                      <m:sub>
                        <m:r>
                          <a:rPr lang="en-US" sz="1400" i="1" dirty="0">
                            <a:solidFill>
                              <a:schemeClr val="tx1"/>
                            </a:solidFill>
                            <a:latin typeface="Cambria Math" panose="02040503050406030204" pitchFamily="18" charset="0"/>
                          </a:rPr>
                          <m:t>𝑃𝐷</m:t>
                        </m:r>
                      </m:sub>
                    </m:sSub>
                  </m:oMath>
                </a14:m>
                <a:r>
                  <a:rPr lang="en-US" sz="1400" dirty="0">
                    <a:solidFill>
                      <a:schemeClr val="tx1"/>
                    </a:solidFill>
                  </a:rPr>
                  <a:t> and compute Phase III sample size </a:t>
                </a:r>
                <a14:m>
                  <m:oMath xmlns:m="http://schemas.openxmlformats.org/officeDocument/2006/math">
                    <m:r>
                      <a:rPr lang="en-US" sz="1400" b="0" i="1" smtClean="0">
                        <a:solidFill>
                          <a:schemeClr val="tx1"/>
                        </a:solidFill>
                        <a:latin typeface="Cambria Math" panose="02040503050406030204" pitchFamily="18" charset="0"/>
                      </a:rPr>
                      <m:t>𝑛</m:t>
                    </m:r>
                  </m:oMath>
                </a14:m>
                <a:endParaRPr lang="en-US" sz="1400" dirty="0">
                  <a:solidFill>
                    <a:schemeClr val="tx1"/>
                  </a:solidFill>
                </a:endParaRPr>
              </a:p>
            </p:txBody>
          </p:sp>
        </mc:Choice>
        <mc:Fallback>
          <p:sp>
            <p:nvSpPr>
              <p:cNvPr id="16" name="Rectangle: Rounded Corners 15"/>
              <p:cNvSpPr>
                <a:spLocks noRot="1" noChangeAspect="1" noMove="1" noResize="1" noEditPoints="1" noAdjustHandles="1" noChangeArrowheads="1" noChangeShapeType="1" noTextEdit="1"/>
              </p:cNvSpPr>
              <p:nvPr/>
            </p:nvSpPr>
            <p:spPr bwMode="gray">
              <a:xfrm>
                <a:off x="5467710" y="3598569"/>
                <a:ext cx="1923690" cy="1694112"/>
              </a:xfrm>
              <a:prstGeom prst="roundRect">
                <a:avLst/>
              </a:prstGeom>
              <a:blipFill rotWithShape="1">
                <a:blip r:embed="rId5"/>
                <a:stretch>
                  <a:fillRect l="-250" t="-301" r="-231" b="-265"/>
                </a:stretch>
              </a:blip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Rectangle: Rounded Corners 16"/>
              <p:cNvSpPr/>
              <p:nvPr/>
            </p:nvSpPr>
            <p:spPr bwMode="gray">
              <a:xfrm>
                <a:off x="7543800" y="3598569"/>
                <a:ext cx="2314753" cy="1694112"/>
              </a:xfrm>
              <a:prstGeom prst="roundRect">
                <a:avLst/>
              </a:prstGeom>
              <a:solidFill>
                <a:srgbClr val="00E47C"/>
              </a:solid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Sample Phase III estimate: </a:t>
                </a:r>
                <a14:m>
                  <m:oMath xmlns:m="http://schemas.openxmlformats.org/officeDocument/2006/math">
                    <m:sSup>
                      <m:sSupPr>
                        <m:ctrlPr>
                          <a:rPr lang="en-US" sz="1400" i="1" dirty="0" smtClean="0">
                            <a:solidFill>
                              <a:schemeClr val="tx1"/>
                            </a:solidFill>
                            <a:latin typeface="Cambria Math" panose="02040503050406030204" pitchFamily="18" charset="0"/>
                          </a:rPr>
                        </m:ctrlPr>
                      </m:sSupPr>
                      <m:e>
                        <m:acc>
                          <m:accPr>
                            <m:ctrlPr>
                              <a:rPr lang="en-US" sz="1400" i="1" dirty="0">
                                <a:solidFill>
                                  <a:schemeClr val="tx1"/>
                                </a:solidFill>
                                <a:latin typeface="Cambria Math" panose="02040503050406030204" pitchFamily="18" charset="0"/>
                              </a:rPr>
                            </m:ctrlPr>
                          </m:accPr>
                          <m:e>
                            <m:r>
                              <m:rPr>
                                <m:sty m:val="p"/>
                              </m:rPr>
                              <a:rPr lang="en-US" sz="1400" dirty="0">
                                <a:solidFill>
                                  <a:schemeClr val="tx1"/>
                                </a:solidFill>
                                <a:latin typeface="Cambria Math" panose="02040503050406030204" pitchFamily="18" charset="0"/>
                              </a:rPr>
                              <m:t>Δ</m:t>
                            </m:r>
                          </m:e>
                        </m:acc>
                      </m:e>
                      <m:sup>
                        <m:r>
                          <a:rPr lang="en-US" sz="1400" b="0" i="1" dirty="0" smtClean="0">
                            <a:solidFill>
                              <a:schemeClr val="tx1"/>
                            </a:solidFill>
                            <a:latin typeface="Cambria Math" panose="02040503050406030204" pitchFamily="18" charset="0"/>
                          </a:rPr>
                          <m:t>∗</m:t>
                        </m:r>
                      </m:sup>
                    </m:sSup>
                    <m:r>
                      <a:rPr lang="en-US" sz="1400" i="1" dirty="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𝑁</m:t>
                    </m:r>
                    <m:d>
                      <m:dPr>
                        <m:ctrlPr>
                          <a:rPr lang="en-US" sz="1400" i="1" dirty="0">
                            <a:solidFill>
                              <a:schemeClr val="tx1"/>
                            </a:solidFill>
                            <a:latin typeface="Cambria Math" panose="02040503050406030204" pitchFamily="18" charset="0"/>
                          </a:rPr>
                        </m:ctrlPr>
                      </m:dPr>
                      <m:e>
                        <m:sSub>
                          <m:sSubPr>
                            <m:ctrlPr>
                              <a:rPr lang="en-US" sz="1400" i="1" dirty="0">
                                <a:solidFill>
                                  <a:schemeClr val="tx1"/>
                                </a:solidFill>
                                <a:latin typeface="Cambria Math" panose="02040503050406030204" pitchFamily="18" charset="0"/>
                              </a:rPr>
                            </m:ctrlPr>
                          </m:sSubPr>
                          <m:e>
                            <m:r>
                              <m:rPr>
                                <m:sty m:val="p"/>
                              </m:rPr>
                              <a:rPr lang="en-US" sz="1400" dirty="0">
                                <a:solidFill>
                                  <a:schemeClr val="tx1"/>
                                </a:solidFill>
                                <a:latin typeface="Cambria Math" panose="02040503050406030204" pitchFamily="18" charset="0"/>
                              </a:rPr>
                              <m:t>Δ</m:t>
                            </m:r>
                          </m:e>
                          <m:sub>
                            <m:r>
                              <a:rPr lang="en-US" sz="1400" dirty="0">
                                <a:solidFill>
                                  <a:schemeClr val="tx1"/>
                                </a:solidFill>
                                <a:latin typeface="Cambria Math" panose="02040503050406030204" pitchFamily="18" charset="0"/>
                              </a:rPr>
                              <m:t>0</m:t>
                            </m:r>
                          </m:sub>
                        </m:sSub>
                        <m:r>
                          <a:rPr lang="en-US" sz="1400" i="1" dirty="0">
                            <a:solidFill>
                              <a:schemeClr val="tx1"/>
                            </a:solidFill>
                            <a:latin typeface="Cambria Math" panose="02040503050406030204" pitchFamily="18" charset="0"/>
                          </a:rPr>
                          <m:t>,</m:t>
                        </m:r>
                        <m:rad>
                          <m:radPr>
                            <m:degHide m:val="on"/>
                            <m:ctrlPr>
                              <a:rPr lang="en-US" sz="1400" i="1">
                                <a:solidFill>
                                  <a:schemeClr val="tx1"/>
                                </a:solidFill>
                                <a:latin typeface="Cambria Math" panose="02040503050406030204" pitchFamily="18" charset="0"/>
                              </a:rPr>
                            </m:ctrlPr>
                          </m:radPr>
                          <m:deg/>
                          <m:e>
                            <m:r>
                              <a:rPr lang="en-US" sz="1400" i="1">
                                <a:solidFill>
                                  <a:schemeClr val="tx1"/>
                                </a:solidFill>
                                <a:latin typeface="Cambria Math" panose="02040503050406030204" pitchFamily="18" charset="0"/>
                              </a:rPr>
                              <m:t>2</m:t>
                            </m:r>
                            <m:f>
                              <m:fPr>
                                <m:type m:val="lin"/>
                                <m:ctrlPr>
                                  <a:rPr lang="en-US" sz="1400" i="1">
                                    <a:solidFill>
                                      <a:schemeClr val="tx1"/>
                                    </a:solidFill>
                                    <a:latin typeface="Cambria Math" panose="02040503050406030204" pitchFamily="18" charset="0"/>
                                  </a:rPr>
                                </m:ctrlPr>
                              </m:fPr>
                              <m:num>
                                <m:sSup>
                                  <m:sSupPr>
                                    <m:ctrlPr>
                                      <a:rPr lang="en-US" sz="1400" i="1">
                                        <a:solidFill>
                                          <a:schemeClr val="tx1"/>
                                        </a:solidFill>
                                        <a:latin typeface="Cambria Math" panose="02040503050406030204" pitchFamily="18" charset="0"/>
                                      </a:rPr>
                                    </m:ctrlPr>
                                  </m:sSupPr>
                                  <m:e>
                                    <m:r>
                                      <a:rPr lang="en-US" sz="1400" i="1" dirty="0">
                                        <a:solidFill>
                                          <a:schemeClr val="tx1"/>
                                        </a:solidFill>
                                        <a:latin typeface="Cambria Math" panose="02040503050406030204" pitchFamily="18" charset="0"/>
                                        <a:ea typeface="Cambria Math" panose="02040503050406030204" pitchFamily="18" charset="0"/>
                                      </a:rPr>
                                      <m:t>𝜎</m:t>
                                    </m:r>
                                  </m:e>
                                  <m:sup>
                                    <m:r>
                                      <a:rPr lang="en-US" sz="1400" i="1">
                                        <a:solidFill>
                                          <a:schemeClr val="tx1"/>
                                        </a:solidFill>
                                        <a:latin typeface="Cambria Math" panose="02040503050406030204" pitchFamily="18" charset="0"/>
                                      </a:rPr>
                                      <m:t>2</m:t>
                                    </m:r>
                                  </m:sup>
                                </m:sSup>
                              </m:num>
                              <m:den>
                                <m:r>
                                  <a:rPr lang="en-US" sz="1400" b="0" i="1" smtClean="0">
                                    <a:solidFill>
                                      <a:schemeClr val="tx1"/>
                                    </a:solidFill>
                                    <a:latin typeface="Cambria Math" panose="02040503050406030204" pitchFamily="18" charset="0"/>
                                  </a:rPr>
                                  <m:t>𝑛</m:t>
                                </m:r>
                              </m:den>
                            </m:f>
                          </m:e>
                        </m:rad>
                      </m:e>
                    </m:d>
                  </m:oMath>
                </a14:m>
                <a:r>
                  <a:rPr lang="en-US" sz="1400" dirty="0">
                    <a:solidFill>
                      <a:schemeClr val="tx1"/>
                    </a:solidFill>
                  </a:rPr>
                  <a:t> and test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𝐻</m:t>
                        </m:r>
                      </m:e>
                      <m:sub>
                        <m:r>
                          <a:rPr lang="en-US" sz="1400">
                            <a:solidFill>
                              <a:schemeClr val="tx1"/>
                            </a:solidFill>
                            <a:latin typeface="Cambria Math" panose="02040503050406030204" pitchFamily="18" charset="0"/>
                          </a:rPr>
                          <m:t>0</m:t>
                        </m:r>
                      </m:sub>
                    </m:sSub>
                    <m:r>
                      <a:rPr lang="en-US" sz="1400">
                        <a:solidFill>
                          <a:schemeClr val="tx1"/>
                        </a:solidFill>
                        <a:latin typeface="Cambria Math" panose="02040503050406030204" pitchFamily="18" charset="0"/>
                      </a:rPr>
                      <m:t>:</m:t>
                    </m:r>
                    <m:sSub>
                      <m:sSubPr>
                        <m:ctrlPr>
                          <a:rPr lang="en-US" sz="1400" i="1" smtClean="0">
                            <a:solidFill>
                              <a:schemeClr val="tx1"/>
                            </a:solidFill>
                            <a:latin typeface="Cambria Math" panose="02040503050406030204" pitchFamily="18" charset="0"/>
                          </a:rPr>
                        </m:ctrlPr>
                      </m:sSubPr>
                      <m:e>
                        <m:r>
                          <m:rPr>
                            <m:sty m:val="p"/>
                          </m:rPr>
                          <a:rPr lang="en-US" sz="1400">
                            <a:solidFill>
                              <a:schemeClr val="tx1"/>
                            </a:solidFill>
                            <a:latin typeface="Cambria Math" panose="02040503050406030204" pitchFamily="18" charset="0"/>
                          </a:rPr>
                          <m:t>Δ</m:t>
                        </m:r>
                      </m:e>
                      <m:sub>
                        <m:r>
                          <a:rPr lang="en-US" sz="1400" b="0" i="1" smtClean="0">
                            <a:solidFill>
                              <a:schemeClr val="tx1"/>
                            </a:solidFill>
                            <a:latin typeface="Cambria Math" panose="02040503050406030204" pitchFamily="18" charset="0"/>
                          </a:rPr>
                          <m:t>0</m:t>
                        </m:r>
                      </m:sub>
                    </m:sSub>
                    <m:r>
                      <a:rPr lang="en-US" sz="1400" b="0" i="0" smtClean="0">
                        <a:solidFill>
                          <a:schemeClr val="tx1"/>
                        </a:solidFill>
                        <a:latin typeface="Cambria Math" panose="02040503050406030204" pitchFamily="18" charset="0"/>
                      </a:rPr>
                      <m:t>=</m:t>
                    </m:r>
                    <m:r>
                      <a:rPr lang="en-US" sz="1400" b="0" i="0" smtClean="0">
                        <a:solidFill>
                          <a:schemeClr val="tx1"/>
                        </a:solidFill>
                        <a:latin typeface="Cambria Math" panose="02040503050406030204" pitchFamily="18" charset="0"/>
                      </a:rPr>
                      <m:t>0</m:t>
                    </m:r>
                  </m:oMath>
                </a14:m>
                <a:endParaRPr lang="en-US" sz="1400" dirty="0">
                  <a:solidFill>
                    <a:schemeClr val="tx1"/>
                  </a:solidFill>
                </a:endParaRPr>
              </a:p>
            </p:txBody>
          </p:sp>
        </mc:Choice>
        <mc:Fallback>
          <p:sp>
            <p:nvSpPr>
              <p:cNvPr id="17" name="Rectangle: Rounded Corners 16"/>
              <p:cNvSpPr>
                <a:spLocks noRot="1" noChangeAspect="1" noMove="1" noResize="1" noEditPoints="1" noAdjustHandles="1" noChangeArrowheads="1" noChangeShapeType="1" noTextEdit="1"/>
              </p:cNvSpPr>
              <p:nvPr/>
            </p:nvSpPr>
            <p:spPr bwMode="gray">
              <a:xfrm>
                <a:off x="7543800" y="3598569"/>
                <a:ext cx="2314753" cy="1694112"/>
              </a:xfrm>
              <a:prstGeom prst="roundRect">
                <a:avLst/>
              </a:prstGeom>
              <a:blipFill rotWithShape="1">
                <a:blip r:embed="rId6"/>
                <a:stretch>
                  <a:fillRect l="-219" t="-301" r="-184" b="-265"/>
                </a:stretch>
              </a:blip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Rounded Corners 17"/>
              <p:cNvSpPr/>
              <p:nvPr/>
            </p:nvSpPr>
            <p:spPr bwMode="gray">
              <a:xfrm>
                <a:off x="504646" y="3598569"/>
                <a:ext cx="1247954" cy="1694112"/>
              </a:xfrm>
              <a:prstGeom prst="roundRect">
                <a:avLst/>
              </a:prstGeom>
              <a:solidFill>
                <a:srgbClr val="00E47C"/>
              </a:solid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Select </a:t>
                </a:r>
                <a14:m>
                  <m:oMath xmlns:m="http://schemas.openxmlformats.org/officeDocument/2006/math">
                    <m:sSub>
                      <m:sSubPr>
                        <m:ctrlPr>
                          <a:rPr lang="en-US" sz="1400" i="1" dirty="0">
                            <a:solidFill>
                              <a:schemeClr val="tx1"/>
                            </a:solidFill>
                            <a:latin typeface="Cambria Math" panose="02040503050406030204" pitchFamily="18" charset="0"/>
                          </a:rPr>
                        </m:ctrlPr>
                      </m:sSubPr>
                      <m:e>
                        <m:r>
                          <m:rPr>
                            <m:sty m:val="p"/>
                          </m:rPr>
                          <a:rPr lang="en-US" sz="1400" dirty="0">
                            <a:solidFill>
                              <a:schemeClr val="tx1"/>
                            </a:solidFill>
                            <a:latin typeface="Cambria Math" panose="02040503050406030204" pitchFamily="18" charset="0"/>
                          </a:rPr>
                          <m:t>Δ</m:t>
                        </m:r>
                      </m:e>
                      <m:sub>
                        <m:r>
                          <a:rPr lang="en-US" sz="1400" dirty="0">
                            <a:solidFill>
                              <a:schemeClr val="tx1"/>
                            </a:solidFill>
                            <a:latin typeface="Cambria Math" panose="02040503050406030204" pitchFamily="18" charset="0"/>
                          </a:rPr>
                          <m:t>0</m:t>
                        </m:r>
                      </m:sub>
                    </m:sSub>
                  </m:oMath>
                </a14:m>
                <a:r>
                  <a:rPr lang="en-US" sz="1400" dirty="0">
                    <a:solidFill>
                      <a:schemeClr val="tx1"/>
                    </a:solidFill>
                  </a:rPr>
                  <a:t>, </a:t>
                </a:r>
                <a14:m>
                  <m:oMath xmlns:m="http://schemas.openxmlformats.org/officeDocument/2006/math">
                    <m:sSub>
                      <m:sSubPr>
                        <m:ctrlPr>
                          <a:rPr lang="en-US" sz="1400" i="1" dirty="0">
                            <a:solidFill>
                              <a:schemeClr val="tx1"/>
                            </a:solidFill>
                            <a:latin typeface="Cambria Math" panose="02040503050406030204" pitchFamily="18" charset="0"/>
                          </a:rPr>
                        </m:ctrlPr>
                      </m:sSubPr>
                      <m:e>
                        <m:r>
                          <m:rPr>
                            <m:sty m:val="p"/>
                          </m:rPr>
                          <a:rPr lang="en-US" sz="1400" dirty="0">
                            <a:solidFill>
                              <a:schemeClr val="tx1"/>
                            </a:solidFill>
                            <a:latin typeface="Cambria Math" panose="02040503050406030204" pitchFamily="18" charset="0"/>
                          </a:rPr>
                          <m:t>Δ</m:t>
                        </m:r>
                      </m:e>
                      <m:sub>
                        <m:r>
                          <a:rPr lang="en-US" sz="1400" dirty="0">
                            <a:solidFill>
                              <a:schemeClr val="tx1"/>
                            </a:solidFill>
                            <a:latin typeface="Cambria Math" panose="02040503050406030204" pitchFamily="18" charset="0"/>
                          </a:rPr>
                          <m:t>02</m:t>
                        </m:r>
                      </m:sub>
                    </m:sSub>
                  </m:oMath>
                </a14:m>
                <a:r>
                  <a:rPr lang="en-US" sz="1400" dirty="0">
                    <a:solidFill>
                      <a:schemeClr val="tx1"/>
                    </a:solidFill>
                  </a:rPr>
                  <a:t>, and </a:t>
                </a:r>
                <a14:m>
                  <m:oMath xmlns:m="http://schemas.openxmlformats.org/officeDocument/2006/math">
                    <m:r>
                      <a:rPr lang="en-US" sz="1400" i="1" dirty="0">
                        <a:solidFill>
                          <a:schemeClr val="tx1"/>
                        </a:solidFill>
                        <a:latin typeface="Cambria Math" panose="02040503050406030204" pitchFamily="18" charset="0"/>
                      </a:rPr>
                      <m:t>𝑚</m:t>
                    </m:r>
                  </m:oMath>
                </a14:m>
                <a:endParaRPr lang="en-US" sz="1400" dirty="0">
                  <a:solidFill>
                    <a:schemeClr val="tx1"/>
                  </a:solidFill>
                </a:endParaRPr>
              </a:p>
            </p:txBody>
          </p:sp>
        </mc:Choice>
        <mc:Fallback>
          <p:sp>
            <p:nvSpPr>
              <p:cNvPr id="18" name="Rectangle: Rounded Corners 17"/>
              <p:cNvSpPr>
                <a:spLocks noRot="1" noChangeAspect="1" noMove="1" noResize="1" noEditPoints="1" noAdjustHandles="1" noChangeArrowheads="1" noChangeShapeType="1" noTextEdit="1"/>
              </p:cNvSpPr>
              <p:nvPr/>
            </p:nvSpPr>
            <p:spPr bwMode="gray">
              <a:xfrm>
                <a:off x="504646" y="3598569"/>
                <a:ext cx="1247954" cy="1694112"/>
              </a:xfrm>
              <a:prstGeom prst="roundRect">
                <a:avLst/>
              </a:prstGeom>
              <a:blipFill rotWithShape="1">
                <a:blip r:embed="rId7"/>
                <a:stretch>
                  <a:fillRect l="-393" t="-301" r="-356" b="-265"/>
                </a:stretch>
              </a:blipFill>
              <a:ln w="6350">
                <a:solidFill>
                  <a:srgbClr val="00E47C"/>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9" name="TextBox 18"/>
          <p:cNvSpPr txBox="1"/>
          <p:nvPr/>
        </p:nvSpPr>
        <p:spPr bwMode="gray">
          <a:xfrm>
            <a:off x="852188" y="3670593"/>
            <a:ext cx="551433" cy="276422"/>
          </a:xfrm>
          <a:prstGeom prst="rect">
            <a:avLst/>
          </a:prstGeom>
          <a:noFill/>
        </p:spPr>
        <p:txBody>
          <a:bodyPr wrap="none" lIns="0" tIns="0" rIns="0" bIns="0" rtlCol="0">
            <a:spAutoFit/>
          </a:bodyPr>
          <a:lstStyle/>
          <a:p>
            <a:pPr algn="l">
              <a:lnSpc>
                <a:spcPct val="140000"/>
              </a:lnSpc>
            </a:pPr>
            <a:r>
              <a:rPr lang="en-US" sz="1400" dirty="0">
                <a:solidFill>
                  <a:srgbClr val="FF0000"/>
                </a:solidFill>
              </a:rPr>
              <a:t>Step 1</a:t>
            </a:r>
            <a:endParaRPr lang="en-US" sz="1400" dirty="0">
              <a:solidFill>
                <a:srgbClr val="FF0000"/>
              </a:solidFill>
            </a:endParaRPr>
          </a:p>
        </p:txBody>
      </p:sp>
      <p:sp>
        <p:nvSpPr>
          <p:cNvPr id="20" name="TextBox 19"/>
          <p:cNvSpPr txBox="1"/>
          <p:nvPr/>
        </p:nvSpPr>
        <p:spPr bwMode="gray">
          <a:xfrm>
            <a:off x="2443760" y="3670593"/>
            <a:ext cx="551433" cy="276422"/>
          </a:xfrm>
          <a:prstGeom prst="rect">
            <a:avLst/>
          </a:prstGeom>
          <a:noFill/>
        </p:spPr>
        <p:txBody>
          <a:bodyPr wrap="none" lIns="0" tIns="0" rIns="0" bIns="0" rtlCol="0">
            <a:spAutoFit/>
          </a:bodyPr>
          <a:lstStyle/>
          <a:p>
            <a:pPr algn="l">
              <a:lnSpc>
                <a:spcPct val="140000"/>
              </a:lnSpc>
            </a:pPr>
            <a:r>
              <a:rPr lang="en-US" sz="1400" dirty="0">
                <a:solidFill>
                  <a:srgbClr val="FF0000"/>
                </a:solidFill>
              </a:rPr>
              <a:t>Step 2</a:t>
            </a:r>
            <a:endParaRPr lang="en-US" sz="1400" dirty="0">
              <a:solidFill>
                <a:srgbClr val="FF0000"/>
              </a:solidFill>
            </a:endParaRPr>
          </a:p>
        </p:txBody>
      </p:sp>
      <p:sp>
        <p:nvSpPr>
          <p:cNvPr id="21" name="TextBox 20"/>
          <p:cNvSpPr txBox="1"/>
          <p:nvPr/>
        </p:nvSpPr>
        <p:spPr bwMode="gray">
          <a:xfrm>
            <a:off x="4225116" y="3665648"/>
            <a:ext cx="551433" cy="276422"/>
          </a:xfrm>
          <a:prstGeom prst="rect">
            <a:avLst/>
          </a:prstGeom>
          <a:noFill/>
        </p:spPr>
        <p:txBody>
          <a:bodyPr wrap="none" lIns="0" tIns="0" rIns="0" bIns="0" rtlCol="0">
            <a:spAutoFit/>
          </a:bodyPr>
          <a:lstStyle/>
          <a:p>
            <a:pPr algn="l">
              <a:lnSpc>
                <a:spcPct val="140000"/>
              </a:lnSpc>
            </a:pPr>
            <a:r>
              <a:rPr lang="en-US" sz="1400" dirty="0">
                <a:solidFill>
                  <a:srgbClr val="FF0000"/>
                </a:solidFill>
              </a:rPr>
              <a:t>Step 3</a:t>
            </a:r>
            <a:endParaRPr lang="en-US" sz="1400" dirty="0">
              <a:solidFill>
                <a:srgbClr val="FF0000"/>
              </a:solidFill>
            </a:endParaRPr>
          </a:p>
        </p:txBody>
      </p:sp>
      <p:sp>
        <p:nvSpPr>
          <p:cNvPr id="22" name="TextBox 21"/>
          <p:cNvSpPr txBox="1"/>
          <p:nvPr/>
        </p:nvSpPr>
        <p:spPr bwMode="gray">
          <a:xfrm>
            <a:off x="6153838" y="3610828"/>
            <a:ext cx="551433" cy="276422"/>
          </a:xfrm>
          <a:prstGeom prst="rect">
            <a:avLst/>
          </a:prstGeom>
          <a:noFill/>
        </p:spPr>
        <p:txBody>
          <a:bodyPr wrap="none" lIns="0" tIns="0" rIns="0" bIns="0" rtlCol="0">
            <a:spAutoFit/>
          </a:bodyPr>
          <a:lstStyle/>
          <a:p>
            <a:pPr algn="l">
              <a:lnSpc>
                <a:spcPct val="140000"/>
              </a:lnSpc>
            </a:pPr>
            <a:r>
              <a:rPr lang="en-US" sz="1400" dirty="0">
                <a:solidFill>
                  <a:srgbClr val="FF0000"/>
                </a:solidFill>
              </a:rPr>
              <a:t>Step 4</a:t>
            </a:r>
            <a:endParaRPr lang="en-US" sz="1400" dirty="0">
              <a:solidFill>
                <a:srgbClr val="FF0000"/>
              </a:solidFill>
            </a:endParaRPr>
          </a:p>
        </p:txBody>
      </p:sp>
      <p:sp>
        <p:nvSpPr>
          <p:cNvPr id="23" name="TextBox 22"/>
          <p:cNvSpPr txBox="1"/>
          <p:nvPr/>
        </p:nvSpPr>
        <p:spPr bwMode="gray">
          <a:xfrm>
            <a:off x="8425459" y="3586310"/>
            <a:ext cx="551433" cy="276422"/>
          </a:xfrm>
          <a:prstGeom prst="rect">
            <a:avLst/>
          </a:prstGeom>
          <a:noFill/>
        </p:spPr>
        <p:txBody>
          <a:bodyPr wrap="none" lIns="0" tIns="0" rIns="0" bIns="0" rtlCol="0">
            <a:spAutoFit/>
          </a:bodyPr>
          <a:lstStyle/>
          <a:p>
            <a:pPr algn="l">
              <a:lnSpc>
                <a:spcPct val="140000"/>
              </a:lnSpc>
            </a:pPr>
            <a:r>
              <a:rPr lang="en-US" sz="1400" dirty="0">
                <a:solidFill>
                  <a:srgbClr val="FF0000"/>
                </a:solidFill>
              </a:rPr>
              <a:t>Step 5</a:t>
            </a:r>
            <a:endParaRPr lang="en-US" sz="1400" dirty="0">
              <a:solidFill>
                <a:srgbClr val="FF0000"/>
              </a:solidFill>
            </a:endParaRPr>
          </a:p>
        </p:txBody>
      </p:sp>
      <p:sp>
        <p:nvSpPr>
          <p:cNvPr id="30" name="Rectangle 29"/>
          <p:cNvSpPr/>
          <p:nvPr/>
        </p:nvSpPr>
        <p:spPr bwMode="gray">
          <a:xfrm rot="10800000" flipV="1">
            <a:off x="10814992" y="4206179"/>
            <a:ext cx="1219200" cy="431736"/>
          </a:xfrm>
          <a:prstGeom prst="rect">
            <a:avLst/>
          </a:prstGeom>
          <a:solidFill>
            <a:srgbClr val="08312A"/>
          </a:solidFill>
          <a:ln w="6350">
            <a:solidFill>
              <a:srgbClr val="0831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bg1"/>
                </a:solidFill>
              </a:rPr>
              <a:t>Evaluation</a:t>
            </a:r>
            <a:endParaRPr lang="en-US" sz="16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Simulation Design</a:t>
            </a:r>
            <a:endParaRPr lang="en-US" sz="220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mc:AlternateContent xmlns:mc="http://schemas.openxmlformats.org/markup-compatibility/2006">
        <mc:Choice xmlns:a14="http://schemas.microsoft.com/office/drawing/2010/main" Requires="a14">
          <p:sp>
            <p:nvSpPr>
              <p:cNvPr id="6" name="TextBox 5"/>
              <p:cNvSpPr txBox="1"/>
              <p:nvPr/>
            </p:nvSpPr>
            <p:spPr bwMode="gray">
              <a:xfrm>
                <a:off x="609600" y="1066800"/>
                <a:ext cx="10958992" cy="153471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We consider three priors: </a:t>
                </a:r>
                <a:endParaRPr lang="en-US" sz="1600" dirty="0"/>
              </a:p>
              <a:p>
                <a:pPr marL="800100" lvl="1" indent="-342900">
                  <a:lnSpc>
                    <a:spcPct val="150000"/>
                  </a:lnSpc>
                  <a:buFont typeface="+mj-lt"/>
                  <a:buAutoNum type="arabicParenR"/>
                </a:pPr>
                <a:r>
                  <a:rPr lang="en-US" sz="1600" dirty="0"/>
                  <a:t>MAP1: It was derived from historical Phase 2 data, which shows the prior mean </a:t>
                </a:r>
                <a14:m>
                  <m:oMath xmlns:m="http://schemas.openxmlformats.org/officeDocument/2006/math">
                    <m:sSub>
                      <m:sSubPr>
                        <m:ctrlPr>
                          <a:rPr lang="en-US" sz="1600" i="1" dirty="0">
                            <a:latin typeface="Cambria Math" panose="02040503050406030204" pitchFamily="18" charset="0"/>
                          </a:rPr>
                        </m:ctrlPr>
                      </m:sSubPr>
                      <m:e>
                        <m:r>
                          <a:rPr lang="en-US" sz="1600" b="0" i="0" dirty="0" smtClean="0">
                            <a:latin typeface="Cambria Math" panose="02040503050406030204" pitchFamily="18" charset="0"/>
                          </a:rPr>
                          <m:t>&gt;</m:t>
                        </m:r>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oMath>
                </a14:m>
                <a:r>
                  <a:rPr lang="en-US" sz="1600" dirty="0"/>
                  <a:t>.</a:t>
                </a:r>
                <a:endParaRPr lang="en-US" sz="1600" dirty="0"/>
              </a:p>
              <a:p>
                <a:pPr marL="800100" lvl="1" indent="-342900">
                  <a:lnSpc>
                    <a:spcPct val="150000"/>
                  </a:lnSpc>
                  <a:buFont typeface="+mj-lt"/>
                  <a:buAutoNum type="arabicParenR"/>
                </a:pPr>
                <a:r>
                  <a:rPr lang="en-US" sz="1600" dirty="0"/>
                  <a:t>MAP2: We shifted MAP1 to have a negative prior compared to the threshold, i.e., prior mean </a:t>
                </a:r>
                <a14:m>
                  <m:oMath xmlns:m="http://schemas.openxmlformats.org/officeDocument/2006/math">
                    <m:sSub>
                      <m:sSubPr>
                        <m:ctrlPr>
                          <a:rPr lang="en-US" sz="1600" i="1" dirty="0">
                            <a:latin typeface="Cambria Math" panose="02040503050406030204" pitchFamily="18" charset="0"/>
                          </a:rPr>
                        </m:ctrlPr>
                      </m:sSubPr>
                      <m:e>
                        <m:r>
                          <a:rPr lang="en-US" sz="1600" dirty="0">
                            <a:latin typeface="Cambria Math" panose="02040503050406030204" pitchFamily="18" charset="0"/>
                          </a:rPr>
                          <m:t>&lt;</m:t>
                        </m:r>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oMath>
                </a14:m>
                <a:r>
                  <a:rPr lang="en-US" sz="1600" dirty="0"/>
                  <a:t>. </a:t>
                </a:r>
                <a:endParaRPr lang="en-US" sz="1600" dirty="0"/>
              </a:p>
              <a:p>
                <a:pPr marL="800100" lvl="1" indent="-342900">
                  <a:lnSpc>
                    <a:spcPct val="150000"/>
                  </a:lnSpc>
                  <a:buFont typeface="+mj-lt"/>
                  <a:buAutoNum type="arabicParenR"/>
                </a:pPr>
                <a:r>
                  <a:rPr lang="en-US" sz="1600" dirty="0"/>
                  <a:t>Weakly informative prior: U(-10, 10).</a:t>
                </a:r>
                <a:endParaRPr lang="en-US" sz="1600" dirty="0"/>
              </a:p>
            </p:txBody>
          </p:sp>
        </mc:Choice>
        <mc:Fallback>
          <p:sp>
            <p:nvSpPr>
              <p:cNvPr id="6" name="TextBox 5"/>
              <p:cNvSpPr txBox="1">
                <a:spLocks noRot="1" noChangeAspect="1" noMove="1" noResize="1" noEditPoints="1" noAdjustHandles="1" noChangeArrowheads="1" noChangeShapeType="1" noTextEdit="1"/>
              </p:cNvSpPr>
              <p:nvPr/>
            </p:nvSpPr>
            <p:spPr bwMode="gray">
              <a:xfrm>
                <a:off x="609600" y="1066800"/>
                <a:ext cx="10958992" cy="1534716"/>
              </a:xfrm>
              <a:prstGeom prst="rect">
                <a:avLst/>
              </a:prstGeom>
              <a:blipFill rotWithShape="1">
                <a:blip r:embed="rId1"/>
                <a:stretch>
                  <a:fillRect r="1" b="36"/>
                </a:stretch>
              </a:blipFill>
            </p:spPr>
            <p:txBody>
              <a:bodyPr/>
              <a:lstStyle/>
              <a:p>
                <a:r>
                  <a:rPr lang="zh-CN" altLang="en-US">
                    <a:noFill/>
                  </a:rPr>
                  <a:t> </a:t>
                </a:r>
              </a:p>
            </p:txBody>
          </p:sp>
        </mc:Fallback>
      </mc:AlternateContent>
      <p:pic>
        <p:nvPicPr>
          <p:cNvPr id="8" name="Picture 7"/>
          <p:cNvPicPr>
            <a:picLocks noChangeAspect="1"/>
          </p:cNvPicPr>
          <p:nvPr/>
        </p:nvPicPr>
        <p:blipFill>
          <a:blip r:embed="rId2"/>
          <a:srcRect t="11292"/>
          <a:stretch>
            <a:fillRect/>
          </a:stretch>
        </p:blipFill>
        <p:spPr>
          <a:xfrm>
            <a:off x="3437912" y="3191316"/>
            <a:ext cx="5302368" cy="281783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Evaluation Metrics</a:t>
            </a:r>
            <a:endParaRPr lang="en-US" sz="2200" noProof="0" dirty="0"/>
          </a:p>
        </p:txBody>
      </p:sp>
      <p:sp>
        <p:nvSpPr>
          <p:cNvPr id="10" name="Textplatzhalter 9"/>
          <p:cNvSpPr>
            <a:spLocks noGrp="1"/>
          </p:cNvSpPr>
          <p:nvPr>
            <p:ph type="body" sz="quarter" idx="13"/>
          </p:nvPr>
        </p:nvSpPr>
        <p:spPr bwMode="gray"/>
        <p:txBody>
          <a:bodyPr/>
          <a:lstStyle/>
          <a:p>
            <a:endParaRPr lang="en-US"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mc:AlternateContent xmlns:mc="http://schemas.openxmlformats.org/markup-compatibility/2006">
        <mc:Choice xmlns:a14="http://schemas.microsoft.com/office/drawing/2010/main" Requires="a14">
          <p:sp>
            <p:nvSpPr>
              <p:cNvPr id="8" name="TextBox 7"/>
              <p:cNvSpPr txBox="1"/>
              <p:nvPr/>
            </p:nvSpPr>
            <p:spPr bwMode="gray">
              <a:xfrm>
                <a:off x="802802" y="1295400"/>
                <a:ext cx="10909197" cy="3851247"/>
              </a:xfrm>
              <a:prstGeom prst="rect">
                <a:avLst/>
              </a:prstGeom>
              <a:noFill/>
            </p:spPr>
            <p:txBody>
              <a:bodyPr wrap="square">
                <a:spAutoFit/>
              </a:bodyPr>
              <a:lstStyle/>
              <a:p>
                <a:pPr marL="342900" indent="-342900">
                  <a:lnSpc>
                    <a:spcPct val="150000"/>
                  </a:lnSpc>
                  <a:buFont typeface="+mj-lt"/>
                  <a:buAutoNum type="arabicParenR"/>
                </a:pPr>
                <a:r>
                  <a:rPr lang="en-US" sz="1600" dirty="0"/>
                  <a:t>Ph2 Go (%): The percentage of times when the observed/adjusted effects are greater than the threshold </a:t>
                </a:r>
                <a14:m>
                  <m:oMath xmlns:m="http://schemas.openxmlformats.org/officeDocument/2006/math">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oMath>
                </a14:m>
                <a:r>
                  <a:rPr lang="en-US" sz="1600" dirty="0"/>
                  <a:t>.</a:t>
                </a:r>
                <a:endParaRPr lang="en-US" sz="1600" dirty="0"/>
              </a:p>
              <a:p>
                <a:pPr marL="342900" indent="-342900">
                  <a:lnSpc>
                    <a:spcPct val="150000"/>
                  </a:lnSpc>
                  <a:buFont typeface="+mj-lt"/>
                  <a:buAutoNum type="arabicParenR"/>
                </a:pPr>
                <a:r>
                  <a:rPr lang="en-US" sz="1600" dirty="0"/>
                  <a:t>Ph2 Bias: The average bias in the bias-adjusted effect, computed over 1,000 replicates. </a:t>
                </a:r>
                <a:endParaRPr lang="en-US" sz="1600" i="1" dirty="0">
                  <a:latin typeface="Cambria Math" panose="02040503050406030204" pitchFamily="18" charset="0"/>
                </a:endParaRPr>
              </a:p>
              <a:p>
                <a:pPr algn="ctr">
                  <a:lnSpc>
                    <a:spcPct val="150000"/>
                  </a:lnSpc>
                </a:pPr>
                <a14:m>
                  <m:oMath xmlns:m="http://schemas.openxmlformats.org/officeDocument/2006/math">
                    <m:nary>
                      <m:naryPr>
                        <m:chr m:val="∑"/>
                        <m:grow m:val="on"/>
                        <m:limLoc m:val="undOvr"/>
                        <m:ctrlPr>
                          <a:rPr lang="en-US" sz="1600" i="1" dirty="0">
                            <a:latin typeface="Cambria Math" panose="02040503050406030204" pitchFamily="18" charset="0"/>
                          </a:rPr>
                        </m:ctrlPr>
                      </m:naryPr>
                      <m:sub>
                        <m:r>
                          <m:rPr>
                            <m:sty m:val="p"/>
                            <m:brk/>
                            <m:aln/>
                          </m:rPr>
                          <a:rPr lang="en-US" sz="1600" dirty="0">
                            <a:latin typeface="Cambria Math" panose="02040503050406030204" pitchFamily="18" charset="0"/>
                          </a:rPr>
                          <m:t>s</m:t>
                        </m:r>
                        <m:r>
                          <a:rPr lang="en-US" sz="1600" dirty="0">
                            <a:latin typeface="Cambria Math" panose="02040503050406030204" pitchFamily="18" charset="0"/>
                          </a:rPr>
                          <m:t>=</m:t>
                        </m:r>
                        <m:r>
                          <a:rPr lang="en-US" sz="1600" dirty="0">
                            <a:latin typeface="Cambria Math" panose="02040503050406030204" pitchFamily="18" charset="0"/>
                          </a:rPr>
                          <m:t>1</m:t>
                        </m:r>
                      </m:sub>
                      <m:sup>
                        <m:r>
                          <a:rPr lang="en-US" sz="1600" dirty="0">
                            <a:latin typeface="Cambria Math" panose="02040503050406030204" pitchFamily="18" charset="0"/>
                          </a:rPr>
                          <m:t>1000</m:t>
                        </m:r>
                      </m:sup>
                      <m:e>
                        <m:sSup>
                          <m:sSupPr>
                            <m:ctrlPr>
                              <a:rPr lang="en-US" sz="1600" i="1" dirty="0">
                                <a:latin typeface="Cambria Math" panose="02040503050406030204" pitchFamily="18" charset="0"/>
                              </a:rPr>
                            </m:ctrlPr>
                          </m:sSupPr>
                          <m:e>
                            <m:sSub>
                              <m:sSubPr>
                                <m:ctrlPr>
                                  <a:rPr lang="en-US" sz="1600" i="1" dirty="0" smtClean="0">
                                    <a:latin typeface="Cambria Math" panose="02040503050406030204" pitchFamily="18" charset="0"/>
                                  </a:rPr>
                                </m:ctrlPr>
                              </m:sSubPr>
                              <m:e>
                                <m:acc>
                                  <m:accPr>
                                    <m:ctrlPr>
                                      <a:rPr lang="en-US" sz="1600" i="1" dirty="0">
                                        <a:solidFill>
                                          <a:srgbClr val="836967"/>
                                        </a:solidFill>
                                        <a:latin typeface="Cambria Math" panose="02040503050406030204" pitchFamily="18" charset="0"/>
                                      </a:rPr>
                                    </m:ctrlPr>
                                  </m:accPr>
                                  <m:e>
                                    <m:r>
                                      <m:rPr>
                                        <m:sty m:val="p"/>
                                      </m:rPr>
                                      <a:rPr lang="en-US" sz="1600" dirty="0">
                                        <a:latin typeface="Cambria Math" panose="02040503050406030204" pitchFamily="18" charset="0"/>
                                      </a:rPr>
                                      <m:t>Δ</m:t>
                                    </m:r>
                                  </m:e>
                                </m:acc>
                              </m:e>
                              <m:sub>
                                <m:r>
                                  <a:rPr lang="en-US" sz="1600" b="0" i="1" dirty="0" smtClean="0">
                                    <a:latin typeface="Cambria Math" panose="02040503050406030204" pitchFamily="18" charset="0"/>
                                  </a:rPr>
                                  <m:t>𝑎𝑑𝑗</m:t>
                                </m:r>
                              </m:sub>
                            </m:sSub>
                          </m:e>
                          <m:sup>
                            <m:r>
                              <a:rPr lang="en-US" sz="1600" i="1" dirty="0">
                                <a:latin typeface="Cambria Math" panose="02040503050406030204" pitchFamily="18" charset="0"/>
                              </a:rPr>
                              <m:t>(</m:t>
                            </m:r>
                            <m:r>
                              <a:rPr lang="en-US" sz="1600" i="1" dirty="0">
                                <a:latin typeface="Cambria Math" panose="02040503050406030204" pitchFamily="18" charset="0"/>
                              </a:rPr>
                              <m:t>𝑠</m:t>
                            </m:r>
                            <m:r>
                              <a:rPr lang="en-US" sz="1600" i="1" dirty="0">
                                <a:latin typeface="Cambria Math" panose="02040503050406030204" pitchFamily="18" charset="0"/>
                              </a:rPr>
                              <m:t>)</m:t>
                            </m:r>
                          </m:sup>
                        </m:sSup>
                      </m:e>
                    </m:nary>
                    <m:r>
                      <a:rPr lang="en-US" sz="1600" b="0" i="0" dirty="0" smtClean="0">
                        <a:latin typeface="Cambria Math" panose="02040503050406030204" pitchFamily="18" charset="0"/>
                      </a:rPr>
                      <m:t>/</m:t>
                    </m:r>
                    <m:r>
                      <a:rPr lang="en-US" sz="1600" b="0" i="0" dirty="0" smtClean="0">
                        <a:latin typeface="Cambria Math" panose="02040503050406030204" pitchFamily="18" charset="0"/>
                      </a:rPr>
                      <m:t>1000</m:t>
                    </m:r>
                    <m:r>
                      <a:rPr lang="en-US" sz="1600" i="0" dirty="0">
                        <a:latin typeface="Cambria Math" panose="02040503050406030204" pitchFamily="18" charset="0"/>
                      </a:rPr>
                      <m:t>−</m:t>
                    </m:r>
                    <m:sSub>
                      <m:sSubPr>
                        <m:ctrlPr>
                          <a:rPr lang="en-US" sz="1600" i="1" dirty="0">
                            <a:solidFill>
                              <a:srgbClr val="836967"/>
                            </a:solidFill>
                            <a:latin typeface="Cambria Math" panose="02040503050406030204" pitchFamily="18" charset="0"/>
                          </a:rPr>
                        </m:ctrlPr>
                      </m:sSubPr>
                      <m:e>
                        <m:r>
                          <m:rPr>
                            <m:sty m:val="p"/>
                          </m:rPr>
                          <a:rPr lang="en-US" sz="1600" i="0" dirty="0">
                            <a:latin typeface="Cambria Math" panose="02040503050406030204" pitchFamily="18" charset="0"/>
                          </a:rPr>
                          <m:t>Δ</m:t>
                        </m:r>
                      </m:e>
                      <m:sub>
                        <m:r>
                          <a:rPr lang="en-US" sz="1600" b="0" i="1" dirty="0" smtClean="0">
                            <a:latin typeface="Cambria Math" panose="02040503050406030204" pitchFamily="18" charset="0"/>
                          </a:rPr>
                          <m:t>02</m:t>
                        </m:r>
                      </m:sub>
                    </m:sSub>
                  </m:oMath>
                </a14:m>
                <a:r>
                  <a:rPr lang="en-US" sz="1600" dirty="0"/>
                  <a:t>.</a:t>
                </a:r>
                <a:endParaRPr lang="en-US" sz="1600" dirty="0"/>
              </a:p>
              <a:p>
                <a:pPr marL="342900" indent="-342900">
                  <a:lnSpc>
                    <a:spcPct val="150000"/>
                  </a:lnSpc>
                  <a:buFont typeface="+mj-lt"/>
                  <a:buAutoNum type="arabicParenR" startAt="3"/>
                </a:pPr>
                <a:r>
                  <a:rPr lang="en-US" sz="1600" dirty="0"/>
                  <a:t>Ph2 Go Bias: The bias in the bias-adjusted effect among trials that meet the “Go” decision criterion (on </a:t>
                </a:r>
                <a14:m>
                  <m:oMath xmlns:m="http://schemas.openxmlformats.org/officeDocument/2006/math">
                    <m:sSub>
                      <m:sSubPr>
                        <m:ctrlPr>
                          <a:rPr lang="en-US" sz="1600" i="1" dirty="0">
                            <a:latin typeface="Cambria Math" panose="02040503050406030204" pitchFamily="18" charset="0"/>
                          </a:rPr>
                        </m:ctrlPr>
                      </m:sSubPr>
                      <m:e>
                        <m:acc>
                          <m:accPr>
                            <m:ctrlPr>
                              <a:rPr lang="en-US" sz="1600" i="1" dirty="0">
                                <a:solidFill>
                                  <a:srgbClr val="836967"/>
                                </a:solidFill>
                                <a:latin typeface="Cambria Math" panose="02040503050406030204" pitchFamily="18" charset="0"/>
                              </a:rPr>
                            </m:ctrlPr>
                          </m:accPr>
                          <m:e>
                            <m:r>
                              <m:rPr>
                                <m:sty m:val="p"/>
                              </m:rPr>
                              <a:rPr lang="en-US" sz="1600" dirty="0">
                                <a:latin typeface="Cambria Math" panose="02040503050406030204" pitchFamily="18" charset="0"/>
                              </a:rPr>
                              <m:t>Δ</m:t>
                            </m:r>
                          </m:e>
                        </m:acc>
                      </m:e>
                      <m:sub>
                        <m:r>
                          <a:rPr lang="en-US" sz="1600" i="1" dirty="0">
                            <a:latin typeface="Cambria Math" panose="02040503050406030204" pitchFamily="18" charset="0"/>
                          </a:rPr>
                          <m:t>𝑎𝑑𝑗</m:t>
                        </m:r>
                      </m:sub>
                    </m:sSub>
                    <m:r>
                      <a:rPr lang="en-US" sz="1600" i="1" dirty="0">
                        <a:latin typeface="Cambria Math" panose="02040503050406030204" pitchFamily="18" charset="0"/>
                      </a:rPr>
                      <m:t>&gt;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oMath>
                </a14:m>
                <a:r>
                  <a:rPr lang="en-US" sz="1600" dirty="0"/>
                  <a:t>). For example, if 600 Phase II trials meet this criterion, the bias is calculated based on those 600 trials.</a:t>
                </a:r>
                <a:endParaRPr lang="en-US" sz="1600" i="1" dirty="0">
                  <a:latin typeface="Cambria Math" panose="02040503050406030204" pitchFamily="18" charset="0"/>
                </a:endParaRPr>
              </a:p>
              <a:p>
                <a:pPr algn="ctr"/>
                <a14:m>
                  <m:oMath xmlns:m="http://schemas.openxmlformats.org/officeDocument/2006/math">
                    <m:f>
                      <m:fPr>
                        <m:ctrlPr>
                          <a:rPr lang="en-US" sz="1600" i="1" smtClean="0">
                            <a:latin typeface="Cambria Math" panose="02040503050406030204" pitchFamily="18" charset="0"/>
                          </a:rPr>
                        </m:ctrlPr>
                      </m:fPr>
                      <m:num>
                        <m:nary>
                          <m:naryPr>
                            <m:chr m:val="∑"/>
                            <m:grow m:val="on"/>
                            <m:limLoc m:val="undOvr"/>
                            <m:ctrlPr>
                              <a:rPr lang="en-US" sz="1600" i="1" dirty="0">
                                <a:latin typeface="Cambria Math" panose="02040503050406030204" pitchFamily="18" charset="0"/>
                              </a:rPr>
                            </m:ctrlPr>
                          </m:naryPr>
                          <m:sub>
                            <m:r>
                              <m:rPr>
                                <m:sty m:val="p"/>
                                <m:brk/>
                                <m:aln/>
                              </m:rPr>
                              <a:rPr lang="en-US" sz="1600" dirty="0" smtClean="0">
                                <a:latin typeface="Cambria Math" panose="02040503050406030204" pitchFamily="18" charset="0"/>
                              </a:rPr>
                              <m:t>s</m:t>
                            </m:r>
                            <m:r>
                              <a:rPr lang="en-US" sz="1600" dirty="0" smtClean="0">
                                <a:latin typeface="Cambria Math" panose="02040503050406030204" pitchFamily="18" charset="0"/>
                              </a:rPr>
                              <m:t>=</m:t>
                            </m:r>
                            <m:r>
                              <a:rPr lang="en-US" sz="1600" dirty="0" smtClean="0">
                                <a:latin typeface="Cambria Math" panose="02040503050406030204" pitchFamily="18" charset="0"/>
                              </a:rPr>
                              <m:t>1</m:t>
                            </m:r>
                          </m:sub>
                          <m:sup>
                            <m:r>
                              <a:rPr lang="en-US" sz="1600" dirty="0" smtClean="0">
                                <a:latin typeface="Cambria Math" panose="02040503050406030204" pitchFamily="18" charset="0"/>
                              </a:rPr>
                              <m:t>1000</m:t>
                            </m:r>
                          </m:sup>
                          <m:e>
                            <m:sSup>
                              <m:sSupPr>
                                <m:ctrlPr>
                                  <a:rPr lang="en-US" sz="1600" i="1" dirty="0">
                                    <a:latin typeface="Cambria Math" panose="02040503050406030204" pitchFamily="18" charset="0"/>
                                  </a:rPr>
                                </m:ctrlPr>
                              </m:sSupPr>
                              <m:e>
                                <m:sSub>
                                  <m:sSubPr>
                                    <m:ctrlPr>
                                      <a:rPr lang="en-US" sz="1600" i="1" dirty="0">
                                        <a:latin typeface="Cambria Math" panose="02040503050406030204" pitchFamily="18" charset="0"/>
                                      </a:rPr>
                                    </m:ctrlPr>
                                  </m:sSubPr>
                                  <m:e>
                                    <m:acc>
                                      <m:accPr>
                                        <m:ctrlPr>
                                          <a:rPr lang="en-US" sz="1600" i="1" dirty="0">
                                            <a:solidFill>
                                              <a:srgbClr val="836967"/>
                                            </a:solidFill>
                                            <a:latin typeface="Cambria Math" panose="02040503050406030204" pitchFamily="18" charset="0"/>
                                          </a:rPr>
                                        </m:ctrlPr>
                                      </m:accPr>
                                      <m:e>
                                        <m:r>
                                          <m:rPr>
                                            <m:sty m:val="p"/>
                                          </m:rPr>
                                          <a:rPr lang="en-US" sz="1600" dirty="0">
                                            <a:latin typeface="Cambria Math" panose="02040503050406030204" pitchFamily="18" charset="0"/>
                                          </a:rPr>
                                          <m:t>Δ</m:t>
                                        </m:r>
                                      </m:e>
                                    </m:acc>
                                  </m:e>
                                  <m:sub>
                                    <m:r>
                                      <a:rPr lang="en-US" sz="1600" i="1" dirty="0">
                                        <a:latin typeface="Cambria Math" panose="02040503050406030204" pitchFamily="18" charset="0"/>
                                      </a:rPr>
                                      <m:t>𝑎𝑑𝑗</m:t>
                                    </m:r>
                                  </m:sub>
                                </m:sSub>
                              </m:e>
                              <m:sup>
                                <m:r>
                                  <a:rPr lang="en-US" sz="1600" i="1" dirty="0">
                                    <a:latin typeface="Cambria Math" panose="02040503050406030204" pitchFamily="18" charset="0"/>
                                  </a:rPr>
                                  <m:t>(</m:t>
                                </m:r>
                                <m:r>
                                  <a:rPr lang="en-US" sz="1600" i="1" dirty="0">
                                    <a:latin typeface="Cambria Math" panose="02040503050406030204" pitchFamily="18" charset="0"/>
                                  </a:rPr>
                                  <m:t>𝑠</m:t>
                                </m:r>
                                <m:r>
                                  <a:rPr lang="en-US" sz="1600" i="1" dirty="0">
                                    <a:latin typeface="Cambria Math" panose="02040503050406030204" pitchFamily="18" charset="0"/>
                                  </a:rPr>
                                  <m:t>)</m:t>
                                </m:r>
                              </m:sup>
                            </m:sSup>
                            <m:r>
                              <a:rPr lang="en-US" sz="1600" i="1" dirty="0">
                                <a:latin typeface="Cambria Math" panose="02040503050406030204" pitchFamily="18" charset="0"/>
                              </a:rPr>
                              <m:t>·</m:t>
                            </m:r>
                            <m:r>
                              <a:rPr lang="en-US" sz="1600" i="1" dirty="0">
                                <a:latin typeface="Cambria Math" panose="02040503050406030204" pitchFamily="18" charset="0"/>
                              </a:rPr>
                              <m:t>1</m:t>
                            </m:r>
                            <m:r>
                              <a:rPr lang="en-US" sz="1600" i="1" dirty="0">
                                <a:latin typeface="Cambria Math" panose="02040503050406030204" pitchFamily="18" charset="0"/>
                              </a:rPr>
                              <m:t>(</m:t>
                            </m:r>
                            <m:sSup>
                              <m:sSupPr>
                                <m:ctrlPr>
                                  <a:rPr lang="en-US" sz="1600" i="1" dirty="0">
                                    <a:latin typeface="Cambria Math" panose="02040503050406030204" pitchFamily="18" charset="0"/>
                                  </a:rPr>
                                </m:ctrlPr>
                              </m:sSupPr>
                              <m:e>
                                <m:sSub>
                                  <m:sSubPr>
                                    <m:ctrlPr>
                                      <a:rPr lang="en-US" sz="1600" i="1" dirty="0">
                                        <a:latin typeface="Cambria Math" panose="02040503050406030204" pitchFamily="18" charset="0"/>
                                      </a:rPr>
                                    </m:ctrlPr>
                                  </m:sSubPr>
                                  <m:e>
                                    <m:acc>
                                      <m:accPr>
                                        <m:ctrlPr>
                                          <a:rPr lang="en-US" sz="1600" i="1" dirty="0">
                                            <a:solidFill>
                                              <a:srgbClr val="836967"/>
                                            </a:solidFill>
                                            <a:latin typeface="Cambria Math" panose="02040503050406030204" pitchFamily="18" charset="0"/>
                                          </a:rPr>
                                        </m:ctrlPr>
                                      </m:accPr>
                                      <m:e>
                                        <m:r>
                                          <m:rPr>
                                            <m:sty m:val="p"/>
                                          </m:rPr>
                                          <a:rPr lang="en-US" sz="1600" dirty="0">
                                            <a:latin typeface="Cambria Math" panose="02040503050406030204" pitchFamily="18" charset="0"/>
                                          </a:rPr>
                                          <m:t>Δ</m:t>
                                        </m:r>
                                      </m:e>
                                    </m:acc>
                                  </m:e>
                                  <m:sub>
                                    <m:r>
                                      <a:rPr lang="en-US" sz="1600" i="1" dirty="0">
                                        <a:latin typeface="Cambria Math" panose="02040503050406030204" pitchFamily="18" charset="0"/>
                                      </a:rPr>
                                      <m:t>𝑎𝑑𝑗</m:t>
                                    </m:r>
                                  </m:sub>
                                </m:sSub>
                              </m:e>
                              <m:sup>
                                <m:d>
                                  <m:dPr>
                                    <m:ctrlPr>
                                      <a:rPr lang="en-US" sz="1600" i="1" dirty="0">
                                        <a:latin typeface="Cambria Math" panose="02040503050406030204" pitchFamily="18" charset="0"/>
                                      </a:rPr>
                                    </m:ctrlPr>
                                  </m:dPr>
                                  <m:e>
                                    <m:r>
                                      <a:rPr lang="en-US" sz="1600" i="1" dirty="0">
                                        <a:latin typeface="Cambria Math" panose="02040503050406030204" pitchFamily="18" charset="0"/>
                                      </a:rPr>
                                      <m:t>𝑠</m:t>
                                    </m:r>
                                  </m:e>
                                </m:d>
                              </m:sup>
                            </m:sSup>
                            <m:r>
                              <a:rPr lang="en-US" sz="1600" i="1" dirty="0">
                                <a:latin typeface="Cambria Math" panose="02040503050406030204" pitchFamily="18" charset="0"/>
                              </a:rPr>
                              <m:t>&gt;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r>
                              <a:rPr lang="en-US" sz="1600" i="1" dirty="0">
                                <a:latin typeface="Cambria Math" panose="02040503050406030204" pitchFamily="18" charset="0"/>
                              </a:rPr>
                              <m:t>)</m:t>
                            </m:r>
                          </m:e>
                        </m:nary>
                      </m:num>
                      <m:den>
                        <m:nary>
                          <m:naryPr>
                            <m:chr m:val="∑"/>
                            <m:grow m:val="on"/>
                            <m:limLoc m:val="undOvr"/>
                            <m:ctrlPr>
                              <a:rPr lang="en-US" sz="1600" i="1" dirty="0">
                                <a:latin typeface="Cambria Math" panose="02040503050406030204" pitchFamily="18" charset="0"/>
                              </a:rPr>
                            </m:ctrlPr>
                          </m:naryPr>
                          <m:sub>
                            <m:r>
                              <m:rPr>
                                <m:sty m:val="p"/>
                                <m:brk/>
                                <m:aln/>
                              </m:rPr>
                              <a:rPr lang="en-US" sz="1600" dirty="0">
                                <a:latin typeface="Cambria Math" panose="02040503050406030204" pitchFamily="18" charset="0"/>
                              </a:rPr>
                              <m:t>s</m:t>
                            </m:r>
                            <m:r>
                              <a:rPr lang="en-US" sz="1600" dirty="0">
                                <a:latin typeface="Cambria Math" panose="02040503050406030204" pitchFamily="18" charset="0"/>
                              </a:rPr>
                              <m:t>=</m:t>
                            </m:r>
                            <m:r>
                              <a:rPr lang="en-US" sz="1600" dirty="0">
                                <a:latin typeface="Cambria Math" panose="02040503050406030204" pitchFamily="18" charset="0"/>
                              </a:rPr>
                              <m:t>1</m:t>
                            </m:r>
                          </m:sub>
                          <m:sup>
                            <m:r>
                              <a:rPr lang="en-US" sz="1600" dirty="0">
                                <a:latin typeface="Cambria Math" panose="02040503050406030204" pitchFamily="18" charset="0"/>
                              </a:rPr>
                              <m:t>1000</m:t>
                            </m:r>
                          </m:sup>
                          <m:e>
                            <m:r>
                              <a:rPr lang="en-US" sz="1600" i="1" dirty="0">
                                <a:latin typeface="Cambria Math" panose="02040503050406030204" pitchFamily="18" charset="0"/>
                              </a:rPr>
                              <m:t>1</m:t>
                            </m:r>
                            <m:r>
                              <a:rPr lang="en-US" sz="1600" i="1" dirty="0">
                                <a:latin typeface="Cambria Math" panose="02040503050406030204" pitchFamily="18" charset="0"/>
                              </a:rPr>
                              <m:t>(</m:t>
                            </m:r>
                            <m:sSup>
                              <m:sSupPr>
                                <m:ctrlPr>
                                  <a:rPr lang="en-US" sz="1600" i="1" dirty="0">
                                    <a:latin typeface="Cambria Math" panose="02040503050406030204" pitchFamily="18" charset="0"/>
                                  </a:rPr>
                                </m:ctrlPr>
                              </m:sSupPr>
                              <m:e>
                                <m:sSub>
                                  <m:sSubPr>
                                    <m:ctrlPr>
                                      <a:rPr lang="en-US" sz="1600" i="1" dirty="0">
                                        <a:latin typeface="Cambria Math" panose="02040503050406030204" pitchFamily="18" charset="0"/>
                                      </a:rPr>
                                    </m:ctrlPr>
                                  </m:sSubPr>
                                  <m:e>
                                    <m:acc>
                                      <m:accPr>
                                        <m:ctrlPr>
                                          <a:rPr lang="en-US" sz="1600" i="1" dirty="0">
                                            <a:solidFill>
                                              <a:srgbClr val="836967"/>
                                            </a:solidFill>
                                            <a:latin typeface="Cambria Math" panose="02040503050406030204" pitchFamily="18" charset="0"/>
                                          </a:rPr>
                                        </m:ctrlPr>
                                      </m:accPr>
                                      <m:e>
                                        <m:r>
                                          <m:rPr>
                                            <m:sty m:val="p"/>
                                          </m:rPr>
                                          <a:rPr lang="en-US" sz="1600" dirty="0">
                                            <a:latin typeface="Cambria Math" panose="02040503050406030204" pitchFamily="18" charset="0"/>
                                          </a:rPr>
                                          <m:t>Δ</m:t>
                                        </m:r>
                                      </m:e>
                                    </m:acc>
                                  </m:e>
                                  <m:sub>
                                    <m:r>
                                      <a:rPr lang="en-US" sz="1600" i="1" dirty="0">
                                        <a:latin typeface="Cambria Math" panose="02040503050406030204" pitchFamily="18" charset="0"/>
                                      </a:rPr>
                                      <m:t>𝑎𝑑𝑗</m:t>
                                    </m:r>
                                  </m:sub>
                                </m:sSub>
                              </m:e>
                              <m:sup>
                                <m:d>
                                  <m:dPr>
                                    <m:ctrlPr>
                                      <a:rPr lang="en-US" sz="1600" i="1" dirty="0">
                                        <a:latin typeface="Cambria Math" panose="02040503050406030204" pitchFamily="18" charset="0"/>
                                      </a:rPr>
                                    </m:ctrlPr>
                                  </m:dPr>
                                  <m:e>
                                    <m:r>
                                      <a:rPr lang="en-US" sz="1600" i="1" dirty="0">
                                        <a:latin typeface="Cambria Math" panose="02040503050406030204" pitchFamily="18" charset="0"/>
                                      </a:rPr>
                                      <m:t>𝑠</m:t>
                                    </m:r>
                                  </m:e>
                                </m:d>
                              </m:sup>
                            </m:sSup>
                            <m:r>
                              <a:rPr lang="en-US" sz="1600" i="1" dirty="0">
                                <a:latin typeface="Cambria Math" panose="02040503050406030204" pitchFamily="18" charset="0"/>
                              </a:rPr>
                              <m:t>&gt;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𝑃𝐷</m:t>
                                </m:r>
                              </m:sub>
                            </m:sSub>
                            <m:r>
                              <a:rPr lang="en-US" sz="1600" i="1" dirty="0">
                                <a:latin typeface="Cambria Math" panose="02040503050406030204" pitchFamily="18" charset="0"/>
                              </a:rPr>
                              <m:t>)</m:t>
                            </m:r>
                          </m:e>
                        </m:nary>
                      </m:den>
                    </m:f>
                  </m:oMath>
                </a14:m>
                <a:r>
                  <a:rPr lang="en-US" sz="1600" dirty="0"/>
                  <a:t> </a:t>
                </a:r>
                <a14:m>
                  <m:oMath xmlns:m="http://schemas.openxmlformats.org/officeDocument/2006/math">
                    <m:r>
                      <a:rPr lang="en-US" sz="1600" dirty="0">
                        <a:latin typeface="Cambria Math" panose="02040503050406030204" pitchFamily="18" charset="0"/>
                      </a:rPr>
                      <m:t>−</m:t>
                    </m:r>
                    <m:sSub>
                      <m:sSubPr>
                        <m:ctrlPr>
                          <a:rPr lang="en-US" sz="1600" i="1" dirty="0">
                            <a:solidFill>
                              <a:srgbClr val="836967"/>
                            </a:solidFill>
                            <a:latin typeface="Cambria Math" panose="02040503050406030204" pitchFamily="18" charset="0"/>
                          </a:rPr>
                        </m:ctrlPr>
                      </m:sSubPr>
                      <m:e>
                        <m:r>
                          <m:rPr>
                            <m:sty m:val="p"/>
                          </m:rPr>
                          <a:rPr lang="en-US" sz="1600" dirty="0">
                            <a:latin typeface="Cambria Math" panose="02040503050406030204" pitchFamily="18" charset="0"/>
                          </a:rPr>
                          <m:t>Δ</m:t>
                        </m:r>
                      </m:e>
                      <m:sub>
                        <m:r>
                          <a:rPr lang="en-US" sz="1600" i="1" dirty="0">
                            <a:latin typeface="Cambria Math" panose="02040503050406030204" pitchFamily="18" charset="0"/>
                          </a:rPr>
                          <m:t>0</m:t>
                        </m:r>
                        <m:r>
                          <a:rPr lang="en-US" sz="1600" b="0" i="1" dirty="0" smtClean="0">
                            <a:latin typeface="Cambria Math" panose="02040503050406030204" pitchFamily="18" charset="0"/>
                          </a:rPr>
                          <m:t>2</m:t>
                        </m:r>
                      </m:sub>
                    </m:sSub>
                  </m:oMath>
                </a14:m>
                <a:r>
                  <a:rPr lang="en-US" sz="1600" dirty="0"/>
                  <a:t>.</a:t>
                </a:r>
                <a:endParaRPr lang="en-US" sz="1600" dirty="0"/>
              </a:p>
              <a:p>
                <a:pPr marL="342900" indent="-342900">
                  <a:lnSpc>
                    <a:spcPct val="150000"/>
                  </a:lnSpc>
                  <a:buFont typeface="+mj-lt"/>
                  <a:buAutoNum type="arabicParenR" startAt="4"/>
                </a:pPr>
                <a:r>
                  <a:rPr lang="en-US" sz="1600" dirty="0"/>
                  <a:t>Ph3 Power: Probability of rejecting </a:t>
                </a:r>
                <a14:m>
                  <m:oMath xmlns:m="http://schemas.openxmlformats.org/officeDocument/2006/math">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𝐻</m:t>
                        </m:r>
                      </m:e>
                      <m:sub>
                        <m:r>
                          <a:rPr lang="en-US" sz="1600">
                            <a:latin typeface="Cambria Math" panose="02040503050406030204" pitchFamily="18" charset="0"/>
                          </a:rPr>
                          <m:t>0</m:t>
                        </m:r>
                      </m:sub>
                    </m:sSub>
                    <m:r>
                      <a:rPr lang="en-US" sz="160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Δ</m:t>
                        </m:r>
                      </m:e>
                      <m:sub>
                        <m:r>
                          <a:rPr lang="en-US" sz="1600" i="1">
                            <a:latin typeface="Cambria Math" panose="02040503050406030204" pitchFamily="18" charset="0"/>
                          </a:rPr>
                          <m:t>0</m:t>
                        </m:r>
                      </m:sub>
                    </m:sSub>
                    <m:r>
                      <a:rPr lang="en-US" sz="1600" b="0" i="0" smtClean="0">
                        <a:latin typeface="Cambria Math" panose="02040503050406030204" pitchFamily="18" charset="0"/>
                      </a:rPr>
                      <m:t>=</m:t>
                    </m:r>
                    <m:r>
                      <a:rPr lang="en-US" sz="1600" b="0" i="0" smtClean="0">
                        <a:latin typeface="Cambria Math" panose="02040503050406030204" pitchFamily="18" charset="0"/>
                      </a:rPr>
                      <m:t>0</m:t>
                    </m:r>
                  </m:oMath>
                </a14:m>
                <a:r>
                  <a:rPr lang="en-US" sz="1600" dirty="0"/>
                  <a:t> when </a:t>
                </a:r>
                <a14:m>
                  <m:oMath xmlns:m="http://schemas.openxmlformats.org/officeDocument/2006/math">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𝐻</m:t>
                        </m:r>
                      </m:e>
                      <m:sub>
                        <m:r>
                          <a:rPr lang="en-US" sz="1600">
                            <a:latin typeface="Cambria Math" panose="02040503050406030204" pitchFamily="18" charset="0"/>
                          </a:rPr>
                          <m:t>0</m:t>
                        </m:r>
                      </m:sub>
                    </m:sSub>
                  </m:oMath>
                </a14:m>
                <a:r>
                  <a:rPr lang="en-US" sz="1600" dirty="0"/>
                  <a:t> is not true.</a:t>
                </a:r>
                <a:endParaRPr lang="en-US" sz="1600" dirty="0"/>
              </a:p>
              <a:p>
                <a:pPr marL="342900" indent="-342900">
                  <a:lnSpc>
                    <a:spcPct val="150000"/>
                  </a:lnSpc>
                  <a:buFont typeface="+mj-lt"/>
                  <a:buAutoNum type="arabicParenR" startAt="4"/>
                </a:pPr>
                <a:r>
                  <a:rPr lang="en-US" sz="1600" dirty="0"/>
                  <a:t>Program Power: Probability of making a “go” decision in Phase II and rejecting </a:t>
                </a:r>
                <a14:m>
                  <m:oMath xmlns:m="http://schemas.openxmlformats.org/officeDocument/2006/math">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𝐻</m:t>
                        </m:r>
                      </m:e>
                      <m:sub>
                        <m:r>
                          <a:rPr lang="en-US" sz="1600">
                            <a:latin typeface="Cambria Math" panose="02040503050406030204" pitchFamily="18" charset="0"/>
                          </a:rPr>
                          <m:t>0</m:t>
                        </m:r>
                      </m:sub>
                    </m:sSub>
                    <m:r>
                      <a:rPr lang="en-US" sz="1600">
                        <a:latin typeface="Cambria Math" panose="02040503050406030204" pitchFamily="18" charset="0"/>
                      </a:rPr>
                      <m:t>:</m:t>
                    </m:r>
                    <m:r>
                      <m:rPr>
                        <m:sty m:val="p"/>
                      </m:rPr>
                      <a:rPr lang="en-US" sz="1600">
                        <a:latin typeface="Cambria Math" panose="02040503050406030204" pitchFamily="18" charset="0"/>
                      </a:rPr>
                      <m:t>Δ</m:t>
                    </m:r>
                    <m:r>
                      <a:rPr lang="en-US" sz="1600">
                        <a:latin typeface="Cambria Math" panose="02040503050406030204" pitchFamily="18" charset="0"/>
                      </a:rPr>
                      <m:t>≤</m:t>
                    </m:r>
                    <m:sSub>
                      <m:sSubPr>
                        <m:ctrlPr>
                          <a:rPr lang="en-US" sz="1600" i="1">
                            <a:solidFill>
                              <a:srgbClr val="836967"/>
                            </a:solidFill>
                            <a:latin typeface="Cambria Math" panose="02040503050406030204" pitchFamily="18" charset="0"/>
                          </a:rPr>
                        </m:ctrlPr>
                      </m:sSubPr>
                      <m:e>
                        <m:r>
                          <m:rPr>
                            <m:sty m:val="p"/>
                          </m:rPr>
                          <a:rPr lang="en-US" sz="1600">
                            <a:latin typeface="Cambria Math" panose="02040503050406030204" pitchFamily="18" charset="0"/>
                          </a:rPr>
                          <m:t>Δ</m:t>
                        </m:r>
                      </m:e>
                      <m:sub>
                        <m:r>
                          <a:rPr lang="en-US" sz="1600" i="1">
                            <a:latin typeface="Cambria Math" panose="02040503050406030204" pitchFamily="18" charset="0"/>
                          </a:rPr>
                          <m:t>𝑃𝐷</m:t>
                        </m:r>
                      </m:sub>
                    </m:sSub>
                  </m:oMath>
                </a14:m>
                <a:r>
                  <a:rPr lang="en-US" sz="1600" dirty="0"/>
                  <a:t> in Phase III trial.</a:t>
                </a:r>
                <a:endParaRPr lang="en-US" sz="1600" dirty="0"/>
              </a:p>
            </p:txBody>
          </p:sp>
        </mc:Choice>
        <mc:Fallback>
          <p:sp>
            <p:nvSpPr>
              <p:cNvPr id="8" name="TextBox 7"/>
              <p:cNvSpPr txBox="1">
                <a:spLocks noRot="1" noChangeAspect="1" noMove="1" noResize="1" noEditPoints="1" noAdjustHandles="1" noChangeArrowheads="1" noChangeShapeType="1" noTextEdit="1"/>
              </p:cNvSpPr>
              <p:nvPr/>
            </p:nvSpPr>
            <p:spPr bwMode="gray">
              <a:xfrm>
                <a:off x="802802" y="1295400"/>
                <a:ext cx="10909197" cy="3851247"/>
              </a:xfrm>
              <a:prstGeom prst="rect">
                <a:avLst/>
              </a:prstGeom>
              <a:blipFill rotWithShape="1">
                <a:blip r:embed="rId1"/>
                <a:stretch>
                  <a:fillRect l="-1" r="1" b="16"/>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a:xfrm>
            <a:off x="479424" y="672728"/>
            <a:ext cx="11233151" cy="720000"/>
          </a:xfrm>
        </p:spPr>
        <p:txBody>
          <a:bodyPr/>
          <a:lstStyle/>
          <a:p>
            <a:r>
              <a:rPr lang="en-US" sz="2200" noProof="0" dirty="0"/>
              <a:t>Phase II </a:t>
            </a:r>
            <a:r>
              <a:rPr lang="en-US" sz="2200" dirty="0"/>
              <a:t>Effect </a:t>
            </a:r>
            <a:r>
              <a:rPr lang="en-US" sz="2200" noProof="0" dirty="0"/>
              <a:t>Bias: </a:t>
            </a:r>
            <a:r>
              <a:rPr lang="en-US" sz="2200" b="0" noProof="0" dirty="0"/>
              <a:t>positive scenario</a:t>
            </a:r>
            <a:endParaRPr lang="en-US" sz="2200" noProof="0" dirty="0"/>
          </a:p>
        </p:txBody>
      </p:sp>
      <p:sp>
        <p:nvSpPr>
          <p:cNvPr id="10" name="Textplatzhalter 9"/>
          <p:cNvSpPr>
            <a:spLocks noGrp="1"/>
          </p:cNvSpPr>
          <p:nvPr>
            <p:ph type="body" sz="quarter" idx="13"/>
          </p:nvPr>
        </p:nvSpPr>
        <p:spPr bwMode="gray">
          <a:xfrm>
            <a:off x="592694" y="5943600"/>
            <a:ext cx="11232000" cy="144000"/>
          </a:xfrm>
        </p:spPr>
        <p:txBody>
          <a:bodyPr/>
          <a:lstStyle/>
          <a:p>
            <a:r>
              <a:rPr lang="en-US" sz="1000" noProof="0" dirty="0"/>
              <a:t>Note</a:t>
            </a:r>
            <a:r>
              <a:rPr lang="en-US" sz="1000" dirty="0"/>
              <a:t>: MCLE groups have extreme negative outliers below -3 in the top panel, which are not shown.</a:t>
            </a:r>
            <a:endParaRPr lang="en-US" sz="100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grpSp>
        <p:nvGrpSpPr>
          <p:cNvPr id="15" name="Group 3"/>
          <p:cNvGrpSpPr/>
          <p:nvPr/>
        </p:nvGrpSpPr>
        <p:grpSpPr>
          <a:xfrm>
            <a:off x="8840771" y="183838"/>
            <a:ext cx="2946400" cy="521870"/>
            <a:chOff x="0" y="0"/>
            <a:chExt cx="19541547" cy="1002592"/>
          </a:xfrm>
        </p:grpSpPr>
        <p:grpSp>
          <p:nvGrpSpPr>
            <p:cNvPr id="17" name="Group 4"/>
            <p:cNvGrpSpPr/>
            <p:nvPr/>
          </p:nvGrpSpPr>
          <p:grpSpPr>
            <a:xfrm>
              <a:off x="0" y="0"/>
              <a:ext cx="19541547" cy="1002592"/>
              <a:chOff x="0" y="0"/>
              <a:chExt cx="10127819" cy="519615"/>
            </a:xfrm>
          </p:grpSpPr>
          <p:sp>
            <p:nvSpPr>
              <p:cNvPr id="20"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a:p>
            </p:txBody>
          </p:sp>
          <p:sp>
            <p:nvSpPr>
              <p:cNvPr id="21" name="TextBox 6"/>
              <p:cNvSpPr txBox="1"/>
              <p:nvPr/>
            </p:nvSpPr>
            <p:spPr>
              <a:xfrm>
                <a:off x="0" y="-38100"/>
                <a:ext cx="10127819" cy="557715"/>
              </a:xfrm>
              <a:prstGeom prst="rect">
                <a:avLst/>
              </a:prstGeom>
            </p:spPr>
            <p:txBody>
              <a:bodyPr lIns="50800" tIns="50800" rIns="50800" bIns="50800" rtlCol="0" anchor="ctr"/>
              <a:lstStyle/>
              <a:p>
                <a:pPr algn="ctr">
                  <a:lnSpc>
                    <a:spcPts val="2660"/>
                  </a:lnSpc>
                  <a:spcBef>
                    <a:spcPct val="0"/>
                  </a:spcBef>
                </a:pPr>
              </a:p>
            </p:txBody>
          </p:sp>
        </p:grpSp>
        <p:sp>
          <p:nvSpPr>
            <p:cNvPr id="19" name="TextBox 18"/>
            <p:cNvSpPr txBox="1"/>
            <p:nvPr/>
          </p:nvSpPr>
          <p:spPr>
            <a:xfrm>
              <a:off x="1481401" y="52697"/>
              <a:ext cx="16578758" cy="923024"/>
            </a:xfrm>
            <a:prstGeom prst="rect">
              <a:avLst/>
            </a:prstGeom>
          </p:spPr>
          <p:txBody>
            <a:bodyPr lIns="0" tIns="0" rIns="0" bIns="0" rtlCol="0" anchor="ctr">
              <a:spAutoFit/>
            </a:bodyPr>
            <a:lstStyle/>
            <a:p>
              <a:pPr algn="ctr">
                <a:lnSpc>
                  <a:spcPts val="4065"/>
                </a:lnSpc>
              </a:pPr>
              <a:r>
                <a:rPr lang="en-US" sz="2400" dirty="0">
                  <a:solidFill>
                    <a:srgbClr val="FFFFFF"/>
                  </a:solidFill>
                  <a:ea typeface="League Gothic" panose="020B0604020202020204"/>
                  <a:cs typeface="League Gothic" panose="020B0604020202020204"/>
                  <a:sym typeface="League Gothic" panose="020B0604020202020204"/>
                </a:rPr>
                <a:t>Results</a:t>
              </a:r>
              <a:endParaRPr lang="en-US" sz="2400" dirty="0">
                <a:solidFill>
                  <a:srgbClr val="FFFFFF"/>
                </a:solidFill>
                <a:ea typeface="League Gothic" panose="020B0604020202020204"/>
                <a:cs typeface="League Gothic" panose="020B0604020202020204"/>
                <a:sym typeface="League Gothic" panose="020B0604020202020204"/>
              </a:endParaRPr>
            </a:p>
          </p:txBody>
        </p:sp>
      </p:grpSp>
      <p:sp>
        <p:nvSpPr>
          <p:cNvPr id="6" name="TextBox 5"/>
          <p:cNvSpPr txBox="1"/>
          <p:nvPr/>
        </p:nvSpPr>
        <p:spPr bwMode="gray">
          <a:xfrm>
            <a:off x="7467600" y="1600199"/>
            <a:ext cx="4235359" cy="2384179"/>
          </a:xfrm>
          <a:prstGeom prst="rect">
            <a:avLst/>
          </a:prstGeom>
          <a:noFill/>
        </p:spPr>
        <p:txBody>
          <a:bodyPr wrap="square" lIns="0" tIns="0" rIns="0" bIns="0" rtlCol="0">
            <a:spAutoFit/>
          </a:bodyPr>
          <a:lstStyle/>
          <a:p>
            <a:pPr marL="179705" indent="-179705">
              <a:lnSpc>
                <a:spcPct val="140000"/>
              </a:lnSpc>
              <a:buFont typeface="Arial" panose="020B0604020202020204" pitchFamily="34" charset="0"/>
              <a:buChar char="•"/>
            </a:pPr>
            <a:r>
              <a:rPr lang="en-US" sz="1600" dirty="0"/>
              <a:t>Adjustments generally move in the right direction and incorporating historical data leads to greater adjustments with reduced variability. </a:t>
            </a:r>
            <a:endParaRPr lang="en-US" sz="1600" dirty="0"/>
          </a:p>
          <a:p>
            <a:pPr marL="179705" indent="-179705">
              <a:lnSpc>
                <a:spcPct val="140000"/>
              </a:lnSpc>
              <a:buFont typeface="Arial" panose="020B0604020202020204" pitchFamily="34" charset="0"/>
              <a:buChar char="•"/>
            </a:pPr>
            <a:r>
              <a:rPr lang="en-US" sz="1600" dirty="0"/>
              <a:t>However, definitive conclusions are challenging because results depend on how the historical data are shifted. </a:t>
            </a:r>
            <a:endParaRPr lang="en-US" sz="1600" dirty="0"/>
          </a:p>
        </p:txBody>
      </p:sp>
      <p:pic>
        <p:nvPicPr>
          <p:cNvPr id="9" name="Picture 8"/>
          <p:cNvPicPr>
            <a:picLocks noChangeAspect="1"/>
          </p:cNvPicPr>
          <p:nvPr/>
        </p:nvPicPr>
        <p:blipFill>
          <a:blip r:embed="rId1"/>
          <a:stretch>
            <a:fillRect/>
          </a:stretch>
        </p:blipFill>
        <p:spPr>
          <a:xfrm>
            <a:off x="513989" y="1055643"/>
            <a:ext cx="6554161" cy="47467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Phase III Power:</a:t>
            </a:r>
            <a:r>
              <a:rPr lang="en-US" sz="2200" b="0" noProof="0" dirty="0"/>
              <a:t> positive scenario</a:t>
            </a:r>
            <a:endParaRPr lang="en-US" sz="2200" b="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grpSp>
        <p:nvGrpSpPr>
          <p:cNvPr id="3" name="Group 3"/>
          <p:cNvGrpSpPr/>
          <p:nvPr/>
        </p:nvGrpSpPr>
        <p:grpSpPr>
          <a:xfrm>
            <a:off x="8840771" y="183838"/>
            <a:ext cx="2946400" cy="521870"/>
            <a:chOff x="0" y="0"/>
            <a:chExt cx="19541547" cy="1002592"/>
          </a:xfrm>
        </p:grpSpPr>
        <p:grpSp>
          <p:nvGrpSpPr>
            <p:cNvPr id="7" name="Group 4"/>
            <p:cNvGrpSpPr/>
            <p:nvPr/>
          </p:nvGrpSpPr>
          <p:grpSpPr>
            <a:xfrm>
              <a:off x="0" y="0"/>
              <a:ext cx="19541547" cy="1002592"/>
              <a:chOff x="0" y="0"/>
              <a:chExt cx="10127819" cy="519615"/>
            </a:xfrm>
          </p:grpSpPr>
          <p:sp>
            <p:nvSpPr>
              <p:cNvPr id="9"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a:p>
            </p:txBody>
          </p:sp>
          <p:sp>
            <p:nvSpPr>
              <p:cNvPr id="10" name="TextBox 6"/>
              <p:cNvSpPr txBox="1"/>
              <p:nvPr/>
            </p:nvSpPr>
            <p:spPr>
              <a:xfrm>
                <a:off x="0" y="-38100"/>
                <a:ext cx="10127819" cy="557715"/>
              </a:xfrm>
              <a:prstGeom prst="rect">
                <a:avLst/>
              </a:prstGeom>
            </p:spPr>
            <p:txBody>
              <a:bodyPr lIns="50800" tIns="50800" rIns="50800" bIns="50800" rtlCol="0" anchor="ctr"/>
              <a:lstStyle/>
              <a:p>
                <a:pPr algn="ctr">
                  <a:lnSpc>
                    <a:spcPts val="2660"/>
                  </a:lnSpc>
                  <a:spcBef>
                    <a:spcPct val="0"/>
                  </a:spcBef>
                </a:pPr>
              </a:p>
            </p:txBody>
          </p:sp>
        </p:grpSp>
        <p:sp>
          <p:nvSpPr>
            <p:cNvPr id="8" name="TextBox 7"/>
            <p:cNvSpPr txBox="1"/>
            <p:nvPr/>
          </p:nvSpPr>
          <p:spPr>
            <a:xfrm>
              <a:off x="1481401" y="52697"/>
              <a:ext cx="16578758" cy="923024"/>
            </a:xfrm>
            <a:prstGeom prst="rect">
              <a:avLst/>
            </a:prstGeom>
          </p:spPr>
          <p:txBody>
            <a:bodyPr lIns="0" tIns="0" rIns="0" bIns="0" rtlCol="0" anchor="ctr">
              <a:spAutoFit/>
            </a:bodyPr>
            <a:lstStyle/>
            <a:p>
              <a:pPr algn="ctr">
                <a:lnSpc>
                  <a:spcPts val="4065"/>
                </a:lnSpc>
              </a:pPr>
              <a:r>
                <a:rPr lang="en-US" sz="2400" dirty="0">
                  <a:solidFill>
                    <a:srgbClr val="FFFFFF"/>
                  </a:solidFill>
                  <a:ea typeface="League Gothic" panose="020B0604020202020204"/>
                  <a:cs typeface="League Gothic" panose="020B0604020202020204"/>
                  <a:sym typeface="League Gothic" panose="020B0604020202020204"/>
                </a:rPr>
                <a:t>Results</a:t>
              </a:r>
              <a:endParaRPr lang="en-US" sz="2400" dirty="0">
                <a:solidFill>
                  <a:srgbClr val="FFFFFF"/>
                </a:solidFill>
                <a:ea typeface="League Gothic" panose="020B0604020202020204"/>
                <a:cs typeface="League Gothic" panose="020B0604020202020204"/>
                <a:sym typeface="League Gothic" panose="020B0604020202020204"/>
              </a:endParaRPr>
            </a:p>
          </p:txBody>
        </p:sp>
      </p:grpSp>
      <p:sp>
        <p:nvSpPr>
          <p:cNvPr id="18" name="TextBox 17"/>
          <p:cNvSpPr txBox="1"/>
          <p:nvPr/>
        </p:nvSpPr>
        <p:spPr bwMode="gray">
          <a:xfrm>
            <a:off x="704725" y="5397679"/>
            <a:ext cx="10801813" cy="660630"/>
          </a:xfrm>
          <a:prstGeom prst="rect">
            <a:avLst/>
          </a:prstGeom>
          <a:noFill/>
        </p:spPr>
        <p:txBody>
          <a:bodyPr wrap="square" lIns="0" tIns="0" rIns="0" bIns="0" rtlCol="0">
            <a:spAutoFit/>
          </a:bodyPr>
          <a:lstStyle/>
          <a:p>
            <a:pPr marL="179705" indent="-179705">
              <a:lnSpc>
                <a:spcPct val="140000"/>
              </a:lnSpc>
              <a:buFont typeface="Arial" panose="020B0604020202020204" pitchFamily="34" charset="0"/>
              <a:buChar char="•"/>
            </a:pPr>
            <a:r>
              <a:rPr lang="en-US" sz="1600" dirty="0"/>
              <a:t>All of the methods incorporating MAP priors performed better than unadjusted method, with shifting and multiplicative methods performing best. </a:t>
            </a:r>
            <a:endParaRPr lang="en-US" sz="1600" dirty="0"/>
          </a:p>
        </p:txBody>
      </p:sp>
      <p:pic>
        <p:nvPicPr>
          <p:cNvPr id="6" name="Picture 5"/>
          <p:cNvPicPr>
            <a:picLocks noChangeAspect="1"/>
          </p:cNvPicPr>
          <p:nvPr/>
        </p:nvPicPr>
        <p:blipFill>
          <a:blip r:embed="rId1"/>
          <a:stretch>
            <a:fillRect/>
          </a:stretch>
        </p:blipFill>
        <p:spPr>
          <a:xfrm>
            <a:off x="1781338" y="1000213"/>
            <a:ext cx="8629322" cy="4303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Program Power</a:t>
            </a:r>
            <a:endParaRPr lang="en-US" sz="220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sp>
        <p:nvSpPr>
          <p:cNvPr id="5" name="Text Placeholder 4"/>
          <p:cNvSpPr>
            <a:spLocks noGrp="1"/>
          </p:cNvSpPr>
          <p:nvPr>
            <p:ph type="body" sz="quarter" idx="13"/>
          </p:nvPr>
        </p:nvSpPr>
        <p:spPr/>
        <p:txBody>
          <a:bodyPr/>
          <a:lstStyle/>
          <a:p>
            <a:endParaRPr lang="en-US"/>
          </a:p>
        </p:txBody>
      </p:sp>
      <p:grpSp>
        <p:nvGrpSpPr>
          <p:cNvPr id="7" name="Group 3"/>
          <p:cNvGrpSpPr/>
          <p:nvPr/>
        </p:nvGrpSpPr>
        <p:grpSpPr>
          <a:xfrm>
            <a:off x="8840771" y="183838"/>
            <a:ext cx="2946400" cy="521870"/>
            <a:chOff x="0" y="0"/>
            <a:chExt cx="19541547" cy="1002592"/>
          </a:xfrm>
        </p:grpSpPr>
        <p:grpSp>
          <p:nvGrpSpPr>
            <p:cNvPr id="8" name="Group 4"/>
            <p:cNvGrpSpPr/>
            <p:nvPr/>
          </p:nvGrpSpPr>
          <p:grpSpPr>
            <a:xfrm>
              <a:off x="0" y="0"/>
              <a:ext cx="19541547" cy="1002592"/>
              <a:chOff x="0" y="0"/>
              <a:chExt cx="10127819" cy="519615"/>
            </a:xfrm>
          </p:grpSpPr>
          <p:sp>
            <p:nvSpPr>
              <p:cNvPr id="11"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a:p>
            </p:txBody>
          </p:sp>
          <p:sp>
            <p:nvSpPr>
              <p:cNvPr id="14" name="TextBox 6"/>
              <p:cNvSpPr txBox="1"/>
              <p:nvPr/>
            </p:nvSpPr>
            <p:spPr>
              <a:xfrm>
                <a:off x="0" y="-38100"/>
                <a:ext cx="10127819" cy="557715"/>
              </a:xfrm>
              <a:prstGeom prst="rect">
                <a:avLst/>
              </a:prstGeom>
            </p:spPr>
            <p:txBody>
              <a:bodyPr lIns="50800" tIns="50800" rIns="50800" bIns="50800" rtlCol="0" anchor="ctr"/>
              <a:lstStyle/>
              <a:p>
                <a:pPr algn="ctr">
                  <a:lnSpc>
                    <a:spcPts val="2660"/>
                  </a:lnSpc>
                  <a:spcBef>
                    <a:spcPct val="0"/>
                  </a:spcBef>
                </a:pPr>
              </a:p>
            </p:txBody>
          </p:sp>
        </p:grpSp>
        <p:sp>
          <p:nvSpPr>
            <p:cNvPr id="9" name="TextBox 8"/>
            <p:cNvSpPr txBox="1"/>
            <p:nvPr/>
          </p:nvSpPr>
          <p:spPr>
            <a:xfrm>
              <a:off x="1481401" y="52697"/>
              <a:ext cx="16578758" cy="923024"/>
            </a:xfrm>
            <a:prstGeom prst="rect">
              <a:avLst/>
            </a:prstGeom>
          </p:spPr>
          <p:txBody>
            <a:bodyPr lIns="0" tIns="0" rIns="0" bIns="0" rtlCol="0" anchor="ctr">
              <a:spAutoFit/>
            </a:bodyPr>
            <a:lstStyle/>
            <a:p>
              <a:pPr algn="ctr">
                <a:lnSpc>
                  <a:spcPts val="4065"/>
                </a:lnSpc>
              </a:pPr>
              <a:r>
                <a:rPr lang="en-US" sz="2400" dirty="0">
                  <a:solidFill>
                    <a:srgbClr val="FFFFFF"/>
                  </a:solidFill>
                  <a:ea typeface="League Gothic" panose="020B0604020202020204"/>
                  <a:cs typeface="League Gothic" panose="020B0604020202020204"/>
                  <a:sym typeface="League Gothic" panose="020B0604020202020204"/>
                </a:rPr>
                <a:t>Results</a:t>
              </a:r>
              <a:endParaRPr lang="en-US" sz="2400" dirty="0">
                <a:solidFill>
                  <a:srgbClr val="FFFFFF"/>
                </a:solidFill>
                <a:ea typeface="League Gothic" panose="020B0604020202020204"/>
                <a:cs typeface="League Gothic" panose="020B0604020202020204"/>
                <a:sym typeface="League Gothic" panose="020B0604020202020204"/>
              </a:endParaRPr>
            </a:p>
          </p:txBody>
        </p:sp>
      </p:grpSp>
      <p:sp>
        <p:nvSpPr>
          <p:cNvPr id="17" name="TextBox 16"/>
          <p:cNvSpPr txBox="1"/>
          <p:nvPr/>
        </p:nvSpPr>
        <p:spPr bwMode="gray">
          <a:xfrm>
            <a:off x="694474" y="4749570"/>
            <a:ext cx="10801813" cy="660630"/>
          </a:xfrm>
          <a:prstGeom prst="rect">
            <a:avLst/>
          </a:prstGeom>
          <a:noFill/>
        </p:spPr>
        <p:txBody>
          <a:bodyPr wrap="square" lIns="0" tIns="0" rIns="0" bIns="0" rtlCol="0">
            <a:spAutoFit/>
          </a:bodyPr>
          <a:lstStyle/>
          <a:p>
            <a:pPr marL="179705" indent="-179705">
              <a:lnSpc>
                <a:spcPct val="140000"/>
              </a:lnSpc>
              <a:buFont typeface="Arial" panose="020B0604020202020204" pitchFamily="34" charset="0"/>
              <a:buChar char="•"/>
            </a:pPr>
            <a:r>
              <a:rPr lang="en-US" sz="1600" dirty="0"/>
              <a:t>Longer segments indicate stronger discrimination between positive and negative scenarios, i.e., better decision-making.</a:t>
            </a:r>
            <a:endParaRPr lang="en-US" sz="1600" dirty="0"/>
          </a:p>
        </p:txBody>
      </p:sp>
      <p:pic>
        <p:nvPicPr>
          <p:cNvPr id="6" name="Picture 5"/>
          <p:cNvPicPr>
            <a:picLocks noChangeAspect="1"/>
          </p:cNvPicPr>
          <p:nvPr/>
        </p:nvPicPr>
        <p:blipFill>
          <a:blip r:embed="rId1"/>
          <a:stretch>
            <a:fillRect/>
          </a:stretch>
        </p:blipFill>
        <p:spPr>
          <a:xfrm>
            <a:off x="6351507" y="1335153"/>
            <a:ext cx="5212306" cy="3190976"/>
          </a:xfrm>
          <a:prstGeom prst="rect">
            <a:avLst/>
          </a:prstGeom>
        </p:spPr>
      </p:pic>
      <p:pic>
        <p:nvPicPr>
          <p:cNvPr id="15" name="Picture 14"/>
          <p:cNvPicPr>
            <a:picLocks noChangeAspect="1"/>
          </p:cNvPicPr>
          <p:nvPr/>
        </p:nvPicPr>
        <p:blipFill>
          <a:blip r:embed="rId2"/>
          <a:stretch>
            <a:fillRect/>
          </a:stretch>
        </p:blipFill>
        <p:spPr>
          <a:xfrm>
            <a:off x="477428" y="1177361"/>
            <a:ext cx="5334000" cy="35372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3385" y="590550"/>
            <a:ext cx="1685231" cy="517321"/>
          </a:xfrm>
          <a:prstGeom prst="rect">
            <a:avLst/>
          </a:prstGeom>
        </p:spPr>
        <p:txBody>
          <a:bodyPr lIns="0" tIns="0" rIns="0" bIns="0" rtlCol="0" anchor="t">
            <a:spAutoFit/>
          </a:bodyPr>
          <a:lstStyle/>
          <a:p>
            <a:pPr algn="ctr">
              <a:lnSpc>
                <a:spcPts val="4480"/>
              </a:lnSpc>
            </a:pPr>
            <a:endParaRPr lang="en-US" sz="2665" b="1" dirty="0">
              <a:solidFill>
                <a:srgbClr val="00E57C"/>
              </a:solidFill>
              <a:latin typeface="Montserrat Bold" panose="00000800000000000000"/>
              <a:sym typeface="Poppins Bold"/>
            </a:endParaRPr>
          </a:p>
        </p:txBody>
      </p:sp>
      <p:sp>
        <p:nvSpPr>
          <p:cNvPr id="8" name="Titel 12"/>
          <p:cNvSpPr txBox="1"/>
          <p:nvPr/>
        </p:nvSpPr>
        <p:spPr bwMode="gray">
          <a:xfrm>
            <a:off x="479424" y="477000"/>
            <a:ext cx="11233151" cy="517321"/>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sz="2200" dirty="0"/>
              <a:t>Conclusions</a:t>
            </a:r>
            <a:endParaRPr lang="en-US" sz="2200" dirty="0"/>
          </a:p>
        </p:txBody>
      </p:sp>
      <p:sp>
        <p:nvSpPr>
          <p:cNvPr id="3" name="Foliennummernplatzhalter 5"/>
          <p:cNvSpPr txBox="1"/>
          <p:nvPr/>
        </p:nvSpPr>
        <p:spPr bwMode="gray">
          <a:xfrm>
            <a:off x="11424592" y="6246836"/>
            <a:ext cx="28800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fld id="{8FF9B0DE-3FEB-4AA0-B465-B80EF7C1333D}" type="slidenum">
              <a:rPr lang="en-US" smtClean="0"/>
            </a:fld>
            <a:endParaRPr lang="en-US" dirty="0"/>
          </a:p>
        </p:txBody>
      </p:sp>
      <p:sp>
        <p:nvSpPr>
          <p:cNvPr id="7" name="TextBox 6"/>
          <p:cNvSpPr txBox="1"/>
          <p:nvPr/>
        </p:nvSpPr>
        <p:spPr bwMode="gray">
          <a:xfrm>
            <a:off x="685800" y="1116496"/>
            <a:ext cx="10591800" cy="42080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No single method is a “magic bullet”. </a:t>
            </a:r>
            <a:r>
              <a:rPr lang="en-US" dirty="0"/>
              <a:t>Results depend on the prior-data conflict and there are tradeoffs between Phase III power and Phase II Go (%). The bias adjustment methods help improve the robustness, but no single method is universally optimal.</a:t>
            </a:r>
            <a:endParaRPr lang="en-US" dirty="0"/>
          </a:p>
          <a:p>
            <a:pPr marL="285750" indent="-285750">
              <a:lnSpc>
                <a:spcPct val="150000"/>
              </a:lnSpc>
              <a:buFont typeface="Arial" panose="020B0604020202020204" pitchFamily="34" charset="0"/>
              <a:buChar char="•"/>
            </a:pPr>
            <a:r>
              <a:rPr lang="en-US" b="1" dirty="0"/>
              <a:t>Simulations need to be tailored for each individual study. </a:t>
            </a:r>
            <a:r>
              <a:rPr lang="en-US" dirty="0"/>
              <a:t>The results are specific to the current study design and pseudo-historical data we used. Different projects will have different designs, data structure, and decision rules, so the operating characteristics will change.</a:t>
            </a:r>
            <a:endParaRPr lang="en-US" dirty="0"/>
          </a:p>
          <a:p>
            <a:pPr marL="285750" indent="-285750">
              <a:lnSpc>
                <a:spcPct val="150000"/>
              </a:lnSpc>
              <a:buFont typeface="Arial" panose="020B0604020202020204" pitchFamily="34" charset="0"/>
              <a:buChar char="•"/>
            </a:pPr>
            <a:r>
              <a:rPr lang="en-US" b="1" dirty="0"/>
              <a:t>Further methodological development is needed.</a:t>
            </a:r>
            <a:r>
              <a:rPr lang="en-US" dirty="0"/>
              <a:t> Our method derives the expected Phase III power conditional on the observed Phase II effect size by using the truncated normal likelihood and a prior distribution. It accounts for selection bias by increasing the sample size needed for Phase III.</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3385" y="590550"/>
            <a:ext cx="1685231" cy="517321"/>
          </a:xfrm>
          <a:prstGeom prst="rect">
            <a:avLst/>
          </a:prstGeom>
        </p:spPr>
        <p:txBody>
          <a:bodyPr lIns="0" tIns="0" rIns="0" bIns="0" rtlCol="0" anchor="t">
            <a:spAutoFit/>
          </a:bodyPr>
          <a:lstStyle/>
          <a:p>
            <a:pPr algn="ctr">
              <a:lnSpc>
                <a:spcPts val="4480"/>
              </a:lnSpc>
            </a:pPr>
            <a:endParaRPr lang="en-US" sz="2665" b="1" dirty="0">
              <a:solidFill>
                <a:srgbClr val="00E57C"/>
              </a:solidFill>
              <a:latin typeface="Montserrat Bold" panose="00000800000000000000"/>
              <a:sym typeface="Poppins Bold"/>
            </a:endParaRPr>
          </a:p>
        </p:txBody>
      </p:sp>
      <p:sp>
        <p:nvSpPr>
          <p:cNvPr id="52" name="Titel 1"/>
          <p:cNvSpPr txBox="1"/>
          <p:nvPr/>
        </p:nvSpPr>
        <p:spPr>
          <a:xfrm>
            <a:off x="479424" y="376689"/>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dirty="0"/>
              <a:t>Acknowledgement</a:t>
            </a:r>
            <a:endParaRPr lang="en-US" dirty="0"/>
          </a:p>
        </p:txBody>
      </p:sp>
      <p:sp>
        <p:nvSpPr>
          <p:cNvPr id="3" name="Rechteck 7"/>
          <p:cNvSpPr/>
          <p:nvPr/>
        </p:nvSpPr>
        <p:spPr bwMode="ltGray">
          <a:xfrm>
            <a:off x="6086959"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4" name="Textplatzhalter 2"/>
          <p:cNvSpPr txBox="1"/>
          <p:nvPr/>
        </p:nvSpPr>
        <p:spPr bwMode="gray">
          <a:xfrm>
            <a:off x="479376" y="1556792"/>
            <a:ext cx="5235624" cy="4234408"/>
          </a:xfrm>
          <a:prstGeom prst="rect">
            <a:avLst/>
          </a:prstGeom>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b="1" dirty="0"/>
              <a:t>Special thanks to my mentors: Mitchell Thomann, </a:t>
            </a:r>
            <a:r>
              <a:rPr lang="en-US" b="1" dirty="0" err="1"/>
              <a:t>Zhiguang</a:t>
            </a:r>
            <a:r>
              <a:rPr lang="en-US" b="1" dirty="0"/>
              <a:t> (Caleb) Huo</a:t>
            </a:r>
            <a:endParaRPr lang="en-US" b="1" dirty="0"/>
          </a:p>
          <a:p>
            <a:pPr>
              <a:buFontTx/>
              <a:buChar char="-"/>
            </a:pPr>
            <a:r>
              <a:rPr lang="en-US" dirty="0"/>
              <a:t>Managers: Miguel Garcia, Mitchell Thomann</a:t>
            </a:r>
            <a:endParaRPr lang="en-US" dirty="0"/>
          </a:p>
          <a:p>
            <a:pPr>
              <a:buFontTx/>
              <a:buChar char="-"/>
            </a:pPr>
            <a:r>
              <a:rPr lang="en-US" dirty="0"/>
              <a:t>Admin Support: Joshua Pasquariello, Christian Pasquariello</a:t>
            </a:r>
            <a:endParaRPr lang="en-US" dirty="0"/>
          </a:p>
          <a:p>
            <a:pPr>
              <a:buFontTx/>
              <a:buChar char="-"/>
            </a:pPr>
            <a:r>
              <a:rPr lang="en-US" dirty="0"/>
              <a:t>HR: Deborah Storm</a:t>
            </a:r>
            <a:endParaRPr lang="en-US" dirty="0"/>
          </a:p>
          <a:p>
            <a:pPr>
              <a:buFontTx/>
              <a:buChar char="-"/>
            </a:pPr>
            <a:r>
              <a:rPr lang="en-US" dirty="0"/>
              <a:t>My fellow Co-Ops: Souvik Paul, </a:t>
            </a:r>
            <a:r>
              <a:rPr lang="en-US" dirty="0" err="1"/>
              <a:t>Shiying</a:t>
            </a:r>
            <a:r>
              <a:rPr lang="en-US" dirty="0"/>
              <a:t> Wu,</a:t>
            </a:r>
            <a:r>
              <a:rPr lang="en-US" b="1" dirty="0"/>
              <a:t> </a:t>
            </a:r>
            <a:r>
              <a:rPr lang="en-US" dirty="0"/>
              <a:t>Kimberly Palaguachi-Lopez, </a:t>
            </a:r>
            <a:r>
              <a:rPr lang="en-US" dirty="0" err="1"/>
              <a:t>Konghao</a:t>
            </a:r>
            <a:r>
              <a:rPr lang="en-US" dirty="0"/>
              <a:t> Zhao</a:t>
            </a:r>
            <a:endParaRPr lang="en-US" dirty="0"/>
          </a:p>
          <a:p>
            <a:pPr>
              <a:buFontTx/>
              <a:buChar char="-"/>
            </a:pPr>
            <a:endParaRPr lang="en-US" dirty="0"/>
          </a:p>
          <a:p>
            <a:pPr>
              <a:buFontTx/>
              <a:buChar char="-"/>
            </a:pPr>
            <a:endParaRPr lang="en-US" dirty="0"/>
          </a:p>
          <a:p>
            <a:endParaRPr lang="en-US" b="1" dirty="0"/>
          </a:p>
          <a:p>
            <a:endParaRPr lang="en-US" b="1" dirty="0"/>
          </a:p>
          <a:p>
            <a:endParaRPr lang="en-US" b="1" dirty="0"/>
          </a:p>
        </p:txBody>
      </p:sp>
      <p:pic>
        <p:nvPicPr>
          <p:cNvPr id="5" name="Picture 4" descr="A screenshot of a qr code&#10;&#10;AI-generated content may be incorrect."/>
          <p:cNvPicPr>
            <a:picLocks noChangeAspect="1"/>
          </p:cNvPicPr>
          <p:nvPr/>
        </p:nvPicPr>
        <p:blipFill>
          <a:blip r:embed="rId1"/>
          <a:stretch>
            <a:fillRect/>
          </a:stretch>
        </p:blipFill>
        <p:spPr>
          <a:xfrm>
            <a:off x="6757338" y="1403432"/>
            <a:ext cx="4798554" cy="4051136"/>
          </a:xfrm>
          <a:prstGeom prst="rect">
            <a:avLst/>
          </a:prstGeom>
        </p:spPr>
      </p:pic>
      <p:sp>
        <p:nvSpPr>
          <p:cNvPr id="6" name="Textplatzhalter 8"/>
          <p:cNvSpPr txBox="1"/>
          <p:nvPr/>
        </p:nvSpPr>
        <p:spPr bwMode="gray">
          <a:xfrm>
            <a:off x="7464592" y="323164"/>
            <a:ext cx="4104000" cy="576000"/>
          </a:xfrm>
          <a:prstGeom prst="rect">
            <a:avLst/>
          </a:prstGeom>
          <a:noFill/>
          <a:effectLst/>
        </p:spPr>
        <p:txBody>
          <a:bodyPr wrap="none" lIns="0" tIns="0" rIns="0" bIns="108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1"/>
                </a:solidFill>
              </a:rPr>
              <a:t>Connect on LinkedIn!</a:t>
            </a:r>
            <a:endParaRPr lang="en-US" sz="2500"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3385" y="590550"/>
            <a:ext cx="1685231" cy="517321"/>
          </a:xfrm>
          <a:prstGeom prst="rect">
            <a:avLst/>
          </a:prstGeom>
        </p:spPr>
        <p:txBody>
          <a:bodyPr lIns="0" tIns="0" rIns="0" bIns="0" rtlCol="0" anchor="t">
            <a:spAutoFit/>
          </a:bodyPr>
          <a:lstStyle/>
          <a:p>
            <a:pPr algn="ctr">
              <a:lnSpc>
                <a:spcPts val="4480"/>
              </a:lnSpc>
            </a:pPr>
            <a:endParaRPr lang="en-US" sz="2665" b="1" dirty="0">
              <a:solidFill>
                <a:srgbClr val="00E57C"/>
              </a:solidFill>
              <a:latin typeface="Montserrat Bold" panose="00000800000000000000"/>
              <a:sym typeface="Poppins Bold"/>
            </a:endParaRPr>
          </a:p>
        </p:txBody>
      </p:sp>
      <p:sp>
        <p:nvSpPr>
          <p:cNvPr id="8" name="Titel 12"/>
          <p:cNvSpPr txBox="1"/>
          <p:nvPr/>
        </p:nvSpPr>
        <p:spPr bwMode="gray">
          <a:xfrm>
            <a:off x="479424" y="477000"/>
            <a:ext cx="11233151" cy="720000"/>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sz="2200"/>
              <a:t>References</a:t>
            </a:r>
            <a:endParaRPr lang="en-US" sz="2200" dirty="0"/>
          </a:p>
        </p:txBody>
      </p:sp>
      <p:sp>
        <p:nvSpPr>
          <p:cNvPr id="3" name="Foliennummernplatzhalter 5"/>
          <p:cNvSpPr txBox="1"/>
          <p:nvPr/>
        </p:nvSpPr>
        <p:spPr bwMode="gray">
          <a:xfrm>
            <a:off x="11424592" y="6246836"/>
            <a:ext cx="28800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fld id="{8FF9B0DE-3FEB-4AA0-B465-B80EF7C1333D}" type="slidenum">
              <a:rPr lang="en-US" smtClean="0"/>
            </a:fld>
            <a:endParaRPr lang="en-US" dirty="0"/>
          </a:p>
        </p:txBody>
      </p:sp>
      <p:sp>
        <p:nvSpPr>
          <p:cNvPr id="4" name="TextBox 3"/>
          <p:cNvSpPr txBox="1"/>
          <p:nvPr/>
        </p:nvSpPr>
        <p:spPr bwMode="gray">
          <a:xfrm>
            <a:off x="663575" y="1310550"/>
            <a:ext cx="11049000" cy="2291718"/>
          </a:xfrm>
          <a:prstGeom prst="rect">
            <a:avLst/>
          </a:prstGeom>
          <a:noFill/>
        </p:spPr>
        <p:txBody>
          <a:bodyPr wrap="square" lIns="0" tIns="0" rIns="0" bIns="0" rtlCol="0">
            <a:spAutoFit/>
          </a:bodyPr>
          <a:lstStyle/>
          <a:p>
            <a:pPr>
              <a:lnSpc>
                <a:spcPct val="140000"/>
              </a:lnSpc>
            </a:pPr>
            <a:r>
              <a:rPr lang="en-US" dirty="0"/>
              <a:t>[1] Chuang-Stein, C., &amp; Kirby, S. (2021). </a:t>
            </a:r>
            <a:r>
              <a:rPr lang="en-US" i="1" dirty="0"/>
              <a:t>Quantitative decisions in drug development</a:t>
            </a:r>
            <a:r>
              <a:rPr lang="en-US" dirty="0"/>
              <a:t>. Springer.</a:t>
            </a:r>
            <a:endParaRPr lang="en-US" dirty="0"/>
          </a:p>
          <a:p>
            <a:pPr>
              <a:lnSpc>
                <a:spcPct val="140000"/>
              </a:lnSpc>
            </a:pPr>
            <a:r>
              <a:rPr lang="en-US" dirty="0"/>
              <a:t>[2] Wang, S. J., Hung, H. J., &amp; O'Neill, R. T. (2006). Adapting the sample size planning of a phase III trial based on phase II data. </a:t>
            </a:r>
            <a:r>
              <a:rPr lang="en-US" i="1" dirty="0"/>
              <a:t>Pharmaceutical Statistics: The Journal of Applied Statistics in the Pharmaceutical Industry</a:t>
            </a:r>
            <a:r>
              <a:rPr lang="en-US" dirty="0"/>
              <a:t>, </a:t>
            </a:r>
            <a:r>
              <a:rPr lang="en-US" i="1" dirty="0"/>
              <a:t>5</a:t>
            </a:r>
            <a:r>
              <a:rPr lang="en-US" dirty="0"/>
              <a:t>(2), 85-97.</a:t>
            </a:r>
            <a:endParaRPr lang="en-US" dirty="0"/>
          </a:p>
          <a:p>
            <a:pPr>
              <a:lnSpc>
                <a:spcPct val="140000"/>
              </a:lnSpc>
            </a:pPr>
            <a:r>
              <a:rPr lang="en-US" dirty="0"/>
              <a:t>[3] Kirby, S., Li, J., &amp; Chuang‐Stein, C. (2020). Selection bias for treatments with positive Phase 2 results. </a:t>
            </a:r>
            <a:r>
              <a:rPr lang="en-US" i="1" dirty="0"/>
              <a:t>Pharmaceutical statistics</a:t>
            </a:r>
            <a:r>
              <a:rPr lang="en-US" dirty="0"/>
              <a:t>, </a:t>
            </a:r>
            <a:r>
              <a:rPr lang="en-US" i="1" dirty="0"/>
              <a:t>19</a:t>
            </a:r>
            <a:r>
              <a:rPr lang="en-US" dirty="0"/>
              <a:t>(5), 679-691.</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1"/>
            <a:ext cx="12192000" cy="6858001"/>
            <a:chOff x="0" y="0"/>
            <a:chExt cx="5322706" cy="1916743"/>
          </a:xfrm>
        </p:grpSpPr>
        <p:sp>
          <p:nvSpPr>
            <p:cNvPr id="5" name="Freeform 5"/>
            <p:cNvSpPr/>
            <p:nvPr/>
          </p:nvSpPr>
          <p:spPr>
            <a:xfrm>
              <a:off x="0" y="0"/>
              <a:ext cx="5322707" cy="1916743"/>
            </a:xfrm>
            <a:custGeom>
              <a:avLst/>
              <a:gdLst/>
              <a:ahLst/>
              <a:cxnLst/>
              <a:rect l="l" t="t" r="r" b="b"/>
              <a:pathLst>
                <a:path w="5322707" h="1916743">
                  <a:moveTo>
                    <a:pt x="0" y="0"/>
                  </a:moveTo>
                  <a:lnTo>
                    <a:pt x="5322707" y="0"/>
                  </a:lnTo>
                  <a:lnTo>
                    <a:pt x="5322707" y="1916743"/>
                  </a:lnTo>
                  <a:lnTo>
                    <a:pt x="0" y="1916743"/>
                  </a:lnTo>
                  <a:close/>
                </a:path>
              </a:pathLst>
            </a:custGeom>
            <a:solidFill>
              <a:srgbClr val="003D20"/>
            </a:solidFill>
          </p:spPr>
          <p:txBody>
            <a:bodyPr/>
            <a:lstStyle/>
            <a:p>
              <a:endParaRPr lang="en-US" sz="1200"/>
            </a:p>
          </p:txBody>
        </p:sp>
        <p:sp>
          <p:nvSpPr>
            <p:cNvPr id="6" name="TextBox 6"/>
            <p:cNvSpPr txBox="1"/>
            <p:nvPr/>
          </p:nvSpPr>
          <p:spPr>
            <a:xfrm>
              <a:off x="0" y="-38100"/>
              <a:ext cx="5322706" cy="1954843"/>
            </a:xfrm>
            <a:prstGeom prst="rect">
              <a:avLst/>
            </a:prstGeom>
          </p:spPr>
          <p:txBody>
            <a:bodyPr lIns="33867" tIns="33867" rIns="33867" bIns="33867" rtlCol="0" anchor="ctr"/>
            <a:lstStyle/>
            <a:p>
              <a:pPr algn="ctr">
                <a:lnSpc>
                  <a:spcPts val="1775"/>
                </a:lnSpc>
              </a:pPr>
              <a:endParaRPr sz="1200"/>
            </a:p>
          </p:txBody>
        </p:sp>
      </p:grpSp>
      <p:grpSp>
        <p:nvGrpSpPr>
          <p:cNvPr id="3" name="Group 7"/>
          <p:cNvGrpSpPr/>
          <p:nvPr/>
        </p:nvGrpSpPr>
        <p:grpSpPr>
          <a:xfrm>
            <a:off x="-360146" y="3366836"/>
            <a:ext cx="12602946" cy="1281365"/>
            <a:chOff x="-121827" y="-87391"/>
            <a:chExt cx="5095802" cy="816563"/>
          </a:xfrm>
        </p:grpSpPr>
        <p:grpSp>
          <p:nvGrpSpPr>
            <p:cNvPr id="31" name="Group 8"/>
            <p:cNvGrpSpPr/>
            <p:nvPr/>
          </p:nvGrpSpPr>
          <p:grpSpPr>
            <a:xfrm>
              <a:off x="0" y="-87391"/>
              <a:ext cx="4973975" cy="816563"/>
              <a:chOff x="0" y="-38100"/>
              <a:chExt cx="2168518" cy="355999"/>
            </a:xfrm>
          </p:grpSpPr>
          <p:sp>
            <p:nvSpPr>
              <p:cNvPr id="33" name="Freeform 9"/>
              <p:cNvSpPr/>
              <p:nvPr/>
            </p:nvSpPr>
            <p:spPr>
              <a:xfrm>
                <a:off x="0" y="0"/>
                <a:ext cx="2168518" cy="317899"/>
              </a:xfrm>
              <a:custGeom>
                <a:avLst/>
                <a:gdLst/>
                <a:ahLst/>
                <a:cxnLst/>
                <a:rect l="l" t="t" r="r" b="b"/>
                <a:pathLst>
                  <a:path w="2168518" h="317899">
                    <a:moveTo>
                      <a:pt x="0" y="0"/>
                    </a:moveTo>
                    <a:lnTo>
                      <a:pt x="2168518" y="0"/>
                    </a:lnTo>
                    <a:lnTo>
                      <a:pt x="2168518" y="317899"/>
                    </a:lnTo>
                    <a:lnTo>
                      <a:pt x="0" y="317899"/>
                    </a:lnTo>
                    <a:close/>
                  </a:path>
                </a:pathLst>
              </a:custGeom>
              <a:solidFill>
                <a:srgbClr val="FF8A00"/>
              </a:solidFill>
            </p:spPr>
            <p:txBody>
              <a:bodyPr/>
              <a:lstStyle/>
              <a:p>
                <a:endParaRPr lang="en-US" sz="1200" dirty="0"/>
              </a:p>
            </p:txBody>
          </p:sp>
          <p:sp>
            <p:nvSpPr>
              <p:cNvPr id="34" name="TextBox 10"/>
              <p:cNvSpPr txBox="1"/>
              <p:nvPr/>
            </p:nvSpPr>
            <p:spPr>
              <a:xfrm>
                <a:off x="0" y="-38100"/>
                <a:ext cx="2168518" cy="355999"/>
              </a:xfrm>
              <a:prstGeom prst="rect">
                <a:avLst/>
              </a:prstGeom>
            </p:spPr>
            <p:txBody>
              <a:bodyPr lIns="33867" tIns="33867" rIns="33867" bIns="33867" rtlCol="0" anchor="ctr"/>
              <a:lstStyle/>
              <a:p>
                <a:pPr algn="ctr">
                  <a:lnSpc>
                    <a:spcPts val="1775"/>
                  </a:lnSpc>
                  <a:spcBef>
                    <a:spcPct val="0"/>
                  </a:spcBef>
                </a:pPr>
                <a:endParaRPr sz="1200"/>
              </a:p>
            </p:txBody>
          </p:sp>
        </p:grpSp>
        <p:sp>
          <p:nvSpPr>
            <p:cNvPr id="32" name="TextBox 11"/>
            <p:cNvSpPr txBox="1"/>
            <p:nvPr/>
          </p:nvSpPr>
          <p:spPr>
            <a:xfrm>
              <a:off x="-121827" y="368808"/>
              <a:ext cx="5095802" cy="269030"/>
            </a:xfrm>
            <a:prstGeom prst="rect">
              <a:avLst/>
            </a:prstGeom>
          </p:spPr>
          <p:txBody>
            <a:bodyPr wrap="square" lIns="0" tIns="0" rIns="0" bIns="0" rtlCol="0" anchor="ctr">
              <a:spAutoFit/>
            </a:bodyPr>
            <a:lstStyle/>
            <a:p>
              <a:pPr algn="ctr">
                <a:lnSpc>
                  <a:spcPts val="2425"/>
                </a:lnSpc>
              </a:pPr>
              <a:r>
                <a:rPr lang="en-US" sz="5400" b="1" dirty="0">
                  <a:solidFill>
                    <a:srgbClr val="FFFFFF"/>
                  </a:solidFill>
                  <a:sym typeface="Montserrat" panose="00000500000000000000"/>
                </a:rPr>
                <a:t>Q &amp; A</a:t>
              </a:r>
              <a:endParaRPr lang="en-US" sz="5400" b="1" dirty="0">
                <a:solidFill>
                  <a:srgbClr val="FFFFFF"/>
                </a:solidFill>
                <a:sym typeface="Montserrat" panose="00000500000000000000"/>
              </a:endParaRPr>
            </a:p>
          </p:txBody>
        </p:sp>
      </p:grpSp>
      <p:sp>
        <p:nvSpPr>
          <p:cNvPr id="2" name="AutoShape 2"/>
          <p:cNvSpPr/>
          <p:nvPr/>
        </p:nvSpPr>
        <p:spPr>
          <a:xfrm flipV="1">
            <a:off x="675049" y="3022600"/>
            <a:ext cx="10841903" cy="0"/>
          </a:xfrm>
          <a:prstGeom prst="line">
            <a:avLst/>
          </a:prstGeom>
          <a:ln w="19050" cap="flat">
            <a:solidFill>
              <a:srgbClr val="FFFFFF"/>
            </a:solidFill>
            <a:prstDash val="solid"/>
            <a:headEnd type="none" w="sm" len="sm"/>
            <a:tailEnd type="none" w="sm" len="sm"/>
          </a:ln>
        </p:spPr>
        <p:txBody>
          <a:bodyPr/>
          <a:lstStyle/>
          <a:p>
            <a:endParaRPr lang="en-US" sz="1200"/>
          </a:p>
        </p:txBody>
      </p:sp>
      <p:sp>
        <p:nvSpPr>
          <p:cNvPr id="7" name="TextBox 6"/>
          <p:cNvSpPr txBox="1"/>
          <p:nvPr/>
        </p:nvSpPr>
        <p:spPr>
          <a:xfrm>
            <a:off x="372780" y="2375330"/>
            <a:ext cx="11463620" cy="397545"/>
          </a:xfrm>
          <a:prstGeom prst="rect">
            <a:avLst/>
          </a:prstGeom>
        </p:spPr>
        <p:txBody>
          <a:bodyPr wrap="square" lIns="0" tIns="0" rIns="0" bIns="0" rtlCol="0" anchor="t">
            <a:spAutoFit/>
          </a:bodyPr>
          <a:lstStyle/>
          <a:p>
            <a:pPr algn="ctr">
              <a:lnSpc>
                <a:spcPts val="3060"/>
              </a:lnSpc>
            </a:pPr>
            <a:r>
              <a:rPr lang="en-US" sz="2800" b="1" dirty="0">
                <a:solidFill>
                  <a:srgbClr val="00E57C"/>
                </a:solidFill>
                <a:ea typeface="Montserrat Bold" panose="00000800000000000000"/>
                <a:cs typeface="Montserrat Bold" panose="00000800000000000000"/>
                <a:sym typeface="Montserrat Bold" panose="00000800000000000000"/>
              </a:rPr>
              <a:t>THANK YOU!</a:t>
            </a:r>
            <a:endParaRPr lang="en-US" sz="2800" b="1" dirty="0">
              <a:solidFill>
                <a:srgbClr val="00E57C"/>
              </a:solidFill>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spid="_x0000_s0" name="think-cell Folie" r:id="rId2" imgW="12700" imgH="12700" progId="TCLayout.ActiveDocument.1">
                  <p:embed/>
                </p:oleObj>
              </mc:Choice>
              <mc:Fallback>
                <p:oleObj name="think-cell Folie" r:id="rId2" imgW="12700" imgH="12700" progId="TCLayout.ActiveDocument.1">
                  <p:embed/>
                  <p:pic>
                    <p:nvPicPr>
                      <p:cNvPr id="0" name="Objekt 6" hidden="1"/>
                      <p:cNvPicPr/>
                      <p:nvPr/>
                    </p:nvPicPr>
                    <p:blipFill>
                      <a:blip r:embed="rId3"/>
                      <a:stretch>
                        <a:fillRect/>
                      </a:stretch>
                    </p:blipFill>
                    <p:spPr>
                      <a:xfrm>
                        <a:off x="2118" y="2118"/>
                        <a:ext cx="2116" cy="2116"/>
                      </a:xfrm>
                      <a:prstGeom prst="rect">
                        <a:avLst/>
                      </a:prstGeom>
                    </p:spPr>
                  </p:pic>
                </p:oleObj>
              </mc:Fallback>
            </mc:AlternateContent>
          </a:graphicData>
        </a:graphic>
      </p:graphicFrame>
      <p:sp>
        <p:nvSpPr>
          <p:cNvPr id="3" name="Rechteck 2" hidden="1"/>
          <p:cNvSpPr/>
          <p:nvPr>
            <p:custDataLst>
              <p:tags r:id="rId4"/>
            </p:custDataLst>
          </p:nvPr>
        </p:nvSpPr>
        <p:spPr>
          <a:xfrm>
            <a:off x="0" y="0"/>
            <a:ext cx="211667" cy="211667"/>
          </a:xfrm>
          <a:prstGeom prst="rect">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t" anchorCtr="0" forceAA="0" compatLnSpc="1">
            <a:noAutofit/>
          </a:bodyPr>
          <a:lstStyle/>
          <a:p>
            <a:pPr>
              <a:spcBef>
                <a:spcPct val="0"/>
              </a:spcBef>
              <a:spcAft>
                <a:spcPct val="0"/>
              </a:spcAft>
              <a:buSzPct val="90000"/>
            </a:pPr>
            <a:endParaRPr lang="en-US" sz="2665" noProof="0" dirty="0">
              <a:solidFill>
                <a:schemeClr val="tx1"/>
              </a:solidFill>
              <a:latin typeface="Boehringer Forward Head" panose="02000500000000020000" pitchFamily="34" charset="0"/>
              <a:ea typeface="+mj-ea"/>
              <a:cs typeface="+mj-cs"/>
              <a:sym typeface="Lufthansa Office Head"/>
            </a:endParaRPr>
          </a:p>
        </p:txBody>
      </p:sp>
      <p:sp>
        <p:nvSpPr>
          <p:cNvPr id="2" name="Titel 1"/>
          <p:cNvSpPr>
            <a:spLocks noGrp="1"/>
          </p:cNvSpPr>
          <p:nvPr>
            <p:ph type="title"/>
          </p:nvPr>
        </p:nvSpPr>
        <p:spPr/>
        <p:txBody>
          <a:bodyPr/>
          <a:lstStyle/>
          <a:p>
            <a:r>
              <a:rPr lang="en-US" noProof="0" dirty="0"/>
              <a:t>Bias Subtraction Methods</a:t>
            </a:r>
            <a:endParaRPr lang="en-US" noProof="0" dirty="0"/>
          </a:p>
        </p:txBody>
      </p:sp>
      <p:sp>
        <p:nvSpPr>
          <p:cNvPr id="8" name="Fußzeilenplatzhalter 7"/>
          <p:cNvSpPr>
            <a:spLocks noGrp="1"/>
          </p:cNvSpPr>
          <p:nvPr>
            <p:ph type="ftr" sz="quarter" idx="10"/>
          </p:nvPr>
        </p:nvSpPr>
        <p:spPr/>
        <p:txBody>
          <a:bodyPr/>
          <a:lstStyle/>
          <a:p>
            <a:r>
              <a:rPr lang="en-US" noProof="0" dirty="0"/>
              <a:t>Slide library     |     ONLY FOR INTERNAL USE</a:t>
            </a:r>
            <a:endParaRPr lang="en-US" noProof="0" dirty="0"/>
          </a:p>
        </p:txBody>
      </p:sp>
      <p:sp>
        <p:nvSpPr>
          <p:cNvPr id="9" name="Inhaltsplatzhalter 15"/>
          <p:cNvSpPr txBox="1"/>
          <p:nvPr/>
        </p:nvSpPr>
        <p:spPr>
          <a:xfrm>
            <a:off x="479424" y="2819400"/>
            <a:ext cx="3582989"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dirty="0"/>
              <a:t>Use a Bayesian approach with a vague uniform prior for the treatment effect.</a:t>
            </a:r>
            <a:endParaRPr lang="en-US" dirty="0"/>
          </a:p>
          <a:p>
            <a:r>
              <a:rPr lang="en-US" noProof="0" dirty="0"/>
              <a:t>Bias = </a:t>
            </a:r>
            <a:r>
              <a:rPr lang="en-US" dirty="0"/>
              <a:t>the 20% percentile of the posterior distribution.</a:t>
            </a:r>
            <a:endParaRPr lang="en-US" noProof="0" dirty="0"/>
          </a:p>
        </p:txBody>
      </p:sp>
      <p:sp>
        <p:nvSpPr>
          <p:cNvPr id="10" name="Textplatzhalter 2"/>
          <p:cNvSpPr txBox="1"/>
          <p:nvPr/>
        </p:nvSpPr>
        <p:spPr bwMode="gray">
          <a:xfrm>
            <a:off x="479424" y="2340081"/>
            <a:ext cx="3582989" cy="479318"/>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5: Percentile Bias (PB)</a:t>
            </a:r>
            <a:endParaRPr lang="en-US" sz="1600" b="1" noProof="0" dirty="0">
              <a:solidFill>
                <a:schemeClr val="bg1"/>
              </a:solidFill>
            </a:endParaRPr>
          </a:p>
        </p:txBody>
      </p:sp>
      <mc:AlternateContent xmlns:mc="http://schemas.openxmlformats.org/markup-compatibility/2006">
        <mc:Choice xmlns:a14="http://schemas.microsoft.com/office/drawing/2010/main" Requires="a14">
          <p:sp>
            <p:nvSpPr>
              <p:cNvPr id="16" name="Inhaltsplatzhalter 15"/>
              <p:cNvSpPr txBox="1"/>
              <p:nvPr/>
            </p:nvSpPr>
            <p:spPr>
              <a:xfrm>
                <a:off x="4304216" y="2819400"/>
                <a:ext cx="3582989"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sz="1200" noProof="0" dirty="0"/>
                  <a:t>For a normal distribution </a:t>
                </a:r>
                <a14:m>
                  <m:oMath xmlns:m="http://schemas.openxmlformats.org/officeDocument/2006/math">
                    <m:acc>
                      <m:accPr>
                        <m:ctrlPr>
                          <a:rPr lang="en-US" sz="1200" i="1">
                            <a:solidFill>
                              <a:srgbClr val="836967"/>
                            </a:solidFill>
                            <a:latin typeface="Cambria Math" panose="02040503050406030204" pitchFamily="18" charset="0"/>
                          </a:rPr>
                        </m:ctrlPr>
                      </m:accPr>
                      <m:e>
                        <m:r>
                          <m:rPr>
                            <m:sty m:val="p"/>
                          </m:rPr>
                          <a:rPr lang="en-US" sz="1200" i="1">
                            <a:latin typeface="Cambria Math" panose="02040503050406030204" pitchFamily="18" charset="0"/>
                          </a:rPr>
                          <m:t>Δ</m:t>
                        </m:r>
                      </m:e>
                    </m:acc>
                    <m:r>
                      <a:rPr lang="en-US" sz="1200" i="1">
                        <a:latin typeface="Cambria Math" panose="02040503050406030204" pitchFamily="18" charset="0"/>
                      </a:rPr>
                      <m:t>~</m:t>
                    </m:r>
                    <m:r>
                      <a:rPr lang="en-US" sz="1200" i="1" smtClean="0">
                        <a:latin typeface="Cambria Math" panose="02040503050406030204" pitchFamily="18" charset="0"/>
                      </a:rPr>
                      <m:t>𝑁</m:t>
                    </m:r>
                    <m:d>
                      <m:dPr>
                        <m:ctrlPr>
                          <a:rPr lang="en-US" sz="1200" i="1">
                            <a:solidFill>
                              <a:srgbClr val="836967"/>
                            </a:solidFill>
                            <a:latin typeface="Cambria Math" panose="02040503050406030204" pitchFamily="18" charset="0"/>
                          </a:rPr>
                        </m:ctrlPr>
                      </m:dPr>
                      <m:e>
                        <m:r>
                          <m:rPr>
                            <m:sty m:val="p"/>
                          </m:rPr>
                          <a:rPr lang="en-US" sz="1200" i="1">
                            <a:latin typeface="Cambria Math" panose="02040503050406030204" pitchFamily="18" charset="0"/>
                          </a:rPr>
                          <m:t>Δ</m:t>
                        </m:r>
                        <m:r>
                          <a:rPr lang="en-US" sz="1200" i="1">
                            <a:latin typeface="Cambria Math" panose="02040503050406030204" pitchFamily="18" charset="0"/>
                          </a:rPr>
                          <m:t>,</m:t>
                        </m:r>
                        <m:rad>
                          <m:radPr>
                            <m:degHide m:val="on"/>
                            <m:ctrlPr>
                              <a:rPr lang="en-US" sz="1200" i="1">
                                <a:solidFill>
                                  <a:srgbClr val="836967"/>
                                </a:solidFill>
                                <a:latin typeface="Cambria Math" panose="02040503050406030204" pitchFamily="18" charset="0"/>
                              </a:rPr>
                            </m:ctrlPr>
                          </m:radPr>
                          <m:deg/>
                          <m:e>
                            <m:r>
                              <a:rPr lang="en-US" sz="1200" i="1">
                                <a:latin typeface="Cambria Math" panose="02040503050406030204" pitchFamily="18" charset="0"/>
                              </a:rPr>
                              <m:t>2</m:t>
                            </m:r>
                            <m:f>
                              <m:fPr>
                                <m:type m:val="lin"/>
                                <m:ctrlPr>
                                  <a:rPr lang="en-US" sz="1200" i="1">
                                    <a:latin typeface="Cambria Math" panose="02040503050406030204" pitchFamily="18" charset="0"/>
                                  </a:rPr>
                                </m:ctrlPr>
                              </m:fPr>
                              <m:num>
                                <m:sSup>
                                  <m:sSupPr>
                                    <m:ctrlPr>
                                      <a:rPr lang="en-US" sz="1200" i="1">
                                        <a:solidFill>
                                          <a:srgbClr val="836967"/>
                                        </a:solidFill>
                                        <a:latin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𝜎</m:t>
                                    </m:r>
                                  </m:e>
                                  <m:sup>
                                    <m:r>
                                      <a:rPr lang="en-US" sz="1200" i="1">
                                        <a:latin typeface="Cambria Math" panose="02040503050406030204" pitchFamily="18" charset="0"/>
                                      </a:rPr>
                                      <m:t>2</m:t>
                                    </m:r>
                                  </m:sup>
                                </m:sSup>
                              </m:num>
                              <m:den>
                                <m:r>
                                  <a:rPr lang="en-US" sz="1200" i="1">
                                    <a:latin typeface="Cambria Math" panose="02040503050406030204" pitchFamily="18" charset="0"/>
                                  </a:rPr>
                                  <m:t>𝑚</m:t>
                                </m:r>
                              </m:den>
                            </m:f>
                          </m:e>
                        </m:rad>
                      </m:e>
                    </m:d>
                  </m:oMath>
                </a14:m>
                <a:r>
                  <a:rPr lang="en-US" sz="1200" noProof="0" dirty="0"/>
                  <a:t>,</a:t>
                </a:r>
                <a:endParaRPr lang="en-US" sz="1200" noProof="0" dirty="0"/>
              </a:p>
              <a:p>
                <a:pPr marL="0" indent="0">
                  <a:buNone/>
                </a:pPr>
                <a:endParaRPr lang="en-US" sz="1200" noProof="0" dirty="0"/>
              </a:p>
              <a:p>
                <a:pPr marL="0" indent="0">
                  <a:buNone/>
                </a:pPr>
                <a:endParaRPr lang="en-US" sz="1200" noProof="0" dirty="0"/>
              </a:p>
              <a:p>
                <a:pPr marL="0" indent="0">
                  <a:buNone/>
                </a:pPr>
                <a:endParaRPr lang="en-US" sz="1200" dirty="0"/>
              </a:p>
              <a:p>
                <a:pPr marL="0" indent="0">
                  <a:buNone/>
                </a:pPr>
                <a:endParaRPr lang="en-US" sz="1200" noProof="0" dirty="0"/>
              </a:p>
              <a:p>
                <a:pPr marL="0" indent="0">
                  <a:buNone/>
                </a:pPr>
                <a:endParaRPr lang="en-US" sz="1200" dirty="0"/>
              </a:p>
              <a:p>
                <a:pPr marL="0" indent="0">
                  <a:buNone/>
                </a:pPr>
                <a:endParaRPr lang="en-US" sz="1200" noProof="0" dirty="0"/>
              </a:p>
              <a:p>
                <a:pPr marL="0" indent="0">
                  <a:buNone/>
                </a:pPr>
                <a:endParaRPr lang="en-US" sz="1200" dirty="0"/>
              </a:p>
              <a:p>
                <a:pPr marL="0" indent="0">
                  <a:buNone/>
                </a:pPr>
                <a:r>
                  <a:rPr lang="en-US" sz="1200" dirty="0"/>
                  <a:t>where </a:t>
                </a:r>
                <a14:m>
                  <m:oMath xmlns:m="http://schemas.openxmlformats.org/officeDocument/2006/math">
                    <m:r>
                      <m:rPr>
                        <m:sty m:val="p"/>
                      </m:rPr>
                      <a:rPr lang="en-US" sz="1200" b="0" i="0" smtClean="0">
                        <a:latin typeface="Cambria Math" panose="02040503050406030204" pitchFamily="18" charset="0"/>
                      </a:rPr>
                      <m:t>X</m:t>
                    </m:r>
                    <m:r>
                      <a:rPr lang="en-US" sz="1200" b="0" i="1" smtClean="0">
                        <a:latin typeface="Cambria Math" panose="02040503050406030204" pitchFamily="18" charset="0"/>
                      </a:rPr>
                      <m:t> ~ </m:t>
                    </m:r>
                    <m:r>
                      <a:rPr lang="en-US" sz="1200" i="1">
                        <a:latin typeface="Cambria Math" panose="02040503050406030204" pitchFamily="18" charset="0"/>
                      </a:rPr>
                      <m:t>𝑁</m:t>
                    </m:r>
                    <m:r>
                      <a:rPr lang="en-US" sz="1200" b="0" i="1" smtClean="0">
                        <a:latin typeface="Cambria Math" panose="02040503050406030204" pitchFamily="18" charset="0"/>
                      </a:rPr>
                      <m:t>(</m:t>
                    </m:r>
                    <m:r>
                      <a:rPr lang="en-US" sz="1200" b="0" i="1" smtClean="0">
                        <a:latin typeface="Cambria Math" panose="02040503050406030204" pitchFamily="18" charset="0"/>
                      </a:rPr>
                      <m:t>0</m:t>
                    </m:r>
                    <m:r>
                      <a:rPr lang="en-US" sz="1200" b="0" i="1" smtClean="0">
                        <a:latin typeface="Cambria Math" panose="02040503050406030204" pitchFamily="18" charset="0"/>
                      </a:rPr>
                      <m:t>,</m:t>
                    </m:r>
                    <m:r>
                      <a:rPr lang="en-US" sz="1200" b="0" i="1" smtClean="0">
                        <a:latin typeface="Cambria Math" panose="02040503050406030204" pitchFamily="18" charset="0"/>
                      </a:rPr>
                      <m:t>1</m:t>
                    </m:r>
                    <m:r>
                      <a:rPr lang="en-US" sz="1200" b="0" i="1" smtClean="0">
                        <a:latin typeface="Cambria Math" panose="02040503050406030204" pitchFamily="18" charset="0"/>
                      </a:rPr>
                      <m:t>)</m:t>
                    </m:r>
                  </m:oMath>
                </a14:m>
                <a:r>
                  <a:rPr lang="en-US" sz="1200" noProof="0" dirty="0"/>
                  <a:t>.</a:t>
                </a:r>
                <a:endParaRPr lang="en-US" sz="1200" noProof="0" dirty="0"/>
              </a:p>
            </p:txBody>
          </p:sp>
        </mc:Choice>
        <mc:Fallback>
          <p:sp>
            <p:nvSpPr>
              <p:cNvPr id="16" name="Inhaltsplatzhalter 15"/>
              <p:cNvSpPr txBox="1">
                <a:spLocks noRot="1" noChangeAspect="1" noMove="1" noResize="1" noEditPoints="1" noAdjustHandles="1" noChangeArrowheads="1" noChangeShapeType="1" noTextEdit="1"/>
              </p:cNvSpPr>
              <p:nvPr/>
            </p:nvSpPr>
            <p:spPr>
              <a:xfrm>
                <a:off x="4304216" y="2819400"/>
                <a:ext cx="3582989" cy="3219958"/>
              </a:xfrm>
              <a:prstGeom prst="rect">
                <a:avLst/>
              </a:prstGeom>
              <a:blipFill rotWithShape="1">
                <a:blip r:embed="rId5"/>
                <a:stretch>
                  <a:fillRect l="-5" r="14" b="16"/>
                </a:stretch>
              </a:blipFill>
            </p:spPr>
            <p:txBody>
              <a:bodyPr/>
              <a:lstStyle/>
              <a:p>
                <a:r>
                  <a:rPr lang="zh-CN" altLang="en-US">
                    <a:noFill/>
                  </a:rPr>
                  <a:t> </a:t>
                </a:r>
              </a:p>
            </p:txBody>
          </p:sp>
        </mc:Fallback>
      </mc:AlternateContent>
      <p:sp>
        <p:nvSpPr>
          <p:cNvPr id="17" name="Textplatzhalter 2"/>
          <p:cNvSpPr txBox="1"/>
          <p:nvPr/>
        </p:nvSpPr>
        <p:spPr bwMode="gray">
          <a:xfrm>
            <a:off x="4304216" y="2176722"/>
            <a:ext cx="3582989" cy="806036"/>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6: Likelihood Weighted Bias (LWB)</a:t>
            </a:r>
            <a:endParaRPr lang="en-US" sz="1600" b="1" noProof="0" dirty="0">
              <a:solidFill>
                <a:schemeClr val="bg1"/>
              </a:solidFill>
            </a:endParaRPr>
          </a:p>
        </p:txBody>
      </p:sp>
      <mc:AlternateContent xmlns:mc="http://schemas.openxmlformats.org/markup-compatibility/2006">
        <mc:Choice xmlns:a14="http://schemas.microsoft.com/office/drawing/2010/main" Requires="a14">
          <p:sp>
            <p:nvSpPr>
              <p:cNvPr id="23" name="Inhaltsplatzhalter 15"/>
              <p:cNvSpPr txBox="1"/>
              <p:nvPr/>
            </p:nvSpPr>
            <p:spPr>
              <a:xfrm>
                <a:off x="8131149" y="2819400"/>
                <a:ext cx="3832251" cy="3219958"/>
              </a:xfrm>
              <a:prstGeom prst="rect">
                <a:avLst/>
              </a:prstGeom>
              <a:solidFill>
                <a:srgbClr val="F6F5F3"/>
              </a:solidFill>
            </p:spPr>
            <p:txBody>
              <a:bodyPr vert="horz" lIns="144000" tIns="144000" rIns="144000" bIns="144000" rtlCol="0" anchor="t" anchorCtr="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sz="1200" noProof="0" dirty="0"/>
                  <a:t>For a truncated normal distribution </a:t>
                </a:r>
                <a14:m>
                  <m:oMath xmlns:m="http://schemas.openxmlformats.org/officeDocument/2006/math">
                    <m:acc>
                      <m:accPr>
                        <m:ctrlPr>
                          <a:rPr lang="en-US" sz="1200" i="1">
                            <a:solidFill>
                              <a:srgbClr val="836967"/>
                            </a:solidFill>
                            <a:latin typeface="Cambria Math" panose="02040503050406030204" pitchFamily="18" charset="0"/>
                          </a:rPr>
                        </m:ctrlPr>
                      </m:accPr>
                      <m:e>
                        <m:r>
                          <m:rPr>
                            <m:sty m:val="p"/>
                          </m:rPr>
                          <a:rPr lang="en-US" sz="1200" i="1">
                            <a:latin typeface="Cambria Math" panose="02040503050406030204" pitchFamily="18" charset="0"/>
                          </a:rPr>
                          <m:t>Δ</m:t>
                        </m:r>
                      </m:e>
                    </m:acc>
                    <m:r>
                      <a:rPr lang="en-US" sz="1200" i="1">
                        <a:latin typeface="Cambria Math" panose="02040503050406030204" pitchFamily="18" charset="0"/>
                      </a:rPr>
                      <m:t>~</m:t>
                    </m:r>
                    <m:r>
                      <a:rPr lang="en-US" sz="1200" b="0" i="1" smtClean="0">
                        <a:latin typeface="Cambria Math" panose="02040503050406030204" pitchFamily="18" charset="0"/>
                      </a:rPr>
                      <m:t>𝑇</m:t>
                    </m:r>
                    <m:r>
                      <a:rPr lang="en-US" sz="1200" i="1">
                        <a:latin typeface="Cambria Math" panose="02040503050406030204" pitchFamily="18" charset="0"/>
                      </a:rPr>
                      <m:t>𝑁</m:t>
                    </m:r>
                    <m:d>
                      <m:dPr>
                        <m:ctrlPr>
                          <a:rPr lang="en-US" sz="1200" i="1">
                            <a:solidFill>
                              <a:srgbClr val="836967"/>
                            </a:solidFill>
                            <a:latin typeface="Cambria Math" panose="02040503050406030204" pitchFamily="18" charset="0"/>
                          </a:rPr>
                        </m:ctrlPr>
                      </m:dPr>
                      <m:e>
                        <m:r>
                          <m:rPr>
                            <m:sty m:val="p"/>
                          </m:rPr>
                          <a:rPr lang="en-US" sz="1200" i="1">
                            <a:latin typeface="Cambria Math" panose="02040503050406030204" pitchFamily="18" charset="0"/>
                          </a:rPr>
                          <m:t>Δ</m:t>
                        </m:r>
                        <m:r>
                          <a:rPr lang="en-US" sz="1200" i="1">
                            <a:latin typeface="Cambria Math" panose="02040503050406030204" pitchFamily="18" charset="0"/>
                          </a:rPr>
                          <m:t>,</m:t>
                        </m:r>
                        <m:rad>
                          <m:radPr>
                            <m:degHide m:val="on"/>
                            <m:ctrlPr>
                              <a:rPr lang="en-US" sz="1200" i="1">
                                <a:solidFill>
                                  <a:srgbClr val="836967"/>
                                </a:solidFill>
                                <a:latin typeface="Cambria Math" panose="02040503050406030204" pitchFamily="18" charset="0"/>
                              </a:rPr>
                            </m:ctrlPr>
                          </m:radPr>
                          <m:deg/>
                          <m:e>
                            <m:r>
                              <a:rPr lang="en-US" sz="1200" i="1">
                                <a:latin typeface="Cambria Math" panose="02040503050406030204" pitchFamily="18" charset="0"/>
                              </a:rPr>
                              <m:t>2</m:t>
                            </m:r>
                            <m:f>
                              <m:fPr>
                                <m:type m:val="lin"/>
                                <m:ctrlPr>
                                  <a:rPr lang="en-US" sz="1200" i="1">
                                    <a:latin typeface="Cambria Math" panose="02040503050406030204" pitchFamily="18" charset="0"/>
                                  </a:rPr>
                                </m:ctrlPr>
                              </m:fPr>
                              <m:num>
                                <m:sSup>
                                  <m:sSupPr>
                                    <m:ctrlPr>
                                      <a:rPr lang="en-US" sz="1200" i="1">
                                        <a:solidFill>
                                          <a:srgbClr val="836967"/>
                                        </a:solidFill>
                                        <a:latin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𝜎</m:t>
                                    </m:r>
                                  </m:e>
                                  <m:sup>
                                    <m:r>
                                      <a:rPr lang="en-US" sz="1200" i="1">
                                        <a:latin typeface="Cambria Math" panose="02040503050406030204" pitchFamily="18" charset="0"/>
                                      </a:rPr>
                                      <m:t>2</m:t>
                                    </m:r>
                                  </m:sup>
                                </m:sSup>
                              </m:num>
                              <m:den>
                                <m:r>
                                  <a:rPr lang="en-US" sz="1200" i="1">
                                    <a:latin typeface="Cambria Math" panose="02040503050406030204" pitchFamily="18" charset="0"/>
                                  </a:rPr>
                                  <m:t>𝑚</m:t>
                                </m:r>
                              </m:den>
                            </m:f>
                          </m:e>
                        </m:rad>
                      </m:e>
                    </m:d>
                  </m:oMath>
                </a14:m>
                <a:r>
                  <a:rPr lang="en-US" sz="1200" noProof="0" dirty="0"/>
                  <a:t> for </a:t>
                </a:r>
                <a14:m>
                  <m:oMath xmlns:m="http://schemas.openxmlformats.org/officeDocument/2006/math">
                    <m:acc>
                      <m:accPr>
                        <m:ctrlPr>
                          <a:rPr lang="en-US" sz="1200" i="1">
                            <a:solidFill>
                              <a:srgbClr val="836967"/>
                            </a:solidFill>
                            <a:latin typeface="Cambria Math" panose="02040503050406030204" pitchFamily="18" charset="0"/>
                          </a:rPr>
                        </m:ctrlPr>
                      </m:accPr>
                      <m:e>
                        <m:r>
                          <m:rPr>
                            <m:sty m:val="p"/>
                          </m:rPr>
                          <a:rPr lang="en-US" sz="1200" i="1">
                            <a:latin typeface="Cambria Math" panose="02040503050406030204" pitchFamily="18" charset="0"/>
                          </a:rPr>
                          <m:t>Δ</m:t>
                        </m:r>
                      </m:e>
                    </m:acc>
                    <m:r>
                      <a:rPr lang="en-US" sz="1200" b="0" i="1" smtClean="0">
                        <a:latin typeface="Cambria Math" panose="02040503050406030204" pitchFamily="18" charset="0"/>
                      </a:rPr>
                      <m:t>&gt;</m:t>
                    </m:r>
                    <m:sSub>
                      <m:sSubPr>
                        <m:ctrlPr>
                          <a:rPr lang="en-US" sz="1200" i="1" dirty="0">
                            <a:latin typeface="Cambria Math" panose="02040503050406030204" pitchFamily="18" charset="0"/>
                          </a:rPr>
                        </m:ctrlPr>
                      </m:sSubPr>
                      <m:e>
                        <m:r>
                          <m:rPr>
                            <m:sty m:val="p"/>
                          </m:rPr>
                          <a:rPr lang="en-US" sz="1200" dirty="0">
                            <a:latin typeface="Cambria Math" panose="02040503050406030204" pitchFamily="18" charset="0"/>
                          </a:rPr>
                          <m:t>Δ</m:t>
                        </m:r>
                      </m:e>
                      <m:sub>
                        <m:r>
                          <a:rPr lang="en-US" sz="1200" i="1" dirty="0">
                            <a:latin typeface="Cambria Math" panose="02040503050406030204" pitchFamily="18" charset="0"/>
                          </a:rPr>
                          <m:t>𝑃𝐷</m:t>
                        </m:r>
                      </m:sub>
                    </m:sSub>
                  </m:oMath>
                </a14:m>
                <a:r>
                  <a:rPr lang="en-US" sz="1200" noProof="0" dirty="0"/>
                  <a:t>,</a:t>
                </a:r>
                <a:endParaRPr lang="en-US" sz="1200" noProof="0" dirty="0"/>
              </a:p>
              <a:p>
                <a:endParaRPr lang="en-US" sz="1200" dirty="0"/>
              </a:p>
              <a:p>
                <a:endParaRPr lang="en-US" sz="1200" noProof="0" dirty="0"/>
              </a:p>
              <a:p>
                <a:endParaRPr lang="en-US" sz="1200" dirty="0"/>
              </a:p>
              <a:p>
                <a:endParaRPr lang="en-US" sz="1200" noProof="0" dirty="0"/>
              </a:p>
              <a:p>
                <a:endParaRPr lang="en-US" sz="1200" dirty="0"/>
              </a:p>
              <a:p>
                <a:endParaRPr lang="en-US" sz="1200" noProof="0" dirty="0"/>
              </a:p>
              <a:p>
                <a:pPr marL="0" indent="0">
                  <a:buNone/>
                </a:pPr>
                <a:r>
                  <a:rPr lang="en-US" sz="1200" dirty="0"/>
                  <a:t>where </a:t>
                </a:r>
                <a14:m>
                  <m:oMath xmlns:m="http://schemas.openxmlformats.org/officeDocument/2006/math">
                    <m:r>
                      <m:rPr>
                        <m:sty m:val="p"/>
                      </m:rPr>
                      <a:rPr lang="en-US" sz="1200">
                        <a:latin typeface="Cambria Math" panose="02040503050406030204" pitchFamily="18" charset="0"/>
                      </a:rPr>
                      <m:t>X</m:t>
                    </m:r>
                    <m:r>
                      <a:rPr lang="en-US" sz="1200" i="1">
                        <a:latin typeface="Cambria Math" panose="02040503050406030204" pitchFamily="18" charset="0"/>
                      </a:rPr>
                      <m:t> ~ </m:t>
                    </m:r>
                    <m:r>
                      <a:rPr lang="en-US" sz="1200" i="1">
                        <a:latin typeface="Cambria Math" panose="02040503050406030204" pitchFamily="18" charset="0"/>
                      </a:rPr>
                      <m:t>𝑁</m:t>
                    </m:r>
                    <m:r>
                      <a:rPr lang="en-US" sz="1200" i="1">
                        <a:latin typeface="Cambria Math" panose="02040503050406030204" pitchFamily="18" charset="0"/>
                      </a:rPr>
                      <m:t>(</m:t>
                    </m:r>
                    <m:r>
                      <a:rPr lang="en-US" sz="1200" i="1">
                        <a:latin typeface="Cambria Math" panose="02040503050406030204" pitchFamily="18" charset="0"/>
                      </a:rPr>
                      <m:t>0</m:t>
                    </m:r>
                    <m:r>
                      <a:rPr lang="en-US" sz="1200" i="1">
                        <a:latin typeface="Cambria Math" panose="02040503050406030204" pitchFamily="18" charset="0"/>
                      </a:rPr>
                      <m:t>,</m:t>
                    </m:r>
                    <m:r>
                      <a:rPr lang="en-US" sz="1200" i="1">
                        <a:latin typeface="Cambria Math" panose="02040503050406030204" pitchFamily="18" charset="0"/>
                      </a:rPr>
                      <m:t>1</m:t>
                    </m:r>
                    <m:r>
                      <a:rPr lang="en-US" sz="1200" i="1">
                        <a:latin typeface="Cambria Math" panose="02040503050406030204" pitchFamily="18" charset="0"/>
                      </a:rPr>
                      <m:t>)</m:t>
                    </m:r>
                  </m:oMath>
                </a14:m>
                <a:r>
                  <a:rPr lang="en-US" sz="1200" dirty="0"/>
                  <a:t>.</a:t>
                </a:r>
                <a:endParaRPr lang="en-US" sz="1200" dirty="0"/>
              </a:p>
              <a:p>
                <a:endParaRPr lang="en-US" sz="1200" noProof="0" dirty="0"/>
              </a:p>
            </p:txBody>
          </p:sp>
        </mc:Choice>
        <mc:Fallback>
          <p:sp>
            <p:nvSpPr>
              <p:cNvPr id="23" name="Inhaltsplatzhalter 15"/>
              <p:cNvSpPr txBox="1">
                <a:spLocks noRot="1" noChangeAspect="1" noMove="1" noResize="1" noEditPoints="1" noAdjustHandles="1" noChangeArrowheads="1" noChangeShapeType="1" noTextEdit="1"/>
              </p:cNvSpPr>
              <p:nvPr/>
            </p:nvSpPr>
            <p:spPr>
              <a:xfrm>
                <a:off x="8131149" y="2819400"/>
                <a:ext cx="3832251" cy="3219958"/>
              </a:xfrm>
              <a:prstGeom prst="rect">
                <a:avLst/>
              </a:prstGeom>
              <a:blipFill rotWithShape="1">
                <a:blip r:embed="rId6"/>
                <a:stretch>
                  <a:fillRect l="-16" b="-5309"/>
                </a:stretch>
              </a:blipFill>
            </p:spPr>
            <p:txBody>
              <a:bodyPr/>
              <a:lstStyle/>
              <a:p>
                <a:r>
                  <a:rPr lang="zh-CN" altLang="en-US">
                    <a:noFill/>
                  </a:rPr>
                  <a:t> </a:t>
                </a:r>
              </a:p>
            </p:txBody>
          </p:sp>
        </mc:Fallback>
      </mc:AlternateContent>
      <p:sp>
        <p:nvSpPr>
          <p:cNvPr id="24" name="Textplatzhalter 2"/>
          <p:cNvSpPr txBox="1"/>
          <p:nvPr/>
        </p:nvSpPr>
        <p:spPr bwMode="gray">
          <a:xfrm>
            <a:off x="8131149" y="2176722"/>
            <a:ext cx="3832251" cy="806036"/>
          </a:xfrm>
          <a:prstGeom prst="rect">
            <a:avLst/>
          </a:prstGeom>
          <a:solidFill>
            <a:schemeClr val="bg2"/>
          </a:solidFill>
        </p:spPr>
        <p:txBody>
          <a:bodyPr vert="horz" wrap="square" lIns="144000" tIns="72000" rIns="144000" bIns="72000" rtlCol="0" anchor="ctr" anchorCtr="0">
            <a:sp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sz="1600" b="1" noProof="0" dirty="0">
                <a:solidFill>
                  <a:schemeClr val="bg1"/>
                </a:solidFill>
              </a:rPr>
              <a:t>Method 7: Conditional Likelihood Weighted Bias (CLWB)</a:t>
            </a:r>
            <a:endParaRPr lang="en-US" sz="1600" b="1" noProof="0" dirty="0">
              <a:solidFill>
                <a:schemeClr val="bg1"/>
              </a:solidFill>
            </a:endParaRPr>
          </a:p>
        </p:txBody>
      </p:sp>
      <p:sp>
        <p:nvSpPr>
          <p:cNvPr id="6" name="Foliennummernplatzhalter 5"/>
          <p:cNvSpPr>
            <a:spLocks noGrp="1"/>
          </p:cNvSpPr>
          <p:nvPr>
            <p:ph type="sldNum" sz="quarter" idx="11"/>
          </p:nvPr>
        </p:nvSpPr>
        <p:spPr/>
        <p:txBody>
          <a:bodyPr/>
          <a:lstStyle/>
          <a:p>
            <a:fld id="{8FF9B0DE-3FEB-4AA0-B465-B80EF7C1333D}" type="slidenum">
              <a:rPr lang="en-US" noProof="0" smtClean="0"/>
            </a:fld>
            <a:endParaRPr lang="en-US" noProof="0" dirty="0"/>
          </a:p>
        </p:txBody>
      </p:sp>
      <mc:AlternateContent xmlns:mc="http://schemas.openxmlformats.org/markup-compatibility/2006">
        <mc:Choice xmlns:a14="http://schemas.microsoft.com/office/drawing/2010/main" Requires="a14">
          <p:sp>
            <p:nvSpPr>
              <p:cNvPr id="4" name="Textplatzhalter 2"/>
              <p:cNvSpPr txBox="1"/>
              <p:nvPr/>
            </p:nvSpPr>
            <p:spPr bwMode="gray">
              <a:xfrm>
                <a:off x="533400" y="1022680"/>
                <a:ext cx="9982200" cy="1752600"/>
              </a:xfrm>
              <a:prstGeom prst="rect">
                <a:avLst/>
              </a:prstGeom>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330200" indent="-285750">
                  <a:lnSpc>
                    <a:spcPct val="150000"/>
                  </a:lnSpc>
                </a:pPr>
                <a:r>
                  <a:rPr lang="en-US" dirty="0"/>
                  <a:t>Under the condition that </a:t>
                </a:r>
                <a14:m>
                  <m:oMath xmlns:m="http://schemas.openxmlformats.org/officeDocument/2006/math">
                    <m:acc>
                      <m:accPr>
                        <m:ctrlPr>
                          <a:rPr lang="en-US" i="1" dirty="0">
                            <a:latin typeface="Cambria Math" panose="02040503050406030204" pitchFamily="18" charset="0"/>
                          </a:rPr>
                        </m:ctrlPr>
                      </m:accPr>
                      <m:e>
                        <m:r>
                          <m:rPr>
                            <m:sty m:val="p"/>
                          </m:rPr>
                          <a:rPr lang="en-US" dirty="0">
                            <a:latin typeface="Cambria Math" panose="02040503050406030204" pitchFamily="18" charset="0"/>
                          </a:rPr>
                          <m:t>Δ</m:t>
                        </m:r>
                      </m:e>
                    </m:acc>
                    <m:r>
                      <a:rPr lang="en-US" dirty="0">
                        <a:latin typeface="Cambria Math" panose="02040503050406030204" pitchFamily="18" charset="0"/>
                      </a:rPr>
                      <m:t>&gt;</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Δ</m:t>
                        </m:r>
                      </m:e>
                      <m:sub>
                        <m:r>
                          <a:rPr lang="en-US" i="1" dirty="0">
                            <a:latin typeface="Cambria Math" panose="02040503050406030204" pitchFamily="18" charset="0"/>
                          </a:rPr>
                          <m:t>𝑃𝐷</m:t>
                        </m:r>
                      </m:sub>
                    </m:sSub>
                  </m:oMath>
                </a14:m>
                <a:r>
                  <a:rPr lang="en-US" dirty="0"/>
                  <a:t>, the bias can be expressed as</a:t>
                </a:r>
                <a:endParaRPr lang="en-US" dirty="0"/>
              </a:p>
              <a:p>
                <a:pPr marL="330200" indent="-285750">
                  <a:lnSpc>
                    <a:spcPct val="150000"/>
                  </a:lnSpc>
                </a:pPr>
                <a:endParaRPr lang="en-US" dirty="0"/>
              </a:p>
              <a:p>
                <a:pPr marL="330200" indent="-285750">
                  <a:lnSpc>
                    <a:spcPct val="150000"/>
                  </a:lnSpc>
                </a:pPr>
                <a:r>
                  <a:rPr lang="en-US" dirty="0">
                    <a:solidFill>
                      <a:srgbClr val="FF0000"/>
                    </a:solidFill>
                  </a:rPr>
                  <a:t>Bias-adjusted effect: </a:t>
                </a:r>
                <a14:m>
                  <m:oMath xmlns:m="http://schemas.openxmlformats.org/officeDocument/2006/math">
                    <m:acc>
                      <m:accPr>
                        <m:ctrlPr>
                          <a:rPr lang="en-US" i="1" dirty="0">
                            <a:solidFill>
                              <a:srgbClr val="FF0000"/>
                            </a:solidFill>
                            <a:latin typeface="Cambria Math" panose="02040503050406030204" pitchFamily="18" charset="0"/>
                          </a:rPr>
                        </m:ctrlPr>
                      </m:accPr>
                      <m:e>
                        <m:r>
                          <m:rPr>
                            <m:sty m:val="p"/>
                          </m:rPr>
                          <a:rPr lang="en-US" dirty="0">
                            <a:solidFill>
                              <a:srgbClr val="FF0000"/>
                            </a:solidFill>
                            <a:latin typeface="Cambria Math" panose="02040503050406030204" pitchFamily="18" charset="0"/>
                          </a:rPr>
                          <m:t>Δ</m:t>
                        </m:r>
                      </m:e>
                    </m:acc>
                    <m:r>
                      <a:rPr lang="en-US" dirty="0">
                        <a:solidFill>
                          <a:srgbClr val="FF0000"/>
                        </a:solidFill>
                        <a:latin typeface="Cambria Math" panose="02040503050406030204" pitchFamily="18" charset="0"/>
                      </a:rPr>
                      <m:t>−</m:t>
                    </m:r>
                  </m:oMath>
                </a14:m>
                <a:r>
                  <a:rPr lang="en-US" dirty="0">
                    <a:solidFill>
                      <a:srgbClr val="FF0000"/>
                    </a:solidFill>
                  </a:rPr>
                  <a:t> bias</a:t>
                </a:r>
                <a:endParaRPr lang="en-US" dirty="0">
                  <a:solidFill>
                    <a:srgbClr val="FF0000"/>
                  </a:solidFill>
                </a:endParaRPr>
              </a:p>
            </p:txBody>
          </p:sp>
        </mc:Choice>
        <mc:Fallback>
          <p:sp>
            <p:nvSpPr>
              <p:cNvPr id="4" name="Textplatzhalter 2"/>
              <p:cNvSpPr txBox="1">
                <a:spLocks noRot="1" noChangeAspect="1" noMove="1" noResize="1" noEditPoints="1" noAdjustHandles="1" noChangeArrowheads="1" noChangeShapeType="1" noTextEdit="1"/>
              </p:cNvSpPr>
              <p:nvPr/>
            </p:nvSpPr>
            <p:spPr bwMode="gray">
              <a:xfrm>
                <a:off x="533400" y="1022680"/>
                <a:ext cx="9982200" cy="1752600"/>
              </a:xfrm>
              <a:prstGeom prst="rect">
                <a:avLst/>
              </a:prstGeom>
              <a:blipFill rotWithShape="1">
                <a:blip r:embed="rId7"/>
                <a:stretch>
                  <a:fillRect t="-19" b="19"/>
                </a:stretch>
              </a:blipFill>
            </p:spPr>
            <p:txBody>
              <a:bodyPr/>
              <a:lstStyle/>
              <a:p>
                <a:r>
                  <a:rPr lang="zh-CN" altLang="en-US">
                    <a:noFill/>
                  </a:rPr>
                  <a:t> </a:t>
                </a:r>
              </a:p>
            </p:txBody>
          </p:sp>
        </mc:Fallback>
      </mc:AlternateContent>
      <p:pic>
        <p:nvPicPr>
          <p:cNvPr id="12" name="Picture 11"/>
          <p:cNvPicPr>
            <a:picLocks noChangeAspect="1"/>
          </p:cNvPicPr>
          <p:nvPr/>
        </p:nvPicPr>
        <p:blipFill>
          <a:blip r:embed="rId8"/>
          <a:stretch>
            <a:fillRect/>
          </a:stretch>
        </p:blipFill>
        <p:spPr>
          <a:xfrm>
            <a:off x="4037013" y="1414992"/>
            <a:ext cx="3582990" cy="368668"/>
          </a:xfrm>
          <a:prstGeom prst="rect">
            <a:avLst/>
          </a:prstGeom>
        </p:spPr>
      </p:pic>
      <p:sp>
        <p:nvSpPr>
          <p:cNvPr id="13" name="TextBox 12"/>
          <p:cNvSpPr txBox="1"/>
          <p:nvPr/>
        </p:nvSpPr>
        <p:spPr bwMode="gray">
          <a:xfrm>
            <a:off x="7576721" y="1447060"/>
            <a:ext cx="43282" cy="315920"/>
          </a:xfrm>
          <a:prstGeom prst="rect">
            <a:avLst/>
          </a:prstGeom>
          <a:noFill/>
        </p:spPr>
        <p:txBody>
          <a:bodyPr wrap="none" lIns="0" tIns="0" rIns="0" bIns="0" rtlCol="0">
            <a:spAutoFit/>
          </a:bodyPr>
          <a:lstStyle/>
          <a:p>
            <a:pPr algn="l">
              <a:lnSpc>
                <a:spcPct val="140000"/>
              </a:lnSpc>
            </a:pPr>
            <a:r>
              <a:rPr lang="en-US" sz="1600" dirty="0"/>
              <a:t>.</a:t>
            </a:r>
            <a:endParaRPr lang="en-US" sz="1600" dirty="0"/>
          </a:p>
        </p:txBody>
      </p:sp>
      <p:pic>
        <p:nvPicPr>
          <p:cNvPr id="22" name="Picture 21"/>
          <p:cNvPicPr>
            <a:picLocks noChangeAspect="1"/>
          </p:cNvPicPr>
          <p:nvPr/>
        </p:nvPicPr>
        <p:blipFill>
          <a:blip r:embed="rId9"/>
          <a:stretch>
            <a:fillRect/>
          </a:stretch>
        </p:blipFill>
        <p:spPr>
          <a:xfrm>
            <a:off x="8472393" y="3625437"/>
            <a:ext cx="2805207" cy="820070"/>
          </a:xfrm>
          <a:prstGeom prst="rect">
            <a:avLst/>
          </a:prstGeom>
        </p:spPr>
      </p:pic>
      <p:pic>
        <p:nvPicPr>
          <p:cNvPr id="26" name="Picture 25"/>
          <p:cNvPicPr>
            <a:picLocks noChangeAspect="1"/>
          </p:cNvPicPr>
          <p:nvPr/>
        </p:nvPicPr>
        <p:blipFill>
          <a:blip r:embed="rId10"/>
          <a:stretch>
            <a:fillRect/>
          </a:stretch>
        </p:blipFill>
        <p:spPr>
          <a:xfrm>
            <a:off x="4501777" y="3280314"/>
            <a:ext cx="3141445" cy="957452"/>
          </a:xfrm>
          <a:prstGeom prst="rect">
            <a:avLst/>
          </a:prstGeom>
        </p:spPr>
      </p:pic>
      <p:pic>
        <p:nvPicPr>
          <p:cNvPr id="28" name="Picture 27"/>
          <p:cNvPicPr>
            <a:picLocks noChangeAspect="1"/>
          </p:cNvPicPr>
          <p:nvPr/>
        </p:nvPicPr>
        <p:blipFill>
          <a:blip r:embed="rId11"/>
          <a:stretch>
            <a:fillRect/>
          </a:stretch>
        </p:blipFill>
        <p:spPr>
          <a:xfrm>
            <a:off x="4587518" y="4382009"/>
            <a:ext cx="2857831" cy="1174059"/>
          </a:xfrm>
          <a:prstGeom prst="rect">
            <a:avLst/>
          </a:prstGeom>
        </p:spPr>
      </p:pic>
      <p:pic>
        <p:nvPicPr>
          <p:cNvPr id="30" name="Picture 29"/>
          <p:cNvPicPr>
            <a:picLocks noChangeAspect="1"/>
          </p:cNvPicPr>
          <p:nvPr/>
        </p:nvPicPr>
        <p:blipFill>
          <a:blip r:embed="rId12"/>
          <a:stretch>
            <a:fillRect/>
          </a:stretch>
        </p:blipFill>
        <p:spPr>
          <a:xfrm>
            <a:off x="8289491" y="4493150"/>
            <a:ext cx="3423084" cy="1201782"/>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a:xfrm>
            <a:off x="479424" y="477000"/>
            <a:ext cx="11233151" cy="720000"/>
          </a:xfrm>
        </p:spPr>
        <p:txBody>
          <a:bodyPr/>
          <a:lstStyle/>
          <a:p>
            <a:r>
              <a:rPr lang="en-US" noProof="0" dirty="0"/>
              <a:t>Procedure</a:t>
            </a:r>
            <a:endParaRPr lang="en-US" noProof="0" dirty="0"/>
          </a:p>
        </p:txBody>
      </p:sp>
      <mc:AlternateContent xmlns:mc="http://schemas.openxmlformats.org/markup-compatibility/2006">
        <mc:Choice xmlns:a14="http://schemas.microsoft.com/office/drawing/2010/main" Requires="a14">
          <p:sp>
            <p:nvSpPr>
              <p:cNvPr id="31" name="Rectangle 30"/>
              <p:cNvSpPr/>
              <p:nvPr/>
            </p:nvSpPr>
            <p:spPr bwMode="gray">
              <a:xfrm>
                <a:off x="580013" y="4111463"/>
                <a:ext cx="3051708" cy="779375"/>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400" dirty="0">
                    <a:solidFill>
                      <a:schemeClr val="tx1"/>
                    </a:solidFill>
                  </a:rPr>
                  <a:t>Employ a uniform prior U(-10, 10) to compute the bias </a:t>
                </a:r>
                <a14:m>
                  <m:oMath xmlns:m="http://schemas.openxmlformats.org/officeDocument/2006/math">
                    <m:sSub>
                      <m:sSubPr>
                        <m:ctrlPr>
                          <a:rPr lang="en-US" sz="1400" i="1" dirty="0" smtClean="0">
                            <a:solidFill>
                              <a:schemeClr val="tx1"/>
                            </a:solidFill>
                            <a:latin typeface="Cambria Math" panose="02040503050406030204" pitchFamily="18" charset="0"/>
                          </a:rPr>
                        </m:ctrlPr>
                      </m:sSubPr>
                      <m:e>
                        <m:r>
                          <a:rPr lang="en-US" sz="1400" i="1" dirty="0" smtClean="0">
                            <a:solidFill>
                              <a:schemeClr val="tx1"/>
                            </a:solidFill>
                            <a:latin typeface="Cambria Math" panose="02040503050406030204" pitchFamily="18" charset="0"/>
                          </a:rPr>
                          <m:t>𝑞</m:t>
                        </m:r>
                      </m:e>
                      <m:sub>
                        <m:r>
                          <a:rPr lang="en-US" sz="1400" i="0" dirty="0" smtClean="0">
                            <a:solidFill>
                              <a:schemeClr val="tx1"/>
                            </a:solidFill>
                            <a:latin typeface="Cambria Math" panose="02040503050406030204" pitchFamily="18" charset="0"/>
                          </a:rPr>
                          <m:t>20</m:t>
                        </m:r>
                      </m:sub>
                    </m:sSub>
                  </m:oMath>
                </a14:m>
                <a:endParaRPr lang="en-US" sz="1400" dirty="0">
                  <a:solidFill>
                    <a:schemeClr val="tx1"/>
                  </a:solidFill>
                </a:endParaRPr>
              </a:p>
            </p:txBody>
          </p:sp>
        </mc:Choice>
        <mc:Fallback>
          <p:sp>
            <p:nvSpPr>
              <p:cNvPr id="31" name="Rectangle 30"/>
              <p:cNvSpPr>
                <a:spLocks noRot="1" noChangeAspect="1" noMove="1" noResize="1" noEditPoints="1" noAdjustHandles="1" noChangeArrowheads="1" noChangeShapeType="1" noTextEdit="1"/>
              </p:cNvSpPr>
              <p:nvPr/>
            </p:nvSpPr>
            <p:spPr bwMode="gray">
              <a:xfrm>
                <a:off x="580013" y="4111463"/>
                <a:ext cx="3051708" cy="779375"/>
              </a:xfrm>
              <a:prstGeom prst="rect">
                <a:avLst/>
              </a:prstGeom>
              <a:blipFill rotWithShape="1">
                <a:blip r:embed="rId1"/>
                <a:stretch>
                  <a:fillRect l="-175" t="-631" r="-141" b="-562"/>
                </a:stretch>
              </a:blip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bwMode="gray">
              <a:xfrm>
                <a:off x="4189405" y="4129378"/>
                <a:ext cx="4353462" cy="2118574"/>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1400" dirty="0">
                    <a:solidFill>
                      <a:schemeClr val="tx1"/>
                    </a:solidFill>
                  </a:rPr>
                  <a:t>Bias-adjusted effect </a:t>
                </a:r>
                <a14:m>
                  <m:oMath xmlns:m="http://schemas.openxmlformats.org/officeDocument/2006/math">
                    <m:sSub>
                      <m:sSubPr>
                        <m:ctrlPr>
                          <a:rPr lang="en-US" sz="1400" i="1">
                            <a:solidFill>
                              <a:schemeClr val="tx1"/>
                            </a:solidFill>
                            <a:latin typeface="Cambria Math" panose="02040503050406030204" pitchFamily="18" charset="0"/>
                          </a:rPr>
                        </m:ctrlPr>
                      </m:sSubPr>
                      <m:e>
                        <m:r>
                          <m:rPr>
                            <m:sty m:val="p"/>
                          </m:rPr>
                          <a:rPr lang="en-US" sz="1400" i="1">
                            <a:solidFill>
                              <a:schemeClr val="tx1"/>
                            </a:solidFill>
                            <a:latin typeface="Cambria Math" panose="02040503050406030204" pitchFamily="18" charset="0"/>
                          </a:rPr>
                          <m:t>Δ</m:t>
                        </m:r>
                      </m:e>
                      <m:sub>
                        <m:r>
                          <a:rPr lang="en-US" sz="1400" i="1">
                            <a:solidFill>
                              <a:schemeClr val="tx1"/>
                            </a:solidFill>
                            <a:latin typeface="Cambria Math" panose="02040503050406030204" pitchFamily="18" charset="0"/>
                          </a:rPr>
                          <m:t>𝑎𝑑𝑗</m:t>
                        </m:r>
                      </m:sub>
                    </m:sSub>
                  </m:oMath>
                </a14:m>
                <a:r>
                  <a:rPr lang="en-US" sz="1400" dirty="0">
                    <a:solidFill>
                      <a:schemeClr val="tx1"/>
                    </a:solidFill>
                  </a:rPr>
                  <a:t>:</a:t>
                </a:r>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Shifting Method: </a:t>
                </a:r>
                <a14:m>
                  <m:oMath xmlns:m="http://schemas.openxmlformats.org/officeDocument/2006/math">
                    <m:acc>
                      <m:accPr>
                        <m:ctrlPr>
                          <a:rPr lang="en-US" sz="1400" i="1" dirty="0" smtClean="0">
                            <a:solidFill>
                              <a:schemeClr val="tx1"/>
                            </a:solidFill>
                            <a:latin typeface="Cambria Math" panose="02040503050406030204" pitchFamily="18" charset="0"/>
                          </a:rPr>
                        </m:ctrlPr>
                      </m:accPr>
                      <m:e>
                        <m:r>
                          <a:rPr lang="en-US" sz="1400" b="0" i="1" dirty="0">
                            <a:solidFill>
                              <a:schemeClr val="tx1"/>
                            </a:solidFill>
                            <a:latin typeface="Cambria Math" panose="02040503050406030204" pitchFamily="18" charset="0"/>
                          </a:rPr>
                          <m:t>𝛥</m:t>
                        </m:r>
                      </m:e>
                    </m:acc>
                    <m:r>
                      <a:rPr lang="en-US" sz="1400" b="0">
                        <a:solidFill>
                          <a:schemeClr val="tx1"/>
                        </a:solidFill>
                        <a:latin typeface="Cambria Math" panose="02040503050406030204" pitchFamily="18" charset="0"/>
                      </a:rPr>
                      <m:t>−</m:t>
                    </m:r>
                    <m:r>
                      <a:rPr lang="en-US" sz="1400" b="0" i="1" dirty="0">
                        <a:solidFill>
                          <a:schemeClr val="tx1"/>
                        </a:solidFill>
                        <a:latin typeface="Cambria Math" panose="02040503050406030204" pitchFamily="18" charset="0"/>
                      </a:rPr>
                      <m:t>𝑆</m:t>
                    </m:r>
                    <m:r>
                      <a:rPr lang="en-US" sz="1400" b="0" i="1" dirty="0" smtClean="0">
                        <a:solidFill>
                          <a:schemeClr val="tx1"/>
                        </a:solidFill>
                        <a:latin typeface="Cambria Math" panose="02040503050406030204" pitchFamily="18" charset="0"/>
                      </a:rPr>
                      <m:t>𝐸</m:t>
                    </m:r>
                  </m:oMath>
                </a14:m>
                <a:r>
                  <a:rPr lang="en-US" sz="1400" dirty="0">
                    <a:solidFill>
                      <a:schemeClr val="tx1"/>
                    </a:solidFill>
                  </a:rPr>
                  <a:t> </a:t>
                </a:r>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Multiplicative Method: </a:t>
                </a:r>
                <a14:m>
                  <m:oMath xmlns:m="http://schemas.openxmlformats.org/officeDocument/2006/math">
                    <m:r>
                      <a:rPr lang="en-US" sz="1400" b="0" i="1" dirty="0">
                        <a:solidFill>
                          <a:schemeClr val="tx1"/>
                        </a:solidFill>
                        <a:latin typeface="Cambria Math" panose="02040503050406030204" pitchFamily="18" charset="0"/>
                      </a:rPr>
                      <m:t>0</m:t>
                    </m:r>
                    <m:r>
                      <a:rPr lang="en-US" sz="1400" b="0" i="1" dirty="0">
                        <a:solidFill>
                          <a:schemeClr val="tx1"/>
                        </a:solidFill>
                        <a:latin typeface="Cambria Math" panose="02040503050406030204" pitchFamily="18" charset="0"/>
                      </a:rPr>
                      <m:t>.</m:t>
                    </m:r>
                    <m:r>
                      <a:rPr lang="en-US" sz="1400" b="0" i="1" dirty="0">
                        <a:solidFill>
                          <a:schemeClr val="tx1"/>
                        </a:solidFill>
                        <a:latin typeface="Cambria Math" panose="02040503050406030204" pitchFamily="18" charset="0"/>
                      </a:rPr>
                      <m:t>9</m:t>
                    </m:r>
                    <m:r>
                      <a:rPr lang="en-US" sz="1400" b="0" i="1">
                        <a:solidFill>
                          <a:schemeClr val="tx1"/>
                        </a:solidFill>
                        <a:latin typeface="Cambria Math" panose="02040503050406030204" pitchFamily="18" charset="0"/>
                        <a:ea typeface="Cambria Math" panose="02040503050406030204" pitchFamily="18" charset="0"/>
                      </a:rPr>
                      <m:t>×</m:t>
                    </m:r>
                    <m:acc>
                      <m:accPr>
                        <m:ctrlPr>
                          <a:rPr lang="en-US" sz="1400" i="1" dirty="0">
                            <a:solidFill>
                              <a:schemeClr val="tx1"/>
                            </a:solidFill>
                            <a:latin typeface="Cambria Math" panose="02040503050406030204" pitchFamily="18" charset="0"/>
                          </a:rPr>
                        </m:ctrlPr>
                      </m:accPr>
                      <m:e>
                        <m:r>
                          <a:rPr lang="en-US" sz="1400" b="0" i="1" dirty="0">
                            <a:solidFill>
                              <a:schemeClr val="tx1"/>
                            </a:solidFill>
                            <a:latin typeface="Cambria Math" panose="02040503050406030204" pitchFamily="18" charset="0"/>
                          </a:rPr>
                          <m:t>𝛥</m:t>
                        </m:r>
                      </m:e>
                    </m:acc>
                  </m:oMath>
                </a14:m>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MCLE: solution to the conditional likelihood score function</a:t>
                </a:r>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LWB: </a:t>
                </a:r>
                <a14:m>
                  <m:oMath xmlns:m="http://schemas.openxmlformats.org/officeDocument/2006/math">
                    <m:acc>
                      <m:accPr>
                        <m:ctrlPr>
                          <a:rPr lang="en-US" sz="1400" i="1" dirty="0">
                            <a:solidFill>
                              <a:schemeClr val="tx1"/>
                            </a:solidFill>
                            <a:latin typeface="Cambria Math" panose="02040503050406030204" pitchFamily="18" charset="0"/>
                          </a:rPr>
                        </m:ctrlPr>
                      </m:accPr>
                      <m:e>
                        <m:r>
                          <a:rPr lang="en-US" sz="1400" i="1" dirty="0">
                            <a:solidFill>
                              <a:schemeClr val="tx1"/>
                            </a:solidFill>
                            <a:latin typeface="Cambria Math" panose="02040503050406030204" pitchFamily="18" charset="0"/>
                          </a:rPr>
                          <m:t>𝛥</m:t>
                        </m:r>
                      </m:e>
                    </m:acc>
                    <m:r>
                      <a:rPr lang="en-US" sz="1400" b="0" i="1" dirty="0" smtClean="0">
                        <a:solidFill>
                          <a:schemeClr val="tx1"/>
                        </a:solidFill>
                        <a:latin typeface="Cambria Math" panose="02040503050406030204" pitchFamily="18" charset="0"/>
                      </a:rPr>
                      <m:t>−</m:t>
                    </m:r>
                    <m:r>
                      <a:rPr lang="en-US" sz="1400" i="1" dirty="0">
                        <a:solidFill>
                          <a:schemeClr val="tx1"/>
                        </a:solidFill>
                        <a:latin typeface="Cambria Math" panose="02040503050406030204" pitchFamily="18" charset="0"/>
                      </a:rPr>
                      <m:t> </m:t>
                    </m:r>
                  </m:oMath>
                </a14:m>
                <a:r>
                  <a:rPr lang="en-US" sz="1400" dirty="0">
                    <a:solidFill>
                      <a:schemeClr val="tx1"/>
                    </a:solidFill>
                  </a:rPr>
                  <a:t>integral </a:t>
                </a:r>
                <a:r>
                  <a:rPr lang="en-US" sz="1400" dirty="0" err="1">
                    <a:solidFill>
                      <a:schemeClr val="tx1"/>
                    </a:solidFill>
                  </a:rPr>
                  <a:t>w.r.t.</a:t>
                </a:r>
                <a:r>
                  <a:rPr lang="en-US" sz="1400" dirty="0">
                    <a:solidFill>
                      <a:schemeClr val="tx1"/>
                    </a:solidFill>
                  </a:rPr>
                  <a:t> likelihood</a:t>
                </a:r>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CLWB: </a:t>
                </a:r>
                <a14:m>
                  <m:oMath xmlns:m="http://schemas.openxmlformats.org/officeDocument/2006/math">
                    <m:acc>
                      <m:accPr>
                        <m:ctrlPr>
                          <a:rPr lang="en-US" sz="1400" i="1" dirty="0">
                            <a:solidFill>
                              <a:schemeClr val="tx1"/>
                            </a:solidFill>
                            <a:latin typeface="Cambria Math" panose="02040503050406030204" pitchFamily="18" charset="0"/>
                          </a:rPr>
                        </m:ctrlPr>
                      </m:accPr>
                      <m:e>
                        <m:r>
                          <a:rPr lang="en-US" sz="1400" i="1" dirty="0">
                            <a:solidFill>
                              <a:schemeClr val="tx1"/>
                            </a:solidFill>
                            <a:latin typeface="Cambria Math" panose="02040503050406030204" pitchFamily="18" charset="0"/>
                          </a:rPr>
                          <m:t>𝛥</m:t>
                        </m:r>
                      </m:e>
                    </m:acc>
                    <m:r>
                      <a:rPr lang="en-US" sz="1400" i="1" dirty="0">
                        <a:solidFill>
                          <a:schemeClr val="tx1"/>
                        </a:solidFill>
                        <a:latin typeface="Cambria Math" panose="02040503050406030204" pitchFamily="18" charset="0"/>
                      </a:rPr>
                      <m:t>− </m:t>
                    </m:r>
                  </m:oMath>
                </a14:m>
                <a:r>
                  <a:rPr lang="en-US" sz="1400" dirty="0">
                    <a:solidFill>
                      <a:schemeClr val="tx1"/>
                    </a:solidFill>
                  </a:rPr>
                  <a:t>integral </a:t>
                </a:r>
                <a:r>
                  <a:rPr lang="en-US" sz="1400" dirty="0" err="1">
                    <a:solidFill>
                      <a:schemeClr val="tx1"/>
                    </a:solidFill>
                  </a:rPr>
                  <a:t>w.r.t.</a:t>
                </a:r>
                <a:r>
                  <a:rPr lang="en-US" sz="1400" dirty="0">
                    <a:solidFill>
                      <a:schemeClr val="tx1"/>
                    </a:solidFill>
                  </a:rPr>
                  <a:t> conditional likelihood</a:t>
                </a:r>
                <a:endParaRPr lang="en-US" sz="1400" dirty="0">
                  <a:solidFill>
                    <a:schemeClr val="tx1"/>
                  </a:solidFill>
                </a:endParaRPr>
              </a:p>
            </p:txBody>
          </p:sp>
        </mc:Choice>
        <mc:Fallback>
          <p:sp>
            <p:nvSpPr>
              <p:cNvPr id="48" name="Rectangle 47"/>
              <p:cNvSpPr>
                <a:spLocks noRot="1" noChangeAspect="1" noMove="1" noResize="1" noEditPoints="1" noAdjustHandles="1" noChangeArrowheads="1" noChangeShapeType="1" noTextEdit="1"/>
              </p:cNvSpPr>
              <p:nvPr/>
            </p:nvSpPr>
            <p:spPr bwMode="gray">
              <a:xfrm>
                <a:off x="4189405" y="4129378"/>
                <a:ext cx="4353462" cy="2118574"/>
              </a:xfrm>
              <a:prstGeom prst="rect">
                <a:avLst/>
              </a:prstGeom>
              <a:blipFill rotWithShape="1">
                <a:blip r:embed="rId2"/>
                <a:stretch>
                  <a:fillRect l="-124" t="-2696" r="-97" b="-2659"/>
                </a:stretch>
              </a:blip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95" name="Diamond 94"/>
          <p:cNvSpPr/>
          <p:nvPr/>
        </p:nvSpPr>
        <p:spPr bwMode="gray">
          <a:xfrm>
            <a:off x="4727836" y="1118524"/>
            <a:ext cx="3276600" cy="1610099"/>
          </a:xfrm>
          <a:prstGeom prst="diamond">
            <a:avLst/>
          </a:prstGeom>
          <a:solidFill>
            <a:srgbClr val="E5E3DE"/>
          </a:solid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Including historical data?</a:t>
            </a:r>
            <a:endParaRPr lang="en-US" sz="1600" dirty="0">
              <a:solidFill>
                <a:schemeClr val="tx1"/>
              </a:solidFill>
            </a:endParaRPr>
          </a:p>
        </p:txBody>
      </p:sp>
      <p:sp>
        <p:nvSpPr>
          <p:cNvPr id="101" name="TextBox 100"/>
          <p:cNvSpPr txBox="1"/>
          <p:nvPr/>
        </p:nvSpPr>
        <p:spPr bwMode="gray">
          <a:xfrm>
            <a:off x="8406929" y="1593040"/>
            <a:ext cx="343043" cy="315920"/>
          </a:xfrm>
          <a:prstGeom prst="rect">
            <a:avLst/>
          </a:prstGeom>
          <a:noFill/>
        </p:spPr>
        <p:txBody>
          <a:bodyPr wrap="none" lIns="0" tIns="0" rIns="0" bIns="0" rtlCol="0">
            <a:spAutoFit/>
          </a:bodyPr>
          <a:lstStyle/>
          <a:p>
            <a:pPr algn="l">
              <a:lnSpc>
                <a:spcPct val="140000"/>
              </a:lnSpc>
            </a:pPr>
            <a:r>
              <a:rPr lang="en-US" sz="1600" dirty="0"/>
              <a:t>Yes</a:t>
            </a:r>
            <a:endParaRPr lang="en-US" sz="1600" dirty="0"/>
          </a:p>
        </p:txBody>
      </p:sp>
      <mc:AlternateContent xmlns:mc="http://schemas.openxmlformats.org/markup-compatibility/2006">
        <mc:Choice xmlns:a14="http://schemas.microsoft.com/office/drawing/2010/main" Requires="a14">
          <p:sp>
            <p:nvSpPr>
              <p:cNvPr id="102" name="Rectangle 101"/>
              <p:cNvSpPr/>
              <p:nvPr/>
            </p:nvSpPr>
            <p:spPr bwMode="gray">
              <a:xfrm>
                <a:off x="9220200" y="1311362"/>
                <a:ext cx="2057400" cy="1241054"/>
              </a:xfrm>
              <a:prstGeom prst="rect">
                <a:avLst/>
              </a:prstGeom>
              <a:solidFill>
                <a:srgbClr val="F5CDB9"/>
              </a:solidFill>
              <a:ln w="6350">
                <a:solidFill>
                  <a:srgbClr val="F6F5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Update:</a:t>
                </a:r>
                <a:endParaRPr lang="en-US" sz="1600" dirty="0">
                  <a:solidFill>
                    <a:schemeClr val="tx1"/>
                  </a:solidFill>
                </a:endParaRPr>
              </a:p>
              <a:p>
                <a:pPr algn="ctr">
                  <a:lnSpc>
                    <a:spcPct val="140000"/>
                  </a:lnSpc>
                </a:pPr>
                <a14:m>
                  <m:oMath xmlns:m="http://schemas.openxmlformats.org/officeDocument/2006/math">
                    <m:acc>
                      <m:accPr>
                        <m:ctrlPr>
                          <a:rPr lang="en-US" sz="1600" i="1" dirty="0">
                            <a:solidFill>
                              <a:schemeClr val="tx1">
                                <a:lumMod val="95000"/>
                                <a:lumOff val="5000"/>
                              </a:schemeClr>
                            </a:solidFill>
                            <a:latin typeface="Cambria Math" panose="02040503050406030204" pitchFamily="18" charset="0"/>
                          </a:rPr>
                        </m:ctrlPr>
                      </m:accPr>
                      <m:e>
                        <m:r>
                          <m:rPr>
                            <m:sty m:val="p"/>
                          </m:rPr>
                          <a:rPr lang="en-US" sz="1600" dirty="0">
                            <a:solidFill>
                              <a:schemeClr val="tx1">
                                <a:lumMod val="95000"/>
                                <a:lumOff val="5000"/>
                              </a:schemeClr>
                            </a:solidFill>
                            <a:latin typeface="Cambria Math" panose="02040503050406030204" pitchFamily="18" charset="0"/>
                          </a:rPr>
                          <m:t>Δ</m:t>
                        </m:r>
                      </m:e>
                    </m:acc>
                    <m:r>
                      <a:rPr lang="en-US" sz="1600" i="1" dirty="0">
                        <a:solidFill>
                          <a:schemeClr val="tx1">
                            <a:lumMod val="95000"/>
                            <a:lumOff val="5000"/>
                          </a:schemeClr>
                        </a:solidFill>
                        <a:latin typeface="Cambria Math" panose="02040503050406030204" pitchFamily="18" charset="0"/>
                      </a:rPr>
                      <m:t>=</m:t>
                    </m:r>
                  </m:oMath>
                </a14:m>
                <a:r>
                  <a:rPr lang="en-US" sz="1600" dirty="0">
                    <a:solidFill>
                      <a:schemeClr val="tx1"/>
                    </a:solidFill>
                  </a:rPr>
                  <a:t> posterior mean</a:t>
                </a:r>
                <a:endParaRPr lang="en-US" sz="1600" dirty="0">
                  <a:solidFill>
                    <a:schemeClr val="tx1"/>
                  </a:solidFill>
                </a:endParaRPr>
              </a:p>
              <a:p>
                <a:pPr algn="ctr">
                  <a:lnSpc>
                    <a:spcPct val="140000"/>
                  </a:lnSpc>
                </a:pPr>
                <a14:m>
                  <m:oMath xmlns:m="http://schemas.openxmlformats.org/officeDocument/2006/math">
                    <m:acc>
                      <m:accPr>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𝜎</m:t>
                        </m:r>
                      </m:e>
                    </m:acc>
                    <m:r>
                      <a:rPr lang="en-US" sz="1600" b="0" i="1" dirty="0" smtClean="0">
                        <a:solidFill>
                          <a:schemeClr val="tx1"/>
                        </a:solidFill>
                        <a:latin typeface="Cambria Math" panose="02040503050406030204" pitchFamily="18" charset="0"/>
                      </a:rPr>
                      <m:t>=</m:t>
                    </m:r>
                  </m:oMath>
                </a14:m>
                <a:r>
                  <a:rPr lang="en-US" sz="1600" dirty="0">
                    <a:solidFill>
                      <a:schemeClr val="tx1"/>
                    </a:solidFill>
                  </a:rPr>
                  <a:t> posterior SD</a:t>
                </a:r>
                <a:endParaRPr lang="en-US" sz="1600" dirty="0">
                  <a:solidFill>
                    <a:schemeClr val="tx1"/>
                  </a:solidFill>
                </a:endParaRPr>
              </a:p>
              <a:p>
                <a:pPr algn="ctr">
                  <a:lnSpc>
                    <a:spcPct val="140000"/>
                  </a:lnSpc>
                </a:pPr>
                <a:endParaRPr lang="en-US" sz="1600" dirty="0">
                  <a:solidFill>
                    <a:schemeClr val="tx1"/>
                  </a:solidFill>
                </a:endParaRPr>
              </a:p>
            </p:txBody>
          </p:sp>
        </mc:Choice>
        <mc:Fallback>
          <p:sp>
            <p:nvSpPr>
              <p:cNvPr id="102" name="Rectangle 101"/>
              <p:cNvSpPr>
                <a:spLocks noRot="1" noChangeAspect="1" noMove="1" noResize="1" noEditPoints="1" noAdjustHandles="1" noChangeArrowheads="1" noChangeShapeType="1" noTextEdit="1"/>
              </p:cNvSpPr>
              <p:nvPr/>
            </p:nvSpPr>
            <p:spPr bwMode="gray">
              <a:xfrm>
                <a:off x="9220200" y="1311362"/>
                <a:ext cx="2057400" cy="1241054"/>
              </a:xfrm>
              <a:prstGeom prst="rect">
                <a:avLst/>
              </a:prstGeom>
              <a:blipFill rotWithShape="1">
                <a:blip r:embed="rId3"/>
                <a:stretch>
                  <a:fillRect l="-247" t="-6556" r="-216" b="-6623"/>
                </a:stretch>
              </a:blipFill>
              <a:ln w="6350">
                <a:solidFill>
                  <a:srgbClr val="F6F5F3"/>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9" name="Straight Arrow Connector 8"/>
          <p:cNvCxnSpPr>
            <a:stCxn id="95" idx="3"/>
          </p:cNvCxnSpPr>
          <p:nvPr/>
        </p:nvCxnSpPr>
        <p:spPr bwMode="gray">
          <a:xfrm>
            <a:off x="8004436" y="1923574"/>
            <a:ext cx="1215764" cy="166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angle: Rounded Corners 12"/>
              <p:cNvSpPr/>
              <p:nvPr/>
            </p:nvSpPr>
            <p:spPr bwMode="gray">
              <a:xfrm>
                <a:off x="401734" y="1179623"/>
                <a:ext cx="3408266" cy="1487899"/>
              </a:xfrm>
              <a:prstGeom prst="roundRect">
                <a:avLst/>
              </a:prstGeom>
              <a:solidFill>
                <a:srgbClr val="E5F5E1"/>
              </a:solid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1600" dirty="0">
                    <a:solidFill>
                      <a:schemeClr val="tx1"/>
                    </a:solidFill>
                  </a:rPr>
                  <a:t>Observed Phase II estimates:</a:t>
                </a:r>
                <a:endParaRPr lang="en-US" sz="1600" dirty="0">
                  <a:solidFill>
                    <a:schemeClr val="tx1"/>
                  </a:solidFill>
                </a:endParaRPr>
              </a:p>
              <a:p>
                <a:pPr marL="285750" indent="-285750">
                  <a:lnSpc>
                    <a:spcPct val="140000"/>
                  </a:lnSpc>
                  <a:buFont typeface="Arial" panose="020B0604020202020204" pitchFamily="34" charset="0"/>
                  <a:buChar char="•"/>
                </a:pPr>
                <a:r>
                  <a:rPr lang="en-US" sz="1600" dirty="0">
                    <a:solidFill>
                      <a:schemeClr val="tx1"/>
                    </a:solidFill>
                  </a:rPr>
                  <a:t>Group </a:t>
                </a:r>
                <a:r>
                  <a:rPr lang="en-US" sz="1600" dirty="0">
                    <a:solidFill>
                      <a:schemeClr val="tx1">
                        <a:lumMod val="95000"/>
                        <a:lumOff val="5000"/>
                      </a:schemeClr>
                    </a:solidFill>
                  </a:rPr>
                  <a:t>Mean Difference </a:t>
                </a:r>
                <a:endParaRPr lang="en-US" sz="1600" i="1" dirty="0">
                  <a:solidFill>
                    <a:schemeClr val="tx1">
                      <a:lumMod val="95000"/>
                      <a:lumOff val="5000"/>
                    </a:schemeClr>
                  </a:solidFill>
                  <a:latin typeface="Cambria Math" panose="02040503050406030204" pitchFamily="18" charset="0"/>
                </a:endParaRPr>
              </a:p>
              <a:p>
                <a:pPr algn="ctr">
                  <a:lnSpc>
                    <a:spcPct val="140000"/>
                  </a:lnSpc>
                </a:pPr>
                <a14:m>
                  <m:oMath xmlns:m="http://schemas.openxmlformats.org/officeDocument/2006/math">
                    <m:acc>
                      <m:accPr>
                        <m:ctrlPr>
                          <a:rPr lang="en-US" sz="1600" i="1" dirty="0">
                            <a:solidFill>
                              <a:schemeClr val="tx1">
                                <a:lumMod val="95000"/>
                                <a:lumOff val="5000"/>
                              </a:schemeClr>
                            </a:solidFill>
                            <a:latin typeface="Cambria Math" panose="02040503050406030204" pitchFamily="18" charset="0"/>
                          </a:rPr>
                        </m:ctrlPr>
                      </m:accPr>
                      <m:e>
                        <m:r>
                          <m:rPr>
                            <m:sty m:val="p"/>
                          </m:rPr>
                          <a:rPr lang="en-US" sz="1600" dirty="0">
                            <a:solidFill>
                              <a:schemeClr val="tx1">
                                <a:lumMod val="95000"/>
                                <a:lumOff val="5000"/>
                              </a:schemeClr>
                            </a:solidFill>
                            <a:latin typeface="Cambria Math" panose="02040503050406030204" pitchFamily="18" charset="0"/>
                          </a:rPr>
                          <m:t>Δ</m:t>
                        </m:r>
                      </m:e>
                    </m:acc>
                    <m:r>
                      <a:rPr lang="en-US" sz="1600" b="0" i="1" dirty="0" smtClean="0">
                        <a:solidFill>
                          <a:schemeClr val="tx1">
                            <a:lumMod val="95000"/>
                            <a:lumOff val="5000"/>
                          </a:schemeClr>
                        </a:solidFill>
                        <a:latin typeface="Cambria Math" panose="02040503050406030204" pitchFamily="18" charset="0"/>
                      </a:rPr>
                      <m:t>=</m:t>
                    </m:r>
                    <m:sSub>
                      <m:sSubPr>
                        <m:ctrlPr>
                          <a:rPr lang="en-US" sz="1600" i="1">
                            <a:solidFill>
                              <a:schemeClr val="tx1">
                                <a:lumMod val="95000"/>
                                <a:lumOff val="5000"/>
                              </a:schemeClr>
                            </a:solidFill>
                            <a:latin typeface="Cambria Math" panose="02040503050406030204" pitchFamily="18" charset="0"/>
                          </a:rPr>
                        </m:ctrlPr>
                      </m:sSubPr>
                      <m:e>
                        <m:acc>
                          <m:accPr>
                            <m:ctrlPr>
                              <a:rPr lang="en-US" sz="1600" i="1">
                                <a:solidFill>
                                  <a:schemeClr val="tx1">
                                    <a:lumMod val="95000"/>
                                    <a:lumOff val="5000"/>
                                  </a:schemeClr>
                                </a:solidFill>
                                <a:latin typeface="Cambria Math" panose="02040503050406030204" pitchFamily="18" charset="0"/>
                              </a:rPr>
                            </m:ctrlPr>
                          </m:accPr>
                          <m:e>
                            <m:r>
                              <a:rPr lang="en-US" sz="1600" i="1">
                                <a:solidFill>
                                  <a:schemeClr val="tx1">
                                    <a:lumMod val="95000"/>
                                    <a:lumOff val="5000"/>
                                  </a:schemeClr>
                                </a:solidFill>
                                <a:latin typeface="Cambria Math" panose="02040503050406030204" pitchFamily="18" charset="0"/>
                              </a:rPr>
                              <m:t>𝜇</m:t>
                            </m:r>
                          </m:e>
                        </m:acc>
                      </m:e>
                      <m:sub>
                        <m:r>
                          <a:rPr lang="en-US" sz="1600" i="1">
                            <a:solidFill>
                              <a:schemeClr val="tx1">
                                <a:lumMod val="95000"/>
                                <a:lumOff val="5000"/>
                              </a:schemeClr>
                            </a:solidFill>
                            <a:latin typeface="Cambria Math" panose="02040503050406030204" pitchFamily="18" charset="0"/>
                          </a:rPr>
                          <m:t>1</m:t>
                        </m:r>
                      </m:sub>
                    </m:sSub>
                    <m:r>
                      <a:rPr lang="en-US" sz="1600" i="1">
                        <a:solidFill>
                          <a:schemeClr val="tx1">
                            <a:lumMod val="95000"/>
                            <a:lumOff val="5000"/>
                          </a:schemeClr>
                        </a:solidFill>
                        <a:latin typeface="Cambria Math" panose="02040503050406030204" pitchFamily="18" charset="0"/>
                      </a:rPr>
                      <m:t> </m:t>
                    </m:r>
                  </m:oMath>
                </a14:m>
                <a:r>
                  <a:rPr lang="en-US" sz="1600" dirty="0">
                    <a:solidFill>
                      <a:schemeClr val="tx1">
                        <a:lumMod val="95000"/>
                        <a:lumOff val="5000"/>
                      </a:schemeClr>
                    </a:solidFill>
                  </a:rPr>
                  <a:t>-</a:t>
                </a:r>
                <a14:m>
                  <m:oMath xmlns:m="http://schemas.openxmlformats.org/officeDocument/2006/math">
                    <m:sSub>
                      <m:sSubPr>
                        <m:ctrlPr>
                          <a:rPr lang="en-US" sz="1600" i="1">
                            <a:solidFill>
                              <a:schemeClr val="tx1">
                                <a:lumMod val="95000"/>
                                <a:lumOff val="5000"/>
                              </a:schemeClr>
                            </a:solidFill>
                            <a:latin typeface="Cambria Math" panose="02040503050406030204" pitchFamily="18" charset="0"/>
                          </a:rPr>
                        </m:ctrlPr>
                      </m:sSubPr>
                      <m:e>
                        <m:acc>
                          <m:accPr>
                            <m:ctrlPr>
                              <a:rPr lang="en-US" sz="1600" i="1">
                                <a:solidFill>
                                  <a:schemeClr val="tx1">
                                    <a:lumMod val="95000"/>
                                    <a:lumOff val="5000"/>
                                  </a:schemeClr>
                                </a:solidFill>
                                <a:latin typeface="Cambria Math" panose="02040503050406030204" pitchFamily="18" charset="0"/>
                              </a:rPr>
                            </m:ctrlPr>
                          </m:accPr>
                          <m:e>
                            <m:r>
                              <a:rPr lang="en-US" sz="1600" i="1">
                                <a:solidFill>
                                  <a:schemeClr val="tx1">
                                    <a:lumMod val="95000"/>
                                    <a:lumOff val="5000"/>
                                  </a:schemeClr>
                                </a:solidFill>
                                <a:latin typeface="Cambria Math" panose="02040503050406030204" pitchFamily="18" charset="0"/>
                              </a:rPr>
                              <m:t>𝜇</m:t>
                            </m:r>
                          </m:e>
                        </m:acc>
                      </m:e>
                      <m:sub>
                        <m:r>
                          <a:rPr lang="en-US" sz="1600" b="0" i="1" smtClean="0">
                            <a:solidFill>
                              <a:schemeClr val="tx1">
                                <a:lumMod val="95000"/>
                                <a:lumOff val="5000"/>
                              </a:schemeClr>
                            </a:solidFill>
                            <a:latin typeface="Cambria Math" panose="02040503050406030204" pitchFamily="18" charset="0"/>
                          </a:rPr>
                          <m:t>2</m:t>
                        </m:r>
                      </m:sub>
                    </m:sSub>
                    <m:r>
                      <a:rPr lang="en-US" sz="1600" i="1">
                        <a:solidFill>
                          <a:schemeClr val="tx1">
                            <a:lumMod val="95000"/>
                            <a:lumOff val="5000"/>
                          </a:schemeClr>
                        </a:solidFill>
                        <a:latin typeface="Cambria Math" panose="02040503050406030204" pitchFamily="18" charset="0"/>
                      </a:rPr>
                      <m:t> </m:t>
                    </m:r>
                  </m:oMath>
                </a14:m>
                <a:endParaRPr lang="en-US" sz="1600" dirty="0">
                  <a:solidFill>
                    <a:schemeClr val="tx1">
                      <a:lumMod val="95000"/>
                      <a:lumOff val="5000"/>
                    </a:schemeClr>
                  </a:solidFill>
                </a:endParaRPr>
              </a:p>
              <a:p>
                <a:pPr marL="285750" indent="-285750">
                  <a:lnSpc>
                    <a:spcPct val="140000"/>
                  </a:lnSpc>
                  <a:buFont typeface="Arial" panose="020B0604020202020204" pitchFamily="34" charset="0"/>
                  <a:buChar char="•"/>
                </a:pPr>
                <a:r>
                  <a:rPr lang="en-US" sz="1600" dirty="0">
                    <a:solidFill>
                      <a:schemeClr val="tx1"/>
                    </a:solidFill>
                  </a:rPr>
                  <a:t>Pooled Standard Deviation </a:t>
                </a:r>
                <a14:m>
                  <m:oMath xmlns:m="http://schemas.openxmlformats.org/officeDocument/2006/math">
                    <m:acc>
                      <m:accPr>
                        <m:ctrlPr>
                          <a:rPr lang="en-US" sz="1600" i="1" dirty="0">
                            <a:solidFill>
                              <a:schemeClr val="tx1"/>
                            </a:solidFill>
                            <a:latin typeface="Cambria Math" panose="02040503050406030204" pitchFamily="18" charset="0"/>
                          </a:rPr>
                        </m:ctrlPr>
                      </m:accPr>
                      <m:e>
                        <m:r>
                          <a:rPr lang="en-US" sz="1600" i="1" dirty="0">
                            <a:solidFill>
                              <a:schemeClr val="tx1"/>
                            </a:solidFill>
                            <a:latin typeface="Cambria Math" panose="02040503050406030204" pitchFamily="18" charset="0"/>
                          </a:rPr>
                          <m:t>𝜎</m:t>
                        </m:r>
                      </m:e>
                    </m:acc>
                  </m:oMath>
                </a14:m>
                <a:endParaRPr lang="en-US" sz="1600" dirty="0">
                  <a:solidFill>
                    <a:schemeClr val="tx1"/>
                  </a:solidFill>
                </a:endParaRPr>
              </a:p>
            </p:txBody>
          </p:sp>
        </mc:Choice>
        <mc:Fallback>
          <p:sp>
            <p:nvSpPr>
              <p:cNvPr id="13" name="Rectangle: Rounded Corners 12"/>
              <p:cNvSpPr>
                <a:spLocks noRot="1" noChangeAspect="1" noMove="1" noResize="1" noEditPoints="1" noAdjustHandles="1" noChangeArrowheads="1" noChangeShapeType="1" noTextEdit="1"/>
              </p:cNvSpPr>
              <p:nvPr/>
            </p:nvSpPr>
            <p:spPr bwMode="gray">
              <a:xfrm>
                <a:off x="401734" y="1179623"/>
                <a:ext cx="3408266" cy="1487899"/>
              </a:xfrm>
              <a:prstGeom prst="roundRect">
                <a:avLst/>
              </a:prstGeom>
              <a:blipFill rotWithShape="1">
                <a:blip r:embed="rId4"/>
                <a:stretch>
                  <a:fillRect l="-143" t="-328" r="-130" b="-306"/>
                </a:stretch>
              </a:blipFill>
              <a:ln w="63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7" name="Diamond 16"/>
          <p:cNvSpPr/>
          <p:nvPr/>
        </p:nvSpPr>
        <p:spPr bwMode="gray">
          <a:xfrm>
            <a:off x="848567" y="2886912"/>
            <a:ext cx="2514600" cy="779375"/>
          </a:xfrm>
          <a:prstGeom prst="diamond">
            <a:avLst/>
          </a:prstGeom>
          <a:solidFill>
            <a:srgbClr val="E5E3DE"/>
          </a:solidFill>
          <a:ln w="635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600" dirty="0">
                <a:solidFill>
                  <a:schemeClr val="tx1"/>
                </a:solidFill>
              </a:rPr>
              <a:t>PB method</a:t>
            </a:r>
            <a:endParaRPr lang="en-US" sz="1600" dirty="0">
              <a:solidFill>
                <a:schemeClr val="tx1"/>
              </a:solidFill>
            </a:endParaRPr>
          </a:p>
        </p:txBody>
      </p:sp>
      <p:cxnSp>
        <p:nvCxnSpPr>
          <p:cNvPr id="19" name="Straight Arrow Connector 18"/>
          <p:cNvCxnSpPr>
            <a:stCxn id="13" idx="2"/>
          </p:cNvCxnSpPr>
          <p:nvPr/>
        </p:nvCxnSpPr>
        <p:spPr bwMode="gray">
          <a:xfrm>
            <a:off x="2105867" y="2667522"/>
            <a:ext cx="0" cy="22807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2"/>
            <a:endCxn id="31" idx="0"/>
          </p:cNvCxnSpPr>
          <p:nvPr/>
        </p:nvCxnSpPr>
        <p:spPr bwMode="gray">
          <a:xfrm>
            <a:off x="2105867" y="3666287"/>
            <a:ext cx="0" cy="44517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bwMode="gray">
          <a:xfrm>
            <a:off x="2219953" y="3666287"/>
            <a:ext cx="343043" cy="315920"/>
          </a:xfrm>
          <a:prstGeom prst="rect">
            <a:avLst/>
          </a:prstGeom>
          <a:noFill/>
        </p:spPr>
        <p:txBody>
          <a:bodyPr wrap="none" lIns="0" tIns="0" rIns="0" bIns="0" rtlCol="0">
            <a:spAutoFit/>
          </a:bodyPr>
          <a:lstStyle/>
          <a:p>
            <a:pPr algn="l">
              <a:lnSpc>
                <a:spcPct val="140000"/>
              </a:lnSpc>
            </a:pPr>
            <a:r>
              <a:rPr lang="en-US" sz="1600" dirty="0"/>
              <a:t>Yes</a:t>
            </a:r>
            <a:endParaRPr lang="en-US" sz="1600" dirty="0"/>
          </a:p>
        </p:txBody>
      </p:sp>
      <p:cxnSp>
        <p:nvCxnSpPr>
          <p:cNvPr id="24" name="Connector: Curved 23"/>
          <p:cNvCxnSpPr>
            <a:stCxn id="17" idx="3"/>
            <a:endCxn id="95" idx="1"/>
          </p:cNvCxnSpPr>
          <p:nvPr/>
        </p:nvCxnSpPr>
        <p:spPr bwMode="gray">
          <a:xfrm flipV="1">
            <a:off x="3363167" y="1923574"/>
            <a:ext cx="1364669" cy="1353026"/>
          </a:xfrm>
          <a:prstGeom prst="curved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bwMode="gray">
          <a:xfrm>
            <a:off x="4108706" y="2503085"/>
            <a:ext cx="285335" cy="315920"/>
          </a:xfrm>
          <a:prstGeom prst="rect">
            <a:avLst/>
          </a:prstGeom>
          <a:noFill/>
        </p:spPr>
        <p:txBody>
          <a:bodyPr wrap="none" lIns="0" tIns="0" rIns="0" bIns="0" rtlCol="0">
            <a:spAutoFit/>
          </a:bodyPr>
          <a:lstStyle/>
          <a:p>
            <a:pPr algn="l">
              <a:lnSpc>
                <a:spcPct val="140000"/>
              </a:lnSpc>
            </a:pPr>
            <a:r>
              <a:rPr lang="en-US" sz="1600" dirty="0"/>
              <a:t>No</a:t>
            </a:r>
            <a:endParaRPr lang="en-US" sz="1600" dirty="0"/>
          </a:p>
        </p:txBody>
      </p:sp>
      <p:sp>
        <p:nvSpPr>
          <p:cNvPr id="44" name="TextBox 43"/>
          <p:cNvSpPr txBox="1"/>
          <p:nvPr/>
        </p:nvSpPr>
        <p:spPr bwMode="gray">
          <a:xfrm>
            <a:off x="6018932" y="2773962"/>
            <a:ext cx="285335" cy="315920"/>
          </a:xfrm>
          <a:prstGeom prst="rect">
            <a:avLst/>
          </a:prstGeom>
          <a:noFill/>
        </p:spPr>
        <p:txBody>
          <a:bodyPr wrap="none" lIns="0" tIns="0" rIns="0" bIns="0" rtlCol="0">
            <a:spAutoFit/>
          </a:bodyPr>
          <a:lstStyle/>
          <a:p>
            <a:pPr algn="l">
              <a:lnSpc>
                <a:spcPct val="140000"/>
              </a:lnSpc>
            </a:pPr>
            <a:r>
              <a:rPr lang="en-US" sz="1600" dirty="0"/>
              <a:t>No</a:t>
            </a:r>
            <a:endParaRPr lang="en-US" sz="1600" dirty="0"/>
          </a:p>
        </p:txBody>
      </p:sp>
      <mc:AlternateContent xmlns:mc="http://schemas.openxmlformats.org/markup-compatibility/2006">
        <mc:Choice xmlns:a14="http://schemas.microsoft.com/office/drawing/2010/main" Requires="a14">
          <p:sp>
            <p:nvSpPr>
              <p:cNvPr id="54" name="Rectangle 53"/>
              <p:cNvSpPr/>
              <p:nvPr/>
            </p:nvSpPr>
            <p:spPr bwMode="gray">
              <a:xfrm>
                <a:off x="965025" y="5280525"/>
                <a:ext cx="2286000" cy="779375"/>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1400" dirty="0">
                    <a:solidFill>
                      <a:schemeClr val="tx1"/>
                    </a:solidFill>
                  </a:rPr>
                  <a:t>Bias-adjusted effect </a:t>
                </a:r>
                <a14:m>
                  <m:oMath xmlns:m="http://schemas.openxmlformats.org/officeDocument/2006/math">
                    <m:sSub>
                      <m:sSubPr>
                        <m:ctrlPr>
                          <a:rPr lang="en-US" sz="1400" i="1">
                            <a:solidFill>
                              <a:schemeClr val="tx1"/>
                            </a:solidFill>
                            <a:latin typeface="Cambria Math" panose="02040503050406030204" pitchFamily="18" charset="0"/>
                          </a:rPr>
                        </m:ctrlPr>
                      </m:sSubPr>
                      <m:e>
                        <m:r>
                          <m:rPr>
                            <m:sty m:val="p"/>
                          </m:rPr>
                          <a:rPr lang="en-US" sz="1400" i="1">
                            <a:solidFill>
                              <a:schemeClr val="tx1"/>
                            </a:solidFill>
                            <a:latin typeface="Cambria Math" panose="02040503050406030204" pitchFamily="18" charset="0"/>
                          </a:rPr>
                          <m:t>Δ</m:t>
                        </m:r>
                      </m:e>
                      <m:sub>
                        <m:r>
                          <a:rPr lang="en-US" sz="1400" i="1">
                            <a:solidFill>
                              <a:schemeClr val="tx1"/>
                            </a:solidFill>
                            <a:latin typeface="Cambria Math" panose="02040503050406030204" pitchFamily="18" charset="0"/>
                          </a:rPr>
                          <m:t>𝑎𝑑𝑗</m:t>
                        </m:r>
                      </m:sub>
                    </m:sSub>
                  </m:oMath>
                </a14:m>
                <a:r>
                  <a:rPr lang="en-US" sz="1400" dirty="0">
                    <a:solidFill>
                      <a:schemeClr val="tx1"/>
                    </a:solidFill>
                  </a:rPr>
                  <a:t>:</a:t>
                </a:r>
                <a:endParaRPr lang="en-US" sz="1400" dirty="0">
                  <a:solidFill>
                    <a:schemeClr val="tx1"/>
                  </a:solidFill>
                </a:endParaRPr>
              </a:p>
              <a:p>
                <a:pPr>
                  <a:lnSpc>
                    <a:spcPct val="140000"/>
                  </a:lnSpc>
                </a:pPr>
                <a:r>
                  <a:rPr lang="en-US" sz="1400" dirty="0">
                    <a:solidFill>
                      <a:schemeClr val="tx1"/>
                    </a:solidFill>
                  </a:rPr>
                  <a:t>5)   PB: </a:t>
                </a:r>
                <a14:m>
                  <m:oMath xmlns:m="http://schemas.openxmlformats.org/officeDocument/2006/math">
                    <m:acc>
                      <m:accPr>
                        <m:ctrlPr>
                          <a:rPr lang="en-US" sz="1400" i="1" dirty="0">
                            <a:solidFill>
                              <a:schemeClr val="tx1"/>
                            </a:solidFill>
                            <a:latin typeface="Cambria Math" panose="02040503050406030204" pitchFamily="18" charset="0"/>
                          </a:rPr>
                        </m:ctrlPr>
                      </m:accPr>
                      <m:e>
                        <m:r>
                          <a:rPr lang="en-US" sz="1400" i="1" dirty="0">
                            <a:solidFill>
                              <a:schemeClr val="tx1"/>
                            </a:solidFill>
                            <a:latin typeface="Cambria Math" panose="02040503050406030204" pitchFamily="18" charset="0"/>
                          </a:rPr>
                          <m:t>𝛥</m:t>
                        </m:r>
                      </m:e>
                    </m:acc>
                    <m:r>
                      <a:rPr lang="en-US" sz="1400" i="1" dirty="0">
                        <a:solidFill>
                          <a:schemeClr val="tx1"/>
                        </a:solidFill>
                        <a:latin typeface="Cambria Math" panose="02040503050406030204" pitchFamily="18" charset="0"/>
                      </a:rPr>
                      <m:t>−</m:t>
                    </m:r>
                    <m:sSub>
                      <m:sSubPr>
                        <m:ctrlPr>
                          <a:rPr lang="en-US" sz="1400" i="1" dirty="0">
                            <a:solidFill>
                              <a:schemeClr val="tx1"/>
                            </a:solidFill>
                            <a:latin typeface="Cambria Math" panose="02040503050406030204" pitchFamily="18" charset="0"/>
                          </a:rPr>
                        </m:ctrlPr>
                      </m:sSubPr>
                      <m:e>
                        <m:r>
                          <a:rPr lang="en-US" sz="1400" i="1" dirty="0">
                            <a:solidFill>
                              <a:schemeClr val="tx1"/>
                            </a:solidFill>
                            <a:latin typeface="Cambria Math" panose="02040503050406030204" pitchFamily="18" charset="0"/>
                          </a:rPr>
                          <m:t>𝑞</m:t>
                        </m:r>
                      </m:e>
                      <m:sub>
                        <m:r>
                          <a:rPr lang="en-US" sz="1400" i="1" dirty="0">
                            <a:solidFill>
                              <a:schemeClr val="tx1"/>
                            </a:solidFill>
                            <a:latin typeface="Cambria Math" panose="02040503050406030204" pitchFamily="18" charset="0"/>
                          </a:rPr>
                          <m:t>20</m:t>
                        </m:r>
                      </m:sub>
                    </m:sSub>
                  </m:oMath>
                </a14:m>
                <a:endParaRPr lang="en-US" sz="1400" dirty="0">
                  <a:solidFill>
                    <a:schemeClr val="tx1"/>
                  </a:solidFill>
                </a:endParaRPr>
              </a:p>
            </p:txBody>
          </p:sp>
        </mc:Choice>
        <mc:Fallback>
          <p:sp>
            <p:nvSpPr>
              <p:cNvPr id="54" name="Rectangle 53"/>
              <p:cNvSpPr>
                <a:spLocks noRot="1" noChangeAspect="1" noMove="1" noResize="1" noEditPoints="1" noAdjustHandles="1" noChangeArrowheads="1" noChangeShapeType="1" noTextEdit="1"/>
              </p:cNvSpPr>
              <p:nvPr/>
            </p:nvSpPr>
            <p:spPr bwMode="gray">
              <a:xfrm>
                <a:off x="965025" y="5280525"/>
                <a:ext cx="2286000" cy="779375"/>
              </a:xfrm>
              <a:prstGeom prst="rect">
                <a:avLst/>
              </a:prstGeom>
              <a:blipFill rotWithShape="1">
                <a:blip r:embed="rId5"/>
                <a:stretch>
                  <a:fillRect l="-215" t="-634" r="-202" b="-558"/>
                </a:stretch>
              </a:blip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56" name="Straight Arrow Connector 55"/>
          <p:cNvCxnSpPr>
            <a:stCxn id="31" idx="2"/>
          </p:cNvCxnSpPr>
          <p:nvPr/>
        </p:nvCxnSpPr>
        <p:spPr bwMode="gray">
          <a:xfrm>
            <a:off x="2105867" y="4890838"/>
            <a:ext cx="0" cy="36696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95" idx="2"/>
          </p:cNvCxnSpPr>
          <p:nvPr/>
        </p:nvCxnSpPr>
        <p:spPr bwMode="gray">
          <a:xfrm>
            <a:off x="6366136" y="2728623"/>
            <a:ext cx="0" cy="140075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02" idx="2"/>
          </p:cNvCxnSpPr>
          <p:nvPr/>
        </p:nvCxnSpPr>
        <p:spPr bwMode="gray">
          <a:xfrm>
            <a:off x="10248900" y="2552416"/>
            <a:ext cx="0" cy="163858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Rectangle 73"/>
              <p:cNvSpPr/>
              <p:nvPr/>
            </p:nvSpPr>
            <p:spPr bwMode="gray">
              <a:xfrm>
                <a:off x="8887769" y="4174421"/>
                <a:ext cx="2711564" cy="1150823"/>
              </a:xfrm>
              <a:prstGeom prst="rect">
                <a:avLst/>
              </a:prstGeom>
              <a:solidFill>
                <a:srgbClr val="FBF9AA"/>
              </a:solid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sz="1400" dirty="0">
                    <a:solidFill>
                      <a:schemeClr val="tx1"/>
                    </a:solidFill>
                  </a:rPr>
                  <a:t>Bias-adjusted effect </a:t>
                </a:r>
                <a14:m>
                  <m:oMath xmlns:m="http://schemas.openxmlformats.org/officeDocument/2006/math">
                    <m:sSub>
                      <m:sSubPr>
                        <m:ctrlPr>
                          <a:rPr lang="en-US" sz="1400" i="1">
                            <a:solidFill>
                              <a:schemeClr val="tx1"/>
                            </a:solidFill>
                            <a:latin typeface="Cambria Math" panose="02040503050406030204" pitchFamily="18" charset="0"/>
                          </a:rPr>
                        </m:ctrlPr>
                      </m:sSubPr>
                      <m:e>
                        <m:r>
                          <m:rPr>
                            <m:sty m:val="p"/>
                          </m:rPr>
                          <a:rPr lang="en-US" sz="1400" i="1">
                            <a:solidFill>
                              <a:schemeClr val="tx1"/>
                            </a:solidFill>
                            <a:latin typeface="Cambria Math" panose="02040503050406030204" pitchFamily="18" charset="0"/>
                          </a:rPr>
                          <m:t>Δ</m:t>
                        </m:r>
                      </m:e>
                      <m:sub>
                        <m:r>
                          <a:rPr lang="en-US" sz="1400" i="1">
                            <a:solidFill>
                              <a:schemeClr val="tx1"/>
                            </a:solidFill>
                            <a:latin typeface="Cambria Math" panose="02040503050406030204" pitchFamily="18" charset="0"/>
                          </a:rPr>
                          <m:t>𝑎𝑑𝑗</m:t>
                        </m:r>
                      </m:sub>
                    </m:sSub>
                  </m:oMath>
                </a14:m>
                <a:r>
                  <a:rPr lang="en-US" sz="1400" dirty="0">
                    <a:solidFill>
                      <a:schemeClr val="tx1"/>
                    </a:solidFill>
                  </a:rPr>
                  <a:t>:</a:t>
                </a:r>
                <a:endParaRPr lang="en-US" sz="1400" dirty="0">
                  <a:solidFill>
                    <a:schemeClr val="tx1"/>
                  </a:solidFill>
                </a:endParaRPr>
              </a:p>
              <a:p>
                <a:pPr marL="342900" indent="-342900">
                  <a:lnSpc>
                    <a:spcPct val="140000"/>
                  </a:lnSpc>
                  <a:buFont typeface="+mj-lt"/>
                  <a:buAutoNum type="arabicParenR"/>
                </a:pPr>
                <a:r>
                  <a:rPr lang="en-US" sz="1400" dirty="0">
                    <a:solidFill>
                      <a:schemeClr val="tx1"/>
                    </a:solidFill>
                  </a:rPr>
                  <a:t>Informative Prior Method: </a:t>
                </a:r>
                <a14:m>
                  <m:oMath xmlns:m="http://schemas.openxmlformats.org/officeDocument/2006/math">
                    <m:sSub>
                      <m:sSubPr>
                        <m:ctrlPr>
                          <a:rPr lang="en-US" sz="1400" i="1">
                            <a:solidFill>
                              <a:schemeClr val="tx1"/>
                            </a:solidFill>
                            <a:latin typeface="Cambria Math" panose="02040503050406030204" pitchFamily="18" charset="0"/>
                          </a:rPr>
                        </m:ctrlPr>
                      </m:sSubPr>
                      <m:e>
                        <m:r>
                          <m:rPr>
                            <m:sty m:val="p"/>
                          </m:rPr>
                          <a:rPr lang="en-US" sz="1400" i="1">
                            <a:solidFill>
                              <a:schemeClr val="tx1"/>
                            </a:solidFill>
                            <a:latin typeface="Cambria Math" panose="02040503050406030204" pitchFamily="18" charset="0"/>
                          </a:rPr>
                          <m:t>Δ</m:t>
                        </m:r>
                      </m:e>
                      <m:sub>
                        <m:r>
                          <a:rPr lang="en-US" sz="1400" i="1">
                            <a:solidFill>
                              <a:schemeClr val="tx1"/>
                            </a:solidFill>
                            <a:latin typeface="Cambria Math" panose="02040503050406030204" pitchFamily="18" charset="0"/>
                          </a:rPr>
                          <m:t>𝑎𝑑𝑗</m:t>
                        </m:r>
                      </m:sub>
                    </m:sSub>
                    <m:r>
                      <a:rPr lang="en-US" sz="1400" b="0" i="0" smtClean="0">
                        <a:solidFill>
                          <a:schemeClr val="tx1"/>
                        </a:solidFill>
                        <a:latin typeface="Cambria Math" panose="02040503050406030204" pitchFamily="18" charset="0"/>
                      </a:rPr>
                      <m:t>=</m:t>
                    </m:r>
                    <m:acc>
                      <m:accPr>
                        <m:ctrlPr>
                          <a:rPr lang="en-US" sz="1400" i="1" dirty="0">
                            <a:solidFill>
                              <a:schemeClr val="tx1"/>
                            </a:solidFill>
                            <a:latin typeface="Cambria Math" panose="02040503050406030204" pitchFamily="18" charset="0"/>
                          </a:rPr>
                        </m:ctrlPr>
                      </m:accPr>
                      <m:e>
                        <m:r>
                          <a:rPr lang="en-US" sz="1400" i="1" dirty="0">
                            <a:solidFill>
                              <a:schemeClr val="tx1"/>
                            </a:solidFill>
                            <a:latin typeface="Cambria Math" panose="02040503050406030204" pitchFamily="18" charset="0"/>
                          </a:rPr>
                          <m:t>𝛥</m:t>
                        </m:r>
                      </m:e>
                    </m:acc>
                  </m:oMath>
                </a14:m>
                <a:endParaRPr lang="en-US" sz="1400" dirty="0">
                  <a:solidFill>
                    <a:schemeClr val="tx1"/>
                  </a:solidFill>
                </a:endParaRPr>
              </a:p>
            </p:txBody>
          </p:sp>
        </mc:Choice>
        <mc:Fallback>
          <p:sp>
            <p:nvSpPr>
              <p:cNvPr id="74" name="Rectangle 73"/>
              <p:cNvSpPr>
                <a:spLocks noRot="1" noChangeAspect="1" noMove="1" noResize="1" noEditPoints="1" noAdjustHandles="1" noChangeArrowheads="1" noChangeShapeType="1" noTextEdit="1"/>
              </p:cNvSpPr>
              <p:nvPr/>
            </p:nvSpPr>
            <p:spPr bwMode="gray">
              <a:xfrm>
                <a:off x="8887769" y="4174421"/>
                <a:ext cx="2711564" cy="1150823"/>
              </a:xfrm>
              <a:prstGeom prst="rect">
                <a:avLst/>
              </a:prstGeom>
              <a:blipFill rotWithShape="1">
                <a:blip r:embed="rId6"/>
                <a:stretch>
                  <a:fillRect l="-199" t="-435" r="-172" b="-375"/>
                </a:stretch>
              </a:blipFill>
              <a:ln w="6350">
                <a:solidFill>
                  <a:srgbClr val="FBF9AA"/>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80" name="Ellipse 15"/>
          <p:cNvSpPr>
            <a:spLocks noChangeAspect="1"/>
          </p:cNvSpPr>
          <p:nvPr/>
        </p:nvSpPr>
        <p:spPr bwMode="gray">
          <a:xfrm>
            <a:off x="4251373" y="4530814"/>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dirty="0">
                <a:solidFill>
                  <a:schemeClr val="bg1"/>
                </a:solidFill>
              </a:rPr>
              <a:t>1</a:t>
            </a:r>
            <a:endParaRPr lang="en-US" sz="1200" noProof="0" dirty="0">
              <a:solidFill>
                <a:schemeClr val="bg1"/>
              </a:solidFill>
            </a:endParaRPr>
          </a:p>
        </p:txBody>
      </p:sp>
      <p:sp>
        <p:nvSpPr>
          <p:cNvPr id="84" name="Ellipse 15"/>
          <p:cNvSpPr>
            <a:spLocks noChangeAspect="1"/>
          </p:cNvSpPr>
          <p:nvPr/>
        </p:nvSpPr>
        <p:spPr bwMode="gray">
          <a:xfrm>
            <a:off x="4251373" y="4830299"/>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noProof="0" dirty="0">
                <a:solidFill>
                  <a:schemeClr val="bg1"/>
                </a:solidFill>
              </a:rPr>
              <a:t>2</a:t>
            </a:r>
            <a:endParaRPr lang="en-US" sz="1200" noProof="0" dirty="0">
              <a:solidFill>
                <a:schemeClr val="bg1"/>
              </a:solidFill>
            </a:endParaRPr>
          </a:p>
        </p:txBody>
      </p:sp>
      <p:sp>
        <p:nvSpPr>
          <p:cNvPr id="85" name="Ellipse 15"/>
          <p:cNvSpPr>
            <a:spLocks noChangeAspect="1"/>
          </p:cNvSpPr>
          <p:nvPr/>
        </p:nvSpPr>
        <p:spPr bwMode="gray">
          <a:xfrm>
            <a:off x="4251373" y="5129784"/>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dirty="0">
                <a:solidFill>
                  <a:schemeClr val="bg1"/>
                </a:solidFill>
              </a:rPr>
              <a:t>4</a:t>
            </a:r>
            <a:endParaRPr lang="en-US" sz="1200" noProof="0" dirty="0">
              <a:solidFill>
                <a:schemeClr val="bg1"/>
              </a:solidFill>
            </a:endParaRPr>
          </a:p>
        </p:txBody>
      </p:sp>
      <p:sp>
        <p:nvSpPr>
          <p:cNvPr id="87" name="Ellipse 15"/>
          <p:cNvSpPr>
            <a:spLocks noChangeAspect="1"/>
          </p:cNvSpPr>
          <p:nvPr/>
        </p:nvSpPr>
        <p:spPr bwMode="gray">
          <a:xfrm>
            <a:off x="4251373" y="5671036"/>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noProof="0" dirty="0">
                <a:solidFill>
                  <a:schemeClr val="bg1"/>
                </a:solidFill>
              </a:rPr>
              <a:t>6</a:t>
            </a:r>
            <a:endParaRPr lang="en-US" sz="1200" noProof="0" dirty="0">
              <a:solidFill>
                <a:schemeClr val="bg1"/>
              </a:solidFill>
            </a:endParaRPr>
          </a:p>
        </p:txBody>
      </p:sp>
      <p:sp>
        <p:nvSpPr>
          <p:cNvPr id="88" name="Ellipse 15"/>
          <p:cNvSpPr>
            <a:spLocks noChangeAspect="1"/>
          </p:cNvSpPr>
          <p:nvPr/>
        </p:nvSpPr>
        <p:spPr bwMode="gray">
          <a:xfrm>
            <a:off x="4251373" y="5977658"/>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noProof="0" dirty="0">
                <a:solidFill>
                  <a:schemeClr val="bg1"/>
                </a:solidFill>
              </a:rPr>
              <a:t>7</a:t>
            </a:r>
            <a:endParaRPr lang="en-US" sz="1200" noProof="0" dirty="0">
              <a:solidFill>
                <a:schemeClr val="bg1"/>
              </a:solidFill>
            </a:endParaRPr>
          </a:p>
        </p:txBody>
      </p:sp>
      <p:sp>
        <p:nvSpPr>
          <p:cNvPr id="90" name="Ellipse 15"/>
          <p:cNvSpPr>
            <a:spLocks noChangeAspect="1"/>
          </p:cNvSpPr>
          <p:nvPr/>
        </p:nvSpPr>
        <p:spPr bwMode="gray">
          <a:xfrm>
            <a:off x="8964168" y="4639383"/>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dirty="0">
                <a:solidFill>
                  <a:schemeClr val="bg1"/>
                </a:solidFill>
              </a:rPr>
              <a:t>3</a:t>
            </a:r>
            <a:endParaRPr lang="en-US" sz="1200" noProof="0" dirty="0">
              <a:solidFill>
                <a:schemeClr val="bg1"/>
              </a:solidFill>
            </a:endParaRPr>
          </a:p>
        </p:txBody>
      </p:sp>
      <p:sp>
        <p:nvSpPr>
          <p:cNvPr id="91" name="Ellipse 15"/>
          <p:cNvSpPr>
            <a:spLocks noChangeAspect="1"/>
          </p:cNvSpPr>
          <p:nvPr/>
        </p:nvSpPr>
        <p:spPr bwMode="gray">
          <a:xfrm>
            <a:off x="1002015" y="5750289"/>
            <a:ext cx="256032" cy="256032"/>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nchorCtr="1"/>
          <a:lstStyle/>
          <a:p>
            <a:pPr algn="ctr">
              <a:lnSpc>
                <a:spcPct val="140000"/>
              </a:lnSpc>
            </a:pPr>
            <a:r>
              <a:rPr lang="en-US" sz="1200" dirty="0">
                <a:solidFill>
                  <a:schemeClr val="bg1"/>
                </a:solidFill>
              </a:rPr>
              <a:t>5</a:t>
            </a:r>
            <a:endParaRPr lang="en-US" sz="1200" noProof="0" dirty="0">
              <a:solidFill>
                <a:schemeClr val="bg1"/>
              </a:solidFill>
            </a:endParaRPr>
          </a:p>
        </p:txBody>
      </p:sp>
      <p:sp>
        <p:nvSpPr>
          <p:cNvPr id="3" name="Foliennummernplatzhalter 5"/>
          <p:cNvSpPr>
            <a:spLocks noGrp="1"/>
          </p:cNvSpPr>
          <p:nvPr>
            <p:ph type="sldNum" sz="quarter" idx="11"/>
          </p:nvPr>
        </p:nvSpPr>
        <p:spPr>
          <a:xfrm>
            <a:off x="11424592" y="6246836"/>
            <a:ext cx="288000" cy="288000"/>
          </a:xfrm>
        </p:spPr>
        <p:txBody>
          <a:bodyPr/>
          <a:lstStyle/>
          <a:p>
            <a:fld id="{8FF9B0DE-3FEB-4AA0-B465-B80EF7C1333D}" type="slidenum">
              <a:rPr lang="en-US" noProof="0" smtClean="0"/>
            </a:fld>
            <a:endParaRPr lang="en-US" noProof="0" dirty="0"/>
          </a:p>
        </p:txBody>
      </p:sp>
      <p:cxnSp>
        <p:nvCxnSpPr>
          <p:cNvPr id="5" name="Straight Arrow Connector 4"/>
          <p:cNvCxnSpPr>
            <a:stCxn id="102" idx="2"/>
            <a:endCxn id="48" idx="0"/>
          </p:cNvCxnSpPr>
          <p:nvPr/>
        </p:nvCxnSpPr>
        <p:spPr bwMode="gray">
          <a:xfrm flipH="1">
            <a:off x="6366136" y="2552416"/>
            <a:ext cx="3882764" cy="157696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el 12"/>
          <p:cNvSpPr>
            <a:spLocks noGrp="1"/>
          </p:cNvSpPr>
          <p:nvPr>
            <p:ph type="title"/>
          </p:nvPr>
        </p:nvSpPr>
        <p:spPr bwMode="gray">
          <a:xfrm>
            <a:off x="479424" y="672728"/>
            <a:ext cx="11233151" cy="720000"/>
          </a:xfrm>
        </p:spPr>
        <p:txBody>
          <a:bodyPr/>
          <a:lstStyle/>
          <a:p>
            <a:r>
              <a:rPr lang="en-US" sz="2200" noProof="0" dirty="0"/>
              <a:t>Phase II </a:t>
            </a:r>
            <a:r>
              <a:rPr lang="en-US" sz="2200" dirty="0"/>
              <a:t>Effect </a:t>
            </a:r>
            <a:r>
              <a:rPr lang="en-US" sz="2200" noProof="0" dirty="0"/>
              <a:t>Bias: </a:t>
            </a:r>
            <a:r>
              <a:rPr lang="en-US" sz="2200" b="0" noProof="0" dirty="0"/>
              <a:t>negative scenario</a:t>
            </a:r>
            <a:endParaRPr lang="en-US" sz="2200" noProof="0" dirty="0"/>
          </a:p>
        </p:txBody>
      </p:sp>
      <p:sp>
        <p:nvSpPr>
          <p:cNvPr id="10" name="Textplatzhalter 9"/>
          <p:cNvSpPr>
            <a:spLocks noGrp="1"/>
          </p:cNvSpPr>
          <p:nvPr>
            <p:ph type="body" sz="quarter" idx="13"/>
          </p:nvPr>
        </p:nvSpPr>
        <p:spPr bwMode="gray">
          <a:xfrm>
            <a:off x="3352800" y="5724498"/>
            <a:ext cx="11232000" cy="144000"/>
          </a:xfrm>
        </p:spPr>
        <p:txBody>
          <a:bodyPr/>
          <a:lstStyle/>
          <a:p>
            <a:r>
              <a:rPr lang="en-US" sz="1000" noProof="0" dirty="0"/>
              <a:t>Note</a:t>
            </a:r>
            <a:r>
              <a:rPr lang="en-US" sz="1000" dirty="0"/>
              <a:t>: MCLE groups have extreme negative outliers below -3 in the top panel, which are not shown.</a:t>
            </a:r>
            <a:endParaRPr lang="en-US" sz="100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grpSp>
        <p:nvGrpSpPr>
          <p:cNvPr id="15" name="Group 3"/>
          <p:cNvGrpSpPr/>
          <p:nvPr/>
        </p:nvGrpSpPr>
        <p:grpSpPr>
          <a:xfrm>
            <a:off x="8840771" y="183838"/>
            <a:ext cx="2946400" cy="521870"/>
            <a:chOff x="0" y="0"/>
            <a:chExt cx="19541547" cy="1002592"/>
          </a:xfrm>
        </p:grpSpPr>
        <p:grpSp>
          <p:nvGrpSpPr>
            <p:cNvPr id="17" name="Group 4"/>
            <p:cNvGrpSpPr/>
            <p:nvPr/>
          </p:nvGrpSpPr>
          <p:grpSpPr>
            <a:xfrm>
              <a:off x="0" y="0"/>
              <a:ext cx="19541547" cy="1002592"/>
              <a:chOff x="0" y="0"/>
              <a:chExt cx="10127819" cy="519615"/>
            </a:xfrm>
          </p:grpSpPr>
          <p:sp>
            <p:nvSpPr>
              <p:cNvPr id="20"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a:p>
            </p:txBody>
          </p:sp>
          <p:sp>
            <p:nvSpPr>
              <p:cNvPr id="21" name="TextBox 6"/>
              <p:cNvSpPr txBox="1"/>
              <p:nvPr/>
            </p:nvSpPr>
            <p:spPr>
              <a:xfrm>
                <a:off x="0" y="-38100"/>
                <a:ext cx="10127819" cy="557715"/>
              </a:xfrm>
              <a:prstGeom prst="rect">
                <a:avLst/>
              </a:prstGeom>
            </p:spPr>
            <p:txBody>
              <a:bodyPr lIns="50800" tIns="50800" rIns="50800" bIns="50800" rtlCol="0" anchor="ctr"/>
              <a:lstStyle/>
              <a:p>
                <a:pPr algn="ctr">
                  <a:lnSpc>
                    <a:spcPts val="2660"/>
                  </a:lnSpc>
                  <a:spcBef>
                    <a:spcPct val="0"/>
                  </a:spcBef>
                </a:pPr>
              </a:p>
            </p:txBody>
          </p:sp>
        </p:grpSp>
        <p:sp>
          <p:nvSpPr>
            <p:cNvPr id="19" name="TextBox 18"/>
            <p:cNvSpPr txBox="1"/>
            <p:nvPr/>
          </p:nvSpPr>
          <p:spPr>
            <a:xfrm>
              <a:off x="1481401" y="52697"/>
              <a:ext cx="16578758" cy="923024"/>
            </a:xfrm>
            <a:prstGeom prst="rect">
              <a:avLst/>
            </a:prstGeom>
          </p:spPr>
          <p:txBody>
            <a:bodyPr lIns="0" tIns="0" rIns="0" bIns="0" rtlCol="0" anchor="ctr">
              <a:spAutoFit/>
            </a:bodyPr>
            <a:lstStyle/>
            <a:p>
              <a:pPr algn="ctr">
                <a:lnSpc>
                  <a:spcPts val="4065"/>
                </a:lnSpc>
              </a:pPr>
              <a:r>
                <a:rPr lang="en-US" sz="2400" dirty="0">
                  <a:solidFill>
                    <a:srgbClr val="FFFFFF"/>
                  </a:solidFill>
                  <a:ea typeface="League Gothic" panose="020B0604020202020204"/>
                  <a:cs typeface="League Gothic" panose="020B0604020202020204"/>
                  <a:sym typeface="League Gothic" panose="020B0604020202020204"/>
                </a:rPr>
                <a:t>Results</a:t>
              </a:r>
              <a:endParaRPr lang="en-US" sz="2400" dirty="0">
                <a:solidFill>
                  <a:srgbClr val="FFFFFF"/>
                </a:solidFill>
                <a:ea typeface="League Gothic" panose="020B0604020202020204"/>
                <a:cs typeface="League Gothic" panose="020B0604020202020204"/>
                <a:sym typeface="League Gothic" panose="020B0604020202020204"/>
              </a:endParaRPr>
            </a:p>
          </p:txBody>
        </p:sp>
      </p:grpSp>
      <p:pic>
        <p:nvPicPr>
          <p:cNvPr id="7" name="Picture 6"/>
          <p:cNvPicPr>
            <a:picLocks noChangeAspect="1"/>
          </p:cNvPicPr>
          <p:nvPr/>
        </p:nvPicPr>
        <p:blipFill>
          <a:blip r:embed="rId1"/>
          <a:stretch>
            <a:fillRect/>
          </a:stretch>
        </p:blipFill>
        <p:spPr>
          <a:xfrm>
            <a:off x="3087757" y="1223839"/>
            <a:ext cx="6016486" cy="4410322"/>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el 12"/>
          <p:cNvSpPr>
            <a:spLocks noGrp="1"/>
          </p:cNvSpPr>
          <p:nvPr>
            <p:ph type="title"/>
          </p:nvPr>
        </p:nvSpPr>
        <p:spPr bwMode="gray"/>
        <p:txBody>
          <a:bodyPr/>
          <a:lstStyle/>
          <a:p>
            <a:r>
              <a:rPr lang="en-US" sz="2200" noProof="0" dirty="0"/>
              <a:t>Phase III Power:</a:t>
            </a:r>
            <a:r>
              <a:rPr lang="en-US" sz="2200" b="0" noProof="0" dirty="0"/>
              <a:t> negative scenario</a:t>
            </a:r>
            <a:endParaRPr lang="en-US" sz="2200" b="0" noProof="0" dirty="0"/>
          </a:p>
        </p:txBody>
      </p:sp>
      <p:sp>
        <p:nvSpPr>
          <p:cNvPr id="4" name="Fußzeilenplatzhalter 3"/>
          <p:cNvSpPr>
            <a:spLocks noGrp="1"/>
          </p:cNvSpPr>
          <p:nvPr>
            <p:ph type="ftr" sz="quarter" idx="19"/>
          </p:nvPr>
        </p:nvSpPr>
        <p:spPr bwMode="gray"/>
        <p:txBody>
          <a:bodyPr/>
          <a:lstStyle/>
          <a:p>
            <a:r>
              <a:rPr lang="en-US" noProof="0" dirty="0"/>
              <a:t>Slide library     |     ONLY FOR INTERNAL USE</a:t>
            </a:r>
            <a:endParaRPr lang="en-US" noProof="0" dirty="0"/>
          </a:p>
        </p:txBody>
      </p:sp>
      <p:sp>
        <p:nvSpPr>
          <p:cNvPr id="2" name="Foliennummernplatzhalter 1"/>
          <p:cNvSpPr>
            <a:spLocks noGrp="1"/>
          </p:cNvSpPr>
          <p:nvPr>
            <p:ph type="sldNum" sz="quarter" idx="20"/>
          </p:nvPr>
        </p:nvSpPr>
        <p:spPr/>
        <p:txBody>
          <a:bodyPr/>
          <a:lstStyle/>
          <a:p>
            <a:fld id="{DF4E8F9F-5B1F-4F5B-BE49-3245D8C18D9F}" type="slidenum">
              <a:rPr lang="en-US" noProof="0" smtClean="0"/>
            </a:fld>
            <a:endParaRPr lang="en-US" noProof="0" dirty="0"/>
          </a:p>
        </p:txBody>
      </p:sp>
      <p:grpSp>
        <p:nvGrpSpPr>
          <p:cNvPr id="3" name="Group 3"/>
          <p:cNvGrpSpPr/>
          <p:nvPr/>
        </p:nvGrpSpPr>
        <p:grpSpPr>
          <a:xfrm>
            <a:off x="8840771" y="183838"/>
            <a:ext cx="2946400" cy="521870"/>
            <a:chOff x="0" y="0"/>
            <a:chExt cx="19541547" cy="1002592"/>
          </a:xfrm>
        </p:grpSpPr>
        <p:grpSp>
          <p:nvGrpSpPr>
            <p:cNvPr id="7" name="Group 4"/>
            <p:cNvGrpSpPr/>
            <p:nvPr/>
          </p:nvGrpSpPr>
          <p:grpSpPr>
            <a:xfrm>
              <a:off x="0" y="0"/>
              <a:ext cx="19541547" cy="1002592"/>
              <a:chOff x="0" y="0"/>
              <a:chExt cx="10127819" cy="519615"/>
            </a:xfrm>
          </p:grpSpPr>
          <p:sp>
            <p:nvSpPr>
              <p:cNvPr id="9" name="Freeform 5"/>
              <p:cNvSpPr/>
              <p:nvPr/>
            </p:nvSpPr>
            <p:spPr>
              <a:xfrm>
                <a:off x="0" y="0"/>
                <a:ext cx="10127818" cy="519615"/>
              </a:xfrm>
              <a:custGeom>
                <a:avLst/>
                <a:gdLst/>
                <a:ahLst/>
                <a:cxnLst/>
                <a:rect l="l" t="t" r="r" b="b"/>
                <a:pathLst>
                  <a:path w="10127818" h="519615">
                    <a:moveTo>
                      <a:pt x="0" y="0"/>
                    </a:moveTo>
                    <a:lnTo>
                      <a:pt x="10127818" y="0"/>
                    </a:lnTo>
                    <a:lnTo>
                      <a:pt x="10127818" y="519615"/>
                    </a:lnTo>
                    <a:lnTo>
                      <a:pt x="0" y="519615"/>
                    </a:lnTo>
                    <a:close/>
                  </a:path>
                </a:pathLst>
              </a:custGeom>
              <a:solidFill>
                <a:srgbClr val="000000"/>
              </a:solidFill>
            </p:spPr>
            <p:txBody>
              <a:bodyPr/>
              <a:lstStyle/>
              <a:p>
                <a:endParaRPr lang="en-US"/>
              </a:p>
            </p:txBody>
          </p:sp>
          <p:sp>
            <p:nvSpPr>
              <p:cNvPr id="10" name="TextBox 6"/>
              <p:cNvSpPr txBox="1"/>
              <p:nvPr/>
            </p:nvSpPr>
            <p:spPr>
              <a:xfrm>
                <a:off x="0" y="-38100"/>
                <a:ext cx="10127819" cy="557715"/>
              </a:xfrm>
              <a:prstGeom prst="rect">
                <a:avLst/>
              </a:prstGeom>
            </p:spPr>
            <p:txBody>
              <a:bodyPr lIns="50800" tIns="50800" rIns="50800" bIns="50800" rtlCol="0" anchor="ctr"/>
              <a:lstStyle/>
              <a:p>
                <a:pPr algn="ctr">
                  <a:lnSpc>
                    <a:spcPts val="2660"/>
                  </a:lnSpc>
                  <a:spcBef>
                    <a:spcPct val="0"/>
                  </a:spcBef>
                </a:pPr>
              </a:p>
            </p:txBody>
          </p:sp>
        </p:grpSp>
        <p:sp>
          <p:nvSpPr>
            <p:cNvPr id="8" name="TextBox 7"/>
            <p:cNvSpPr txBox="1"/>
            <p:nvPr/>
          </p:nvSpPr>
          <p:spPr>
            <a:xfrm>
              <a:off x="1481401" y="52697"/>
              <a:ext cx="16578758" cy="923024"/>
            </a:xfrm>
            <a:prstGeom prst="rect">
              <a:avLst/>
            </a:prstGeom>
          </p:spPr>
          <p:txBody>
            <a:bodyPr lIns="0" tIns="0" rIns="0" bIns="0" rtlCol="0" anchor="ctr">
              <a:spAutoFit/>
            </a:bodyPr>
            <a:lstStyle/>
            <a:p>
              <a:pPr algn="ctr">
                <a:lnSpc>
                  <a:spcPts val="4065"/>
                </a:lnSpc>
              </a:pPr>
              <a:r>
                <a:rPr lang="en-US" sz="2400" dirty="0">
                  <a:solidFill>
                    <a:srgbClr val="FFFFFF"/>
                  </a:solidFill>
                  <a:ea typeface="League Gothic" panose="020B0604020202020204"/>
                  <a:cs typeface="League Gothic" panose="020B0604020202020204"/>
                  <a:sym typeface="League Gothic" panose="020B0604020202020204"/>
                </a:rPr>
                <a:t>Results</a:t>
              </a:r>
              <a:endParaRPr lang="en-US" sz="2400" dirty="0">
                <a:solidFill>
                  <a:srgbClr val="FFFFFF"/>
                </a:solidFill>
                <a:ea typeface="League Gothic" panose="020B0604020202020204"/>
                <a:cs typeface="League Gothic" panose="020B0604020202020204"/>
                <a:sym typeface="League Gothic" panose="020B0604020202020204"/>
              </a:endParaRPr>
            </a:p>
          </p:txBody>
        </p:sp>
      </p:grpSp>
      <p:pic>
        <p:nvPicPr>
          <p:cNvPr id="6" name="Picture 5"/>
          <p:cNvPicPr>
            <a:picLocks noChangeAspect="1"/>
          </p:cNvPicPr>
          <p:nvPr/>
        </p:nvPicPr>
        <p:blipFill>
          <a:blip r:embed="rId1"/>
          <a:stretch>
            <a:fillRect/>
          </a:stretch>
        </p:blipFill>
        <p:spPr>
          <a:xfrm>
            <a:off x="1295400" y="987270"/>
            <a:ext cx="9395792" cy="4578494"/>
          </a:xfrm>
          <a:prstGeom prst="rect">
            <a:avLst/>
          </a:prstGeom>
        </p:spPr>
      </p:pic>
      <p:sp>
        <p:nvSpPr>
          <p:cNvPr id="11" name="TextBox 10"/>
          <p:cNvSpPr txBox="1"/>
          <p:nvPr/>
        </p:nvSpPr>
        <p:spPr bwMode="gray">
          <a:xfrm>
            <a:off x="762000" y="5554810"/>
            <a:ext cx="10801813" cy="315920"/>
          </a:xfrm>
          <a:prstGeom prst="rect">
            <a:avLst/>
          </a:prstGeom>
          <a:noFill/>
        </p:spPr>
        <p:txBody>
          <a:bodyPr wrap="square" lIns="0" tIns="0" rIns="0" bIns="0" rtlCol="0">
            <a:spAutoFit/>
          </a:bodyPr>
          <a:lstStyle/>
          <a:p>
            <a:pPr marL="179705" indent="-179705">
              <a:lnSpc>
                <a:spcPct val="140000"/>
              </a:lnSpc>
              <a:buFont typeface="Arial" panose="020B0604020202020204" pitchFamily="34" charset="0"/>
              <a:buChar char="•"/>
            </a:pPr>
            <a:r>
              <a:rPr lang="en-US" sz="1600" dirty="0"/>
              <a:t>This is by design going to be underpowered.</a:t>
            </a:r>
            <a:endParaRPr lang="en-US" sz="1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2034209" y="914400"/>
            <a:ext cx="8123582" cy="5099714"/>
          </a:xfrm>
          <a:prstGeom prst="rect">
            <a:avLst/>
          </a:prstGeom>
        </p:spPr>
      </p:pic>
      <p:sp>
        <p:nvSpPr>
          <p:cNvPr id="9" name="Titel 12"/>
          <p:cNvSpPr>
            <a:spLocks noGrp="1"/>
          </p:cNvSpPr>
          <p:nvPr>
            <p:ph type="title"/>
          </p:nvPr>
        </p:nvSpPr>
        <p:spPr bwMode="gray">
          <a:xfrm>
            <a:off x="479424" y="477000"/>
            <a:ext cx="11233151" cy="720000"/>
          </a:xfrm>
        </p:spPr>
        <p:txBody>
          <a:bodyPr/>
          <a:lstStyle/>
          <a:p>
            <a:r>
              <a:rPr lang="en-US" sz="2200" dirty="0"/>
              <a:t>New Method</a:t>
            </a:r>
            <a:endParaRPr lang="en-US" sz="2200" noProof="0" dirty="0"/>
          </a:p>
        </p:txBody>
      </p:sp>
    </p:spTree>
  </p:cSld>
  <p:clrMapOvr>
    <a:masterClrMapping/>
  </p:clrMapOvr>
  <p:transition/>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HINKCELLSHAPEDONOTDELETE" val="tN8yTzeeFR0euUk78k8Z0sw"/>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N8yTzeeFR0euUk78k8Z0sw"/>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I0vvd0aCRb2IbfbvKAUjTQ"/>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I0vvd0aCRb2IbfbvKAUjTQ"/>
</p:tagLst>
</file>

<file path=ppt/tags/tag13.xml><?xml version="1.0" encoding="utf-8"?>
<p:tagLst xmlns:p="http://schemas.openxmlformats.org/presentationml/2006/main">
  <p:tag name="VCT_SHOW_CA" val="False"/>
  <p:tag name="THINKCELLUNDODONOTDELETE" val="0"/>
  <p:tag name="commondata" val="eyJoZGlkIjoiZTYxNjUyMTQ2NjdhYWQzODIyOGVkZDMwNTQxOGIyNjIifQ=="/>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20204" pitchFamily="34" charset="0"/>
          <a:buChar char="•"/>
          <a:defRPr sz="1600" dirty="0"/>
        </a:defPPr>
      </a:lstStyle>
    </a:txDef>
  </a:objectDefaults>
  <a:custClrLst>
    <a:custClr name="Light Red">
      <a:srgbClr val="F5CDB9"/>
    </a:custClr>
    <a:custClr name="Red">
      <a:srgbClr val="F58A68"/>
    </a:custClr>
    <a:custClr name="Medium Red">
      <a:srgbClr val="EE6541"/>
    </a:custClr>
    <a:custClr name="Dark Red">
      <a:srgbClr val="86251B"/>
    </a:custClr>
    <a:custClr name="">
      <a:srgbClr val="FFFFFF"/>
    </a:custClr>
    <a:custClr name="">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name="">
      <a:srgbClr val="FFFFFF"/>
    </a:custClr>
    <a:custClr name="">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name="">
      <a:srgbClr val="FFFFFF"/>
    </a:custClr>
    <a:custClr name="">
      <a:srgbClr val="FFFFFF"/>
    </a:custClr>
    <a:custClr name="">
      <a:srgbClr val="FFFFFF"/>
    </a:custClr>
    <a:custClr name="">
      <a:srgbClr val="FFFFFF"/>
    </a:custClr>
    <a:custClr name="">
      <a:srgbClr val="FFFFFF"/>
    </a:custClr>
    <a:custClr name="">
      <a:srgbClr val="FFFFFF"/>
    </a:custClr>
    <a:custClr name="Light Violet">
      <a:srgbClr val="E0E1F6"/>
    </a:custClr>
    <a:custClr name="Violet">
      <a:srgbClr val="C5C3EE"/>
    </a:custClr>
    <a:custClr name="Medium Violet">
      <a:srgbClr val="928BDE"/>
    </a:custClr>
    <a:custClr name="Dark Violet">
      <a:srgbClr val="5D4495"/>
    </a:custClr>
    <a:custClr name="">
      <a:srgbClr val="FFFFFF"/>
    </a:custClr>
    <a:custClr name="">
      <a:srgbClr val="FFFFFF"/>
    </a:custClr>
    <a:custClr name="">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
</file>

<file path=customXml/item2.xml>��
</file>

<file path=customXml/item3.xml>��
</file>

<file path=customXml/itemProps10.xml><?xml version="1.0" encoding="utf-8"?>
<ds:datastoreItem xmlns:ds="http://schemas.openxmlformats.org/officeDocument/2006/customXml" ds:itemID="{40175610-F44D-483B-A6FE-D26658BD74BD}">
  <ds:schemaRefs/>
</ds:datastoreItem>
</file>

<file path=customXml/itemProps11.xml><?xml version="1.0" encoding="utf-8"?>
<ds:datastoreItem xmlns:ds="http://schemas.openxmlformats.org/officeDocument/2006/customXml" ds:itemID="{98CF1740-20FE-4C54-8FA5-B5C4CFF31A61}">
  <ds:schemaRefs/>
</ds:datastoreItem>
</file>

<file path=customXml/itemProps12.xml><?xml version="1.0" encoding="utf-8"?>
<ds:datastoreItem xmlns:ds="http://schemas.openxmlformats.org/officeDocument/2006/customXml" ds:itemID="{21930D3D-B66A-49C5-9A81-ED052D7A027B}">
  <ds:schemaRefs/>
</ds:datastoreItem>
</file>

<file path=docProps/app.xml><?xml version="1.0" encoding="utf-8"?>
<Properties xmlns="http://schemas.openxmlformats.org/officeDocument/2006/extended-properties" xmlns:vt="http://schemas.openxmlformats.org/officeDocument/2006/docPropsVTypes">
  <Template>Fangfang_Jiang_COP_presentation</Template>
  <TotalTime>0</TotalTime>
  <Words>14787</Words>
  <Application>WPS 演示</Application>
  <PresentationFormat>Widescreen</PresentationFormat>
  <Paragraphs>653</Paragraphs>
  <Slides>30</Slides>
  <Notes>27</Notes>
  <HiddenSlides>5</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5</vt:i4>
      </vt:variant>
      <vt:variant>
        <vt:lpstr>幻灯片标题</vt:lpstr>
      </vt:variant>
      <vt:variant>
        <vt:i4>30</vt:i4>
      </vt:variant>
    </vt:vector>
  </HeadingPairs>
  <TitlesOfParts>
    <vt:vector size="55" baseType="lpstr">
      <vt:lpstr>Arial</vt:lpstr>
      <vt:lpstr>SimSun</vt:lpstr>
      <vt:lpstr>Wingdings</vt:lpstr>
      <vt:lpstr>Boehringer Forward Text</vt:lpstr>
      <vt:lpstr>Calibri</vt:lpstr>
      <vt:lpstr>Cambria Math</vt:lpstr>
      <vt:lpstr>BISansOpti</vt:lpstr>
      <vt:lpstr>Boehringer Forward Head</vt:lpstr>
      <vt:lpstr>Lufthansa Office Head</vt:lpstr>
      <vt:lpstr>Microsoft YaHei</vt:lpstr>
      <vt:lpstr>Arial Unicode MS</vt:lpstr>
      <vt:lpstr>Boehringer Text</vt:lpstr>
      <vt:lpstr>Segoe Print</vt:lpstr>
      <vt:lpstr>League Gothic</vt:lpstr>
      <vt:lpstr>Roboto</vt:lpstr>
      <vt:lpstr>Poppins Bold</vt:lpstr>
      <vt:lpstr>Calibri</vt:lpstr>
      <vt:lpstr>Montserrat Bold</vt:lpstr>
      <vt:lpstr>Montserrat</vt:lpstr>
      <vt:lpstr>Boehringer Ingelheim 16:9</vt:lpstr>
      <vt:lpstr>TCLayout.ActiveDocument.1</vt:lpstr>
      <vt:lpstr>TCLayout.ActiveDocument.1</vt:lpstr>
      <vt:lpstr>TCLayout.ActiveDocument.1</vt:lpstr>
      <vt:lpstr>TCLayout.ActiveDocument.1</vt:lpstr>
      <vt:lpstr>TCLayout.ActiveDocument.1</vt:lpstr>
      <vt:lpstr>PowerPoint 演示文稿</vt:lpstr>
      <vt:lpstr>Outline</vt:lpstr>
      <vt:lpstr>Introduction</vt:lpstr>
      <vt:lpstr>Background</vt:lpstr>
      <vt:lpstr>Motivation</vt:lpstr>
      <vt:lpstr>Research Objectives</vt:lpstr>
      <vt:lpstr>Bias Adjustment Methods</vt:lpstr>
      <vt:lpstr>Shifting and Multiplicative Methods</vt:lpstr>
      <vt:lpstr>Bayesian and Likelihood-Based Methods</vt:lpstr>
      <vt:lpstr>Bias Subtraction Methods</vt:lpstr>
      <vt:lpstr>Real-Data Analysis</vt:lpstr>
      <vt:lpstr>PowerPoint 演示文稿</vt:lpstr>
      <vt:lpstr>PowerPoint 演示文稿</vt:lpstr>
      <vt:lpstr>PowerPoint 演示文稿</vt:lpstr>
      <vt:lpstr>Simulation Study</vt:lpstr>
      <vt:lpstr>Simulation Design</vt:lpstr>
      <vt:lpstr>Simulation Design</vt:lpstr>
      <vt:lpstr>Evaluation Metrics</vt:lpstr>
      <vt:lpstr>Phase II Effect Bias: positive scenario</vt:lpstr>
      <vt:lpstr>Phase III Power: positive scenario</vt:lpstr>
      <vt:lpstr>Program Power</vt:lpstr>
      <vt:lpstr>PowerPoint 演示文稿</vt:lpstr>
      <vt:lpstr>PowerPoint 演示文稿</vt:lpstr>
      <vt:lpstr>PowerPoint 演示文稿</vt:lpstr>
      <vt:lpstr>PowerPoint 演示文稿</vt:lpstr>
      <vt:lpstr>Bias Subtraction Methods</vt:lpstr>
      <vt:lpstr>Procedure</vt:lpstr>
      <vt:lpstr>Phase II Effect Bias: negative scenario</vt:lpstr>
      <vt:lpstr>Phase III Power: negative scenario</vt:lpstr>
      <vt:lpstr>New Method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Jiang,Fangfang (MED BDS) BIP-US-R</dc:creator>
  <cp:lastModifiedBy>姜竹本</cp:lastModifiedBy>
  <cp:revision>2</cp:revision>
  <dcterms:created xsi:type="dcterms:W3CDTF">2025-12-07T07:27:00Z</dcterms:created>
  <dcterms:modified xsi:type="dcterms:W3CDTF">2026-06-15T03:08:03Z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0x010100DF4201B242ED634390BBB938A6A9DF54</vt:lpwstr>
  </property>
  <property fmtid="{D5CDD505-2E9C-101B-9397-08002B2CF9AE}" pid="3" name="MediaServiceImageTags">
    <vt:lpwstr/>
  </property>
  <property fmtid="{D5CDD505-2E9C-101B-9397-08002B2CF9AE}" pid="4" name="ICV">
    <vt:lpwstr>F603186E27C846FFA3A0455EE1800B6E_12</vt:lpwstr>
  </property>
  <property fmtid="{D5CDD505-2E9C-101B-9397-08002B2CF9AE}" pid="5" name="KSOProductBuildVer">
    <vt:lpwstr>2052-12.1.0.16929</vt:lpwstr>
  </property>
</Properties>
</file>