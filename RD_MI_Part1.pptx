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280160"/>
            <a:ext cx="2194560" cy="0"/>
          </a:xfrm>
          <a:prstGeom prst="line">
            <a:avLst/>
          </a:prstGeom>
          <a:noFill/>
          <a:ln w="25400">
            <a:solidFill>
              <a:srgbClr val="CADCF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41248" y="1207008"/>
            <a:ext cx="146304" cy="146304"/>
          </a:xfrm>
          <a:prstGeom prst="ellipse">
            <a:avLst/>
          </a:prstGeom>
          <a:solidFill>
            <a:srgbClr val="CADCFC"/>
          </a:solidFill>
          <a:ln w="12700">
            <a:solidFill>
              <a:srgbClr val="CADCF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3035808" y="1207008"/>
            <a:ext cx="146304" cy="146304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011680"/>
            <a:ext cx="10332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Retrieved-Dropout Multiple Imputation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914400" y="2880360"/>
            <a:ext cx="10332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i="1" dirty="0">
                <a:solidFill>
                  <a:srgbClr val="CADCF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 Time-to-Event Endpoints in CVOTs</a:t>
            </a:r>
            <a:endParaRPr lang="en-US" sz="3000" dirty="0"/>
          </a:p>
        </p:txBody>
      </p:sp>
      <p:sp>
        <p:nvSpPr>
          <p:cNvPr id="7" name="Shape 5"/>
          <p:cNvSpPr/>
          <p:nvPr/>
        </p:nvSpPr>
        <p:spPr>
          <a:xfrm>
            <a:off x="914400" y="3931920"/>
            <a:ext cx="1828800" cy="0"/>
          </a:xfrm>
          <a:prstGeom prst="line">
            <a:avLst/>
          </a:prstGeom>
          <a:noFill/>
          <a:ln w="25400">
            <a:solidFill>
              <a:srgbClr val="D9770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411480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</a:rPr>
              <a:t>A method review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45262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94A3B8"/>
                </a:solidFill>
              </a:rPr>
              <a:t>He et al. (2023) · J Biopharm Stat 33:233–251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914400" y="585216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</a:rPr>
              <a:t>Katrina Jiang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914400" y="617220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</a:rPr>
              <a:t>2026-07-01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naive censoring is not enough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2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572000" cy="2377440"/>
          </a:xfrm>
          <a:prstGeom prst="roundRect">
            <a:avLst>
              <a:gd name="adj" fmla="val 307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85800" y="12344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Cox PH's key assumption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85800" y="1645920"/>
            <a:ext cx="41148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1E293B"/>
                </a:solidFill>
              </a:rPr>
              <a:t>Non-informative censoring: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given covariates X, censoring time C ⊥ event time T.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 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When this fails → hazard-ratio estimates are biased, </a:t>
            </a:r>
            <a:pPr indent="0" marL="0">
              <a:spcAft>
                <a:spcPts val="400"/>
              </a:spcAft>
              <a:buNone/>
            </a:pPr>
            <a:r>
              <a:rPr lang="en-US" sz="1300" b="1" dirty="0">
                <a:solidFill>
                  <a:srgbClr val="B91C1C"/>
                </a:solidFill>
              </a:rPr>
              <a:t>typically toward the null</a:t>
            </a:r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rgbClr val="334155"/>
                </a:solidFill>
              </a:rPr>
              <a:t> (high-risk patients get treated as if they were random censoring).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303520" y="1097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When does dropout break this assumption?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303520" y="1554480"/>
            <a:ext cx="6400800" cy="777240"/>
          </a:xfrm>
          <a:prstGeom prst="roundRect">
            <a:avLst>
              <a:gd name="adj" fmla="val 7059"/>
            </a:avLst>
          </a:prstGeom>
          <a:solidFill>
            <a:srgbClr val="ECFDF5"/>
          </a:solidFill>
          <a:ln w="12700">
            <a:solidFill>
              <a:srgbClr val="A7F3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40680" y="162763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59669"/>
                </a:solidFill>
              </a:rPr>
              <a:t>MCAR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355080" y="162763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Dropout independent of everything. </a:t>
            </a:r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CVOT example: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patient moves abroad, unrelated to health.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03520" y="2423160"/>
            <a:ext cx="6400800" cy="777240"/>
          </a:xfrm>
          <a:prstGeom prst="roundRect">
            <a:avLst>
              <a:gd name="adj" fmla="val 7059"/>
            </a:avLst>
          </a:prstGeom>
          <a:solidFill>
            <a:srgbClr val="FFFBEB"/>
          </a:solidFill>
          <a:ln w="12700">
            <a:solidFill>
              <a:srgbClr val="FCD34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40680" y="2496312"/>
            <a:ext cx="914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</a:rPr>
              <a:t>MAR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355080" y="2496312"/>
            <a:ext cx="5257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Dropout depends only on observed covariates. </a:t>
            </a:r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CVOT example: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protocol-mandated dose reduction based on baseline eGFR.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303520" y="3291840"/>
            <a:ext cx="6400800" cy="914400"/>
          </a:xfrm>
          <a:prstGeom prst="roundRect">
            <a:avLst>
              <a:gd name="adj" fmla="val 6000"/>
            </a:avLst>
          </a:prstGeom>
          <a:solidFill>
            <a:srgbClr val="FEF2F2"/>
          </a:solidFill>
          <a:ln w="25400">
            <a:solidFill>
              <a:srgbClr val="FCA5A5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40680" y="33832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91C1C"/>
                </a:solidFill>
              </a:rPr>
              <a:t>MNAR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40680" y="3703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B91C1C"/>
                </a:solidFill>
              </a:rPr>
              <a:t>this is us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37960" y="3401568"/>
            <a:ext cx="5074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Dropout depends on </a:t>
            </a:r>
            <a:pPr indent="0" marL="0">
              <a:buNone/>
            </a:pPr>
            <a:r>
              <a:rPr lang="en-US" sz="1200" i="1" dirty="0">
                <a:solidFill>
                  <a:srgbClr val="334155"/>
                </a:solidFill>
              </a:rPr>
              <a:t>unobserved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event risk. 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CVOT example: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SGLT2 trial — patient discontinues due to worsening renal function, </a:t>
            </a:r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which is on the causal pathway to the CV event.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617720"/>
            <a:ext cx="11247120" cy="1691640"/>
          </a:xfrm>
          <a:prstGeom prst="roundRect">
            <a:avLst>
              <a:gd name="adj" fmla="val 4324"/>
            </a:avLst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77240" y="47548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D97706"/>
                </a:solidFill>
              </a:rPr>
              <a:t>Bottom line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777240" y="5074920"/>
            <a:ext cx="106070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In CVOTs, treatment discontinuation is almost always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D97706"/>
                </a:solidFill>
              </a:rPr>
              <a:t>MNAR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. Naive censoring at discontinuation treats it as non-informative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FFFFFF"/>
                </a:solidFill>
              </a:rPr>
              <a:t>→ biased HR (typically toward the null) and over-confident CIs.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000000"/>
                </a:solidFill>
              </a:rPr>
              <a:t> </a:t>
            </a:r>
            <a:endParaRPr lang="en-US" sz="1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CADCFC"/>
                </a:solidFill>
              </a:rPr>
              <a:t>We need a method that </a:t>
            </a:r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FFFFFF"/>
                </a:solidFill>
              </a:rPr>
              <a:t>borrows information </a:t>
            </a:r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CADCFC"/>
                </a:solidFill>
              </a:rPr>
              <a:t>from patients who discontinued but stayed in follow-up.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subject's timeline: what can happen on treatment?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</a:rPr>
              <a:t>Blue = on-treatment period. Each row shows one possible ending during on-tx.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73736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</a:rPr>
              <a:t>Subject 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event on-tx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46504" y="1837944"/>
            <a:ext cx="164592" cy="164592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141732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972800" y="1719072"/>
            <a:ext cx="0" cy="402336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0607040" y="141732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28800" y="1920240"/>
            <a:ext cx="4114800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833872" y="1810512"/>
            <a:ext cx="219456" cy="219456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833872" y="2029968"/>
            <a:ext cx="219456" cy="-219456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303520" y="162763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563EB"/>
                </a:solidFill>
              </a:rPr>
              <a:t>CV event on-treatment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30632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</a:rPr>
              <a:t>Subject B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3375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admin. censored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746504" y="3163824"/>
            <a:ext cx="164592" cy="164592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54480" y="27432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972800" y="3044952"/>
            <a:ext cx="0" cy="402336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0607040" y="27432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28800" y="3246120"/>
            <a:ext cx="9144000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863072" y="3136392"/>
            <a:ext cx="219456" cy="21945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6880" y="29535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2563EB"/>
                </a:solidFill>
              </a:rPr>
              <a:t>censored at EOS on-tx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38912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</a:rPr>
              <a:t>Subject C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57200" y="466344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discontinued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746504" y="4489704"/>
            <a:ext cx="164592" cy="164592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54480" y="4069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10972800" y="4370832"/>
            <a:ext cx="0" cy="402336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30" name="Text 28"/>
          <p:cNvSpPr/>
          <p:nvPr/>
        </p:nvSpPr>
        <p:spPr>
          <a:xfrm>
            <a:off x="10607040" y="406908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EOS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828800" y="4572000"/>
            <a:ext cx="3657600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0" y="4425696"/>
            <a:ext cx="0" cy="292608"/>
          </a:xfrm>
          <a:prstGeom prst="line">
            <a:avLst/>
          </a:prstGeom>
          <a:noFill/>
          <a:ln w="38100">
            <a:solidFill>
              <a:srgbClr val="64748B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486400" y="4572000"/>
            <a:ext cx="548640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4937760" y="427939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E293B"/>
                </a:solidFill>
              </a:rPr>
              <a:t>treatment discontinuation at offipday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6035040" y="470916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06"/>
                </a:solidFill>
              </a:rPr>
              <a:t>? what happens next →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457200" y="5669280"/>
            <a:ext cx="11247120" cy="822960"/>
          </a:xfrm>
          <a:prstGeom prst="roundRect">
            <a:avLst>
              <a:gd name="adj" fmla="val 666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777240" y="6080760"/>
            <a:ext cx="457200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325880" y="594360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on-tx period</a:t>
            </a:r>
            <a:endParaRPr lang="en-US" sz="1100" dirty="0"/>
          </a:p>
        </p:txBody>
      </p:sp>
      <p:sp>
        <p:nvSpPr>
          <p:cNvPr id="39" name="Shape 37"/>
          <p:cNvSpPr/>
          <p:nvPr/>
        </p:nvSpPr>
        <p:spPr>
          <a:xfrm>
            <a:off x="2770632" y="5971032"/>
            <a:ext cx="219456" cy="219456"/>
          </a:xfrm>
          <a:prstGeom prst="line">
            <a:avLst/>
          </a:prstGeom>
          <a:noFill/>
          <a:ln w="38100">
            <a:solidFill>
              <a:srgbClr val="33415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2770632" y="6190488"/>
            <a:ext cx="219456" cy="-219456"/>
          </a:xfrm>
          <a:prstGeom prst="line">
            <a:avLst/>
          </a:prstGeom>
          <a:noFill/>
          <a:ln w="38100">
            <a:solidFill>
              <a:srgbClr val="33415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063240" y="594360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event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3959352" y="5971032"/>
            <a:ext cx="219456" cy="21945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33415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251960" y="59436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censoring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5532120" y="5934456"/>
            <a:ext cx="0" cy="292608"/>
          </a:xfrm>
          <a:prstGeom prst="line">
            <a:avLst/>
          </a:prstGeom>
          <a:noFill/>
          <a:ln w="38100">
            <a:solidFill>
              <a:srgbClr val="64748B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5669280" y="5943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tx discontinuation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7543800" y="6080760"/>
            <a:ext cx="45720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dash"/>
          </a:ln>
        </p:spPr>
      </p:sp>
      <p:sp>
        <p:nvSpPr>
          <p:cNvPr id="47" name="Text 45"/>
          <p:cNvSpPr/>
          <p:nvPr/>
        </p:nvSpPr>
        <p:spPr>
          <a:xfrm>
            <a:off x="8092440" y="59436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unknown / lost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9838944" y="5998464"/>
            <a:ext cx="164592" cy="164592"/>
          </a:xfrm>
          <a:prstGeom prst="ellipse">
            <a:avLst/>
          </a:prstGeom>
          <a:solidFill>
            <a:srgbClr val="1E293B"/>
          </a:solidFill>
          <a:ln/>
        </p:spPr>
      </p:sp>
      <p:sp>
        <p:nvSpPr>
          <p:cNvPr id="49" name="Text 47"/>
          <p:cNvSpPr/>
          <p:nvPr/>
        </p:nvSpPr>
        <p:spPr>
          <a:xfrm>
            <a:off x="10104120" y="59436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R = randomization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treatment discontinuation: two roads, then three fates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4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</a:rPr>
              <a:t>Red = off-treatment period. The dropout branch is where we lose information — that's what we need to impute.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16916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</a:rPr>
              <a:t>Path A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57200" y="19659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drops out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746504" y="1792224"/>
            <a:ext cx="164592" cy="164592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1371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10972800" y="1673352"/>
            <a:ext cx="0" cy="402336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10607040" y="1371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28800" y="1874520"/>
            <a:ext cx="3200400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029200" y="1728216"/>
            <a:ext cx="0" cy="292608"/>
          </a:xfrm>
          <a:prstGeom prst="line">
            <a:avLst/>
          </a:prstGeom>
          <a:noFill/>
          <a:ln w="38100">
            <a:solidFill>
              <a:srgbClr val="64748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0" y="1874520"/>
            <a:ext cx="594360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dash"/>
          </a:ln>
        </p:spPr>
      </p:sp>
      <p:sp>
        <p:nvSpPr>
          <p:cNvPr id="15" name="Text 13"/>
          <p:cNvSpPr/>
          <p:nvPr/>
        </p:nvSpPr>
        <p:spPr>
          <a:xfrm>
            <a:off x="4937760" y="15819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91C1C"/>
                </a:solidFill>
              </a:rPr>
              <a:t>no post-disc data → RECIPIENT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8346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</a:rPr>
              <a:t>Path B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57200" y="31089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event off-tx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1746504" y="2935224"/>
            <a:ext cx="164592" cy="164592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554480" y="2514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10972800" y="2816352"/>
            <a:ext cx="0" cy="402336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0607040" y="2514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EOS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1828800" y="3017520"/>
            <a:ext cx="3200400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029200" y="2871216"/>
            <a:ext cx="0" cy="292608"/>
          </a:xfrm>
          <a:prstGeom prst="line">
            <a:avLst/>
          </a:prstGeom>
          <a:noFill/>
          <a:ln w="38100">
            <a:solidFill>
              <a:srgbClr val="64748B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0" y="3017520"/>
            <a:ext cx="2743200" cy="0"/>
          </a:xfrm>
          <a:prstGeom prst="line">
            <a:avLst/>
          </a:prstGeom>
          <a:noFill/>
          <a:ln w="63500">
            <a:solidFill>
              <a:srgbClr val="DC262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7662672" y="2907792"/>
            <a:ext cx="219456" cy="219456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7662672" y="3127248"/>
            <a:ext cx="219456" cy="-219456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132320" y="27249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C2626"/>
                </a:solidFill>
              </a:rPr>
              <a:t>CV event off-tx → DONOR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57200" y="39776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</a:rPr>
              <a:t>Path C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457200" y="42519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censored off-tx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1746504" y="4078224"/>
            <a:ext cx="164592" cy="164592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554480" y="3657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10972800" y="3959352"/>
            <a:ext cx="0" cy="402336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0607040" y="3657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EOS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828800" y="4160520"/>
            <a:ext cx="3200400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0" y="4014216"/>
            <a:ext cx="0" cy="292608"/>
          </a:xfrm>
          <a:prstGeom prst="line">
            <a:avLst/>
          </a:prstGeom>
          <a:noFill/>
          <a:ln w="38100">
            <a:solidFill>
              <a:srgbClr val="64748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0" y="4160520"/>
            <a:ext cx="5943600" cy="0"/>
          </a:xfrm>
          <a:prstGeom prst="line">
            <a:avLst/>
          </a:prstGeom>
          <a:noFill/>
          <a:ln w="63500">
            <a:solidFill>
              <a:srgbClr val="DC262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10863072" y="4050792"/>
            <a:ext cx="219456" cy="21945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DC2626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44000" y="38679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C2626"/>
                </a:solidFill>
              </a:rPr>
              <a:t>censored at EOS off-tx → DONOR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57200" y="5120640"/>
            <a:ext cx="1280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34155"/>
                </a:solidFill>
              </a:rPr>
              <a:t>Path D</a:t>
            </a:r>
            <a:endParaRPr lang="en-US" sz="1300" dirty="0"/>
          </a:p>
        </p:txBody>
      </p:sp>
      <p:sp>
        <p:nvSpPr>
          <p:cNvPr id="40" name="Text 38"/>
          <p:cNvSpPr/>
          <p:nvPr/>
        </p:nvSpPr>
        <p:spPr>
          <a:xfrm>
            <a:off x="457200" y="5394960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drops out later</a:t>
            </a:r>
            <a:endParaRPr lang="en-US" sz="1000" dirty="0"/>
          </a:p>
        </p:txBody>
      </p:sp>
      <p:sp>
        <p:nvSpPr>
          <p:cNvPr id="41" name="Shape 39"/>
          <p:cNvSpPr/>
          <p:nvPr/>
        </p:nvSpPr>
        <p:spPr>
          <a:xfrm>
            <a:off x="1746504" y="5221224"/>
            <a:ext cx="164592" cy="164592"/>
          </a:xfrm>
          <a:prstGeom prst="ellipse">
            <a:avLst/>
          </a:prstGeom>
          <a:solidFill>
            <a:srgbClr val="1E293B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554480" y="480060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R</a:t>
            </a:r>
            <a:endParaRPr lang="en-US" sz="1200" dirty="0"/>
          </a:p>
        </p:txBody>
      </p:sp>
      <p:sp>
        <p:nvSpPr>
          <p:cNvPr id="43" name="Shape 41"/>
          <p:cNvSpPr/>
          <p:nvPr/>
        </p:nvSpPr>
        <p:spPr>
          <a:xfrm>
            <a:off x="10972800" y="5102352"/>
            <a:ext cx="0" cy="402336"/>
          </a:xfrm>
          <a:prstGeom prst="line">
            <a:avLst/>
          </a:prstGeom>
          <a:noFill/>
          <a:ln w="19050">
            <a:solidFill>
              <a:srgbClr val="94A3B8"/>
            </a:solidFill>
            <a:prstDash val="dash"/>
          </a:ln>
        </p:spPr>
      </p:sp>
      <p:sp>
        <p:nvSpPr>
          <p:cNvPr id="44" name="Text 42"/>
          <p:cNvSpPr/>
          <p:nvPr/>
        </p:nvSpPr>
        <p:spPr>
          <a:xfrm>
            <a:off x="10607040" y="4800600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EOS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1828800" y="5303520"/>
            <a:ext cx="3200400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029200" y="5157216"/>
            <a:ext cx="0" cy="292608"/>
          </a:xfrm>
          <a:prstGeom prst="line">
            <a:avLst/>
          </a:prstGeom>
          <a:noFill/>
          <a:ln w="38100">
            <a:solidFill>
              <a:srgbClr val="64748B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029200" y="5303520"/>
            <a:ext cx="2286000" cy="0"/>
          </a:xfrm>
          <a:prstGeom prst="line">
            <a:avLst/>
          </a:prstGeom>
          <a:noFill/>
          <a:ln w="63500">
            <a:solidFill>
              <a:srgbClr val="DC262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7315200" y="5303520"/>
            <a:ext cx="365760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dash"/>
          </a:ln>
        </p:spPr>
      </p:sp>
      <p:sp>
        <p:nvSpPr>
          <p:cNvPr id="49" name="Text 47"/>
          <p:cNvSpPr/>
          <p:nvPr/>
        </p:nvSpPr>
        <p:spPr>
          <a:xfrm>
            <a:off x="6400800" y="501091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D97706"/>
                </a:solidFill>
              </a:rPr>
              <a:t>partial off-tx obs., then lost → DONOR + RECIPIENT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57200" y="6172200"/>
            <a:ext cx="11247120" cy="502920"/>
          </a:xfrm>
          <a:prstGeom prst="roundRect">
            <a:avLst>
              <a:gd name="adj" fmla="val 10909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777240" y="6217920"/>
            <a:ext cx="10607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97706"/>
                </a:solidFill>
              </a:rPr>
              <a:t>Key idea:  </a:t>
            </a:r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Paths B / C / D give us direct off-treatment observations we can use to impute what would happen to Path A.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patterns (P1–P8) — option A: table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5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Rows correspond to Figure 1 of He et al. (2023). Donor set = {P2, P4, P6, P7} with offipday &gt; 0.  Recipient set = {P5, P6}.</a:t>
            </a:r>
            <a:endParaRPr lang="en-US" sz="1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4173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194560"/>
                <a:gridCol w="2468880"/>
                <a:gridCol w="3200400"/>
                <a:gridCol w="2468880"/>
              </a:tblGrid>
              <a:tr h="4114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Pattern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On-treatment segment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Off-treatment segment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Terminal event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Role in imputation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93B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event on-tx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 event off-tx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censored at EOS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censored at EOS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offipday =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follow-up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9770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Recipient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partial, then dropout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unknown after dropout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7C3AE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Donor + Recipient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observed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non-CV death off-tx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very short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negligible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event with essentially no off-tx obs.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64748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457200" y="5989320"/>
            <a:ext cx="11247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64748B"/>
                </a:solidFill>
              </a:rPr>
              <a:t>Note: </a:t>
            </a:r>
            <a:pPr indent="0" marL="0">
              <a:buNone/>
            </a:pPr>
            <a:r>
              <a:rPr lang="en-US" sz="1100" i="1" dirty="0">
                <a:solidFill>
                  <a:srgbClr val="64748B"/>
                </a:solidFill>
              </a:rPr>
              <a:t>Rows P7 vs P8 differ in the length of the prior on-tx segment; only P7 contributes usable off-tx observation to the imputation model.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457200" y="6446520"/>
            <a:ext cx="5394960" cy="320040"/>
          </a:xfrm>
          <a:prstGeom prst="roundRect">
            <a:avLst>
              <a:gd name="adj" fmla="val 14286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594360" y="6446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B91C1C"/>
                </a:solidFill>
              </a:rPr>
              <a:t>Donor set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→ used to fit the piecewise-exp imputation model (Step 1).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309360" y="6446520"/>
            <a:ext cx="5394960" cy="320040"/>
          </a:xfrm>
          <a:prstGeom prst="roundRect">
            <a:avLst>
              <a:gd name="adj" fmla="val 14286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446520" y="644652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97706"/>
                </a:solidFill>
              </a:rPr>
              <a:t>Recipient set 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</a:rPr>
              <a:t>→ their post-dropout survival is imputed (Step 2).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0789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Eight patterns (P1–P8) — option B: mini-timelines</a:t>
            </a:r>
            <a:endParaRPr lang="en-US" sz="26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12471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521440" y="6492240"/>
            <a:ext cx="548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4A3B8"/>
                </a:solidFill>
              </a:rPr>
              <a:t>6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457200" y="960120"/>
            <a:ext cx="11247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4748B"/>
                </a:solidFill>
              </a:rPr>
              <a:t>Same eight rows, drawn as thumbnail timelines. Colored badge = role in imputation.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457200" y="1417320"/>
            <a:ext cx="288036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5544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P1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280160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event on-tx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331720" y="1554480"/>
            <a:ext cx="868680" cy="320040"/>
          </a:xfrm>
          <a:prstGeom prst="roundRect">
            <a:avLst>
              <a:gd name="adj" fmla="val 4285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331720" y="155448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48B"/>
                </a:solidFill>
              </a:rPr>
              <a:t>—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685800" y="3520440"/>
            <a:ext cx="2423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35204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2834640" y="35204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EOS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777240" y="2971800"/>
            <a:ext cx="1232154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99666" y="2862072"/>
            <a:ext cx="219456" cy="219456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899666" y="3081528"/>
            <a:ext cx="219456" cy="-219456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383280" y="1417320"/>
            <a:ext cx="288036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3566160" y="15544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P2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206240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event off-tx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257800" y="1554480"/>
            <a:ext cx="868680" cy="320040"/>
          </a:xfrm>
          <a:prstGeom prst="roundRect">
            <a:avLst>
              <a:gd name="adj" fmla="val 42857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257800" y="155448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91C1C"/>
                </a:solidFill>
              </a:rPr>
              <a:t>Donor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611880" y="3520440"/>
            <a:ext cx="2423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566160" y="35204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5760720" y="35204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EOS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703320" y="2971800"/>
            <a:ext cx="784098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487418" y="2825496"/>
            <a:ext cx="0" cy="292608"/>
          </a:xfrm>
          <a:prstGeom prst="line">
            <a:avLst/>
          </a:prstGeom>
          <a:noFill/>
          <a:ln w="38100">
            <a:solidFill>
              <a:srgbClr val="64748B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487418" y="2971800"/>
            <a:ext cx="896112" cy="0"/>
          </a:xfrm>
          <a:prstGeom prst="line">
            <a:avLst/>
          </a:prstGeom>
          <a:noFill/>
          <a:ln w="63500">
            <a:solidFill>
              <a:srgbClr val="DC262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273802" y="2862072"/>
            <a:ext cx="219456" cy="219456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273802" y="3081528"/>
            <a:ext cx="219456" cy="-219456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6309360" y="1417320"/>
            <a:ext cx="288036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6492240" y="15544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P3</a:t>
            </a:r>
            <a:endParaRPr lang="en-US" sz="1600" dirty="0"/>
          </a:p>
        </p:txBody>
      </p:sp>
      <p:sp>
        <p:nvSpPr>
          <p:cNvPr id="32" name="Text 30"/>
          <p:cNvSpPr/>
          <p:nvPr/>
        </p:nvSpPr>
        <p:spPr>
          <a:xfrm>
            <a:off x="7132320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censored on-tx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183880" y="1554480"/>
            <a:ext cx="868680" cy="320040"/>
          </a:xfrm>
          <a:prstGeom prst="roundRect">
            <a:avLst>
              <a:gd name="adj" fmla="val 4285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183880" y="155448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48B"/>
                </a:solidFill>
              </a:rPr>
              <a:t>—</a:t>
            </a:r>
            <a:endParaRPr lang="en-US" sz="950" dirty="0"/>
          </a:p>
        </p:txBody>
      </p:sp>
      <p:sp>
        <p:nvSpPr>
          <p:cNvPr id="35" name="Shape 33"/>
          <p:cNvSpPr/>
          <p:nvPr/>
        </p:nvSpPr>
        <p:spPr>
          <a:xfrm>
            <a:off x="6537960" y="3520440"/>
            <a:ext cx="2423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492240" y="35204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8686800" y="35204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EOS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6629400" y="2971800"/>
            <a:ext cx="2240280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8759952" y="2862072"/>
            <a:ext cx="219456" cy="21945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2563EB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9235440" y="1417320"/>
            <a:ext cx="288036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41" name="Text 39"/>
          <p:cNvSpPr/>
          <p:nvPr/>
        </p:nvSpPr>
        <p:spPr>
          <a:xfrm>
            <a:off x="9418320" y="15544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P4</a:t>
            </a:r>
            <a:endParaRPr lang="en-US" sz="1600" dirty="0"/>
          </a:p>
        </p:txBody>
      </p:sp>
      <p:sp>
        <p:nvSpPr>
          <p:cNvPr id="42" name="Text 40"/>
          <p:cNvSpPr/>
          <p:nvPr/>
        </p:nvSpPr>
        <p:spPr>
          <a:xfrm>
            <a:off x="10058400" y="16002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censored off-tx</a:t>
            </a:r>
            <a:endParaRPr lang="en-US" sz="1000" dirty="0"/>
          </a:p>
        </p:txBody>
      </p:sp>
      <p:sp>
        <p:nvSpPr>
          <p:cNvPr id="43" name="Shape 41"/>
          <p:cNvSpPr/>
          <p:nvPr/>
        </p:nvSpPr>
        <p:spPr>
          <a:xfrm>
            <a:off x="11109960" y="1554480"/>
            <a:ext cx="868680" cy="320040"/>
          </a:xfrm>
          <a:prstGeom prst="roundRect">
            <a:avLst>
              <a:gd name="adj" fmla="val 42857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1109960" y="155448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91C1C"/>
                </a:solidFill>
              </a:rPr>
              <a:t>Donor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9464040" y="3520440"/>
            <a:ext cx="2423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18320" y="35204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</a:t>
            </a:r>
            <a:endParaRPr lang="en-US" sz="900" dirty="0"/>
          </a:p>
        </p:txBody>
      </p:sp>
      <p:sp>
        <p:nvSpPr>
          <p:cNvPr id="47" name="Text 45"/>
          <p:cNvSpPr/>
          <p:nvPr/>
        </p:nvSpPr>
        <p:spPr>
          <a:xfrm>
            <a:off x="11612880" y="35204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EOS</a:t>
            </a:r>
            <a:endParaRPr lang="en-US" sz="900" dirty="0"/>
          </a:p>
        </p:txBody>
      </p:sp>
      <p:sp>
        <p:nvSpPr>
          <p:cNvPr id="48" name="Shape 46"/>
          <p:cNvSpPr/>
          <p:nvPr/>
        </p:nvSpPr>
        <p:spPr>
          <a:xfrm>
            <a:off x="9555480" y="2971800"/>
            <a:ext cx="896112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10451592" y="2825496"/>
            <a:ext cx="0" cy="292608"/>
          </a:xfrm>
          <a:prstGeom prst="line">
            <a:avLst/>
          </a:prstGeom>
          <a:noFill/>
          <a:ln w="38100">
            <a:solidFill>
              <a:srgbClr val="64748B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>
            <a:off x="10451592" y="2971800"/>
            <a:ext cx="1344168" cy="0"/>
          </a:xfrm>
          <a:prstGeom prst="line">
            <a:avLst/>
          </a:prstGeom>
          <a:noFill/>
          <a:ln w="63500">
            <a:solidFill>
              <a:srgbClr val="DC262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11686032" y="2862072"/>
            <a:ext cx="219456" cy="219456"/>
          </a:xfrm>
          <a:prstGeom prst="ellipse">
            <a:avLst/>
          </a:prstGeom>
          <a:solidFill>
            <a:srgbClr val="FFFFFF"/>
          </a:solidFill>
          <a:ln w="31750">
            <a:solidFill>
              <a:srgbClr val="DC262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457200" y="3931920"/>
            <a:ext cx="288036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53" name="Text 51"/>
          <p:cNvSpPr/>
          <p:nvPr/>
        </p:nvSpPr>
        <p:spPr>
          <a:xfrm>
            <a:off x="640080" y="40690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P5</a:t>
            </a:r>
            <a:endParaRPr lang="en-US" sz="1600" dirty="0"/>
          </a:p>
        </p:txBody>
      </p:sp>
      <p:sp>
        <p:nvSpPr>
          <p:cNvPr id="54" name="Text 52"/>
          <p:cNvSpPr/>
          <p:nvPr/>
        </p:nvSpPr>
        <p:spPr>
          <a:xfrm>
            <a:off x="1280160" y="4114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offipday = 0</a:t>
            </a:r>
            <a:endParaRPr lang="en-US" sz="1000" dirty="0"/>
          </a:p>
        </p:txBody>
      </p:sp>
      <p:sp>
        <p:nvSpPr>
          <p:cNvPr id="55" name="Shape 53"/>
          <p:cNvSpPr/>
          <p:nvPr/>
        </p:nvSpPr>
        <p:spPr>
          <a:xfrm>
            <a:off x="2331720" y="4069080"/>
            <a:ext cx="868680" cy="320040"/>
          </a:xfrm>
          <a:prstGeom prst="roundRect">
            <a:avLst>
              <a:gd name="adj" fmla="val 42857"/>
            </a:avLst>
          </a:prstGeom>
          <a:solidFill>
            <a:srgbClr val="FEF3C7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331720" y="406908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Recipient</a:t>
            </a:r>
            <a:endParaRPr lang="en-US" sz="950" dirty="0"/>
          </a:p>
        </p:txBody>
      </p:sp>
      <p:sp>
        <p:nvSpPr>
          <p:cNvPr id="57" name="Shape 55"/>
          <p:cNvSpPr/>
          <p:nvPr/>
        </p:nvSpPr>
        <p:spPr>
          <a:xfrm>
            <a:off x="685800" y="6035040"/>
            <a:ext cx="2423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0080" y="60350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</a:t>
            </a:r>
            <a:endParaRPr lang="en-US" sz="900" dirty="0"/>
          </a:p>
        </p:txBody>
      </p:sp>
      <p:sp>
        <p:nvSpPr>
          <p:cNvPr id="59" name="Text 57"/>
          <p:cNvSpPr/>
          <p:nvPr/>
        </p:nvSpPr>
        <p:spPr>
          <a:xfrm>
            <a:off x="2834640" y="60350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EOS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777240" y="5340096"/>
            <a:ext cx="0" cy="292608"/>
          </a:xfrm>
          <a:prstGeom prst="line">
            <a:avLst/>
          </a:prstGeom>
          <a:noFill/>
          <a:ln w="38100">
            <a:solidFill>
              <a:srgbClr val="64748B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777240" y="5486400"/>
            <a:ext cx="2240280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3383280" y="3931920"/>
            <a:ext cx="288036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63" name="Text 61"/>
          <p:cNvSpPr/>
          <p:nvPr/>
        </p:nvSpPr>
        <p:spPr>
          <a:xfrm>
            <a:off x="3566160" y="40690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P6</a:t>
            </a:r>
            <a:endParaRPr lang="en-US" sz="1600" dirty="0"/>
          </a:p>
        </p:txBody>
      </p:sp>
      <p:sp>
        <p:nvSpPr>
          <p:cNvPr id="64" name="Text 62"/>
          <p:cNvSpPr/>
          <p:nvPr/>
        </p:nvSpPr>
        <p:spPr>
          <a:xfrm>
            <a:off x="4206240" y="4114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off-tx dropout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5257800" y="4069080"/>
            <a:ext cx="868680" cy="320040"/>
          </a:xfrm>
          <a:prstGeom prst="roundRect">
            <a:avLst>
              <a:gd name="adj" fmla="val 42857"/>
            </a:avLst>
          </a:prstGeom>
          <a:solidFill>
            <a:srgbClr val="EDE9FE"/>
          </a:solidFill>
          <a:ln w="12700">
            <a:solidFill>
              <a:srgbClr val="C4B5FD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257800" y="406908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7C3AED"/>
                </a:solidFill>
              </a:rPr>
              <a:t>Donor + Recip.</a:t>
            </a:r>
            <a:endParaRPr lang="en-US" sz="950" dirty="0"/>
          </a:p>
        </p:txBody>
      </p:sp>
      <p:sp>
        <p:nvSpPr>
          <p:cNvPr id="67" name="Shape 65"/>
          <p:cNvSpPr/>
          <p:nvPr/>
        </p:nvSpPr>
        <p:spPr>
          <a:xfrm>
            <a:off x="3611880" y="6035040"/>
            <a:ext cx="2423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566160" y="60350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</a:t>
            </a:r>
            <a:endParaRPr lang="en-US" sz="900" dirty="0"/>
          </a:p>
        </p:txBody>
      </p:sp>
      <p:sp>
        <p:nvSpPr>
          <p:cNvPr id="69" name="Text 67"/>
          <p:cNvSpPr/>
          <p:nvPr/>
        </p:nvSpPr>
        <p:spPr>
          <a:xfrm>
            <a:off x="5760720" y="60350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EOS</a:t>
            </a:r>
            <a:endParaRPr lang="en-US" sz="900" dirty="0"/>
          </a:p>
        </p:txBody>
      </p:sp>
      <p:sp>
        <p:nvSpPr>
          <p:cNvPr id="70" name="Shape 68"/>
          <p:cNvSpPr/>
          <p:nvPr/>
        </p:nvSpPr>
        <p:spPr>
          <a:xfrm>
            <a:off x="3703320" y="5486400"/>
            <a:ext cx="672084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4375404" y="5340096"/>
            <a:ext cx="0" cy="292608"/>
          </a:xfrm>
          <a:prstGeom prst="line">
            <a:avLst/>
          </a:prstGeom>
          <a:noFill/>
          <a:ln w="38100">
            <a:solidFill>
              <a:srgbClr val="64748B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4375404" y="5486400"/>
            <a:ext cx="784098" cy="0"/>
          </a:xfrm>
          <a:prstGeom prst="line">
            <a:avLst/>
          </a:prstGeom>
          <a:noFill/>
          <a:ln w="63500">
            <a:solidFill>
              <a:srgbClr val="DC262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159502" y="5486400"/>
            <a:ext cx="784098" cy="0"/>
          </a:xfrm>
          <a:prstGeom prst="line">
            <a:avLst/>
          </a:prstGeom>
          <a:noFill/>
          <a:ln w="25400">
            <a:solidFill>
              <a:srgbClr val="94A3B8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6309360" y="3931920"/>
            <a:ext cx="288036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75" name="Text 73"/>
          <p:cNvSpPr/>
          <p:nvPr/>
        </p:nvSpPr>
        <p:spPr>
          <a:xfrm>
            <a:off x="6492240" y="40690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P7</a:t>
            </a:r>
            <a:endParaRPr lang="en-US" sz="1600" dirty="0"/>
          </a:p>
        </p:txBody>
      </p:sp>
      <p:sp>
        <p:nvSpPr>
          <p:cNvPr id="76" name="Text 74"/>
          <p:cNvSpPr/>
          <p:nvPr/>
        </p:nvSpPr>
        <p:spPr>
          <a:xfrm>
            <a:off x="7132320" y="4114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non-CV death off-tx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183880" y="4069080"/>
            <a:ext cx="868680" cy="320040"/>
          </a:xfrm>
          <a:prstGeom prst="roundRect">
            <a:avLst>
              <a:gd name="adj" fmla="val 42857"/>
            </a:avLst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183880" y="406908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B91C1C"/>
                </a:solidFill>
              </a:rPr>
              <a:t>Donor</a:t>
            </a:r>
            <a:endParaRPr lang="en-US" sz="950" dirty="0"/>
          </a:p>
        </p:txBody>
      </p:sp>
      <p:sp>
        <p:nvSpPr>
          <p:cNvPr id="79" name="Shape 77"/>
          <p:cNvSpPr/>
          <p:nvPr/>
        </p:nvSpPr>
        <p:spPr>
          <a:xfrm>
            <a:off x="6537960" y="6035040"/>
            <a:ext cx="2423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6492240" y="60350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</a:t>
            </a:r>
            <a:endParaRPr lang="en-US" sz="900" dirty="0"/>
          </a:p>
        </p:txBody>
      </p:sp>
      <p:sp>
        <p:nvSpPr>
          <p:cNvPr id="81" name="Text 79"/>
          <p:cNvSpPr/>
          <p:nvPr/>
        </p:nvSpPr>
        <p:spPr>
          <a:xfrm>
            <a:off x="8686800" y="60350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EOS</a:t>
            </a:r>
            <a:endParaRPr lang="en-US" sz="900" dirty="0"/>
          </a:p>
        </p:txBody>
      </p:sp>
      <p:sp>
        <p:nvSpPr>
          <p:cNvPr id="82" name="Shape 80"/>
          <p:cNvSpPr/>
          <p:nvPr/>
        </p:nvSpPr>
        <p:spPr>
          <a:xfrm>
            <a:off x="6629400" y="5486400"/>
            <a:ext cx="784098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413498" y="5340096"/>
            <a:ext cx="0" cy="292608"/>
          </a:xfrm>
          <a:prstGeom prst="line">
            <a:avLst/>
          </a:prstGeom>
          <a:noFill/>
          <a:ln w="38100">
            <a:solidFill>
              <a:srgbClr val="64748B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413498" y="5486400"/>
            <a:ext cx="784098" cy="0"/>
          </a:xfrm>
          <a:prstGeom prst="line">
            <a:avLst/>
          </a:prstGeom>
          <a:noFill/>
          <a:ln w="63500">
            <a:solidFill>
              <a:srgbClr val="DC2626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8087868" y="5376672"/>
            <a:ext cx="219456" cy="219456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8087868" y="5596128"/>
            <a:ext cx="219456" cy="-219456"/>
          </a:xfrm>
          <a:prstGeom prst="line">
            <a:avLst/>
          </a:prstGeom>
          <a:noFill/>
          <a:ln w="38100">
            <a:solidFill>
              <a:srgbClr val="DC262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235440" y="3931920"/>
            <a:ext cx="2880360" cy="246888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25400" dir="2700000">
              <a:srgbClr val="000000">
                <a:alpha val="10000"/>
              </a:srgbClr>
            </a:outerShdw>
          </a:effectLst>
        </p:spPr>
      </p:sp>
      <p:sp>
        <p:nvSpPr>
          <p:cNvPr id="88" name="Text 86"/>
          <p:cNvSpPr/>
          <p:nvPr/>
        </p:nvSpPr>
        <p:spPr>
          <a:xfrm>
            <a:off x="9418320" y="4069080"/>
            <a:ext cx="731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93B"/>
                </a:solidFill>
              </a:rPr>
              <a:t>P8</a:t>
            </a:r>
            <a:endParaRPr lang="en-US" sz="1600" dirty="0"/>
          </a:p>
        </p:txBody>
      </p:sp>
      <p:sp>
        <p:nvSpPr>
          <p:cNvPr id="89" name="Text 87"/>
          <p:cNvSpPr/>
          <p:nvPr/>
        </p:nvSpPr>
        <p:spPr>
          <a:xfrm>
            <a:off x="10058400" y="4114800"/>
            <a:ext cx="1143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</a:rPr>
              <a:t>very short on-tx</a:t>
            </a:r>
            <a:endParaRPr lang="en-US" sz="1000" dirty="0"/>
          </a:p>
        </p:txBody>
      </p:sp>
      <p:sp>
        <p:nvSpPr>
          <p:cNvPr id="90" name="Shape 88"/>
          <p:cNvSpPr/>
          <p:nvPr/>
        </p:nvSpPr>
        <p:spPr>
          <a:xfrm>
            <a:off x="11109960" y="4069080"/>
            <a:ext cx="868680" cy="320040"/>
          </a:xfrm>
          <a:prstGeom prst="roundRect">
            <a:avLst>
              <a:gd name="adj" fmla="val 42857"/>
            </a:avLst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11109960" y="4069080"/>
            <a:ext cx="868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64748B"/>
                </a:solidFill>
              </a:rPr>
              <a:t>—</a:t>
            </a:r>
            <a:endParaRPr lang="en-US" sz="950" dirty="0"/>
          </a:p>
        </p:txBody>
      </p:sp>
      <p:sp>
        <p:nvSpPr>
          <p:cNvPr id="92" name="Shape 90"/>
          <p:cNvSpPr/>
          <p:nvPr/>
        </p:nvSpPr>
        <p:spPr>
          <a:xfrm>
            <a:off x="9464040" y="6035040"/>
            <a:ext cx="24231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418320" y="6035040"/>
            <a:ext cx="27432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R</a:t>
            </a:r>
            <a:endParaRPr lang="en-US" sz="900" dirty="0"/>
          </a:p>
        </p:txBody>
      </p:sp>
      <p:sp>
        <p:nvSpPr>
          <p:cNvPr id="94" name="Text 92"/>
          <p:cNvSpPr/>
          <p:nvPr/>
        </p:nvSpPr>
        <p:spPr>
          <a:xfrm>
            <a:off x="11612880" y="603504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EOS</a:t>
            </a:r>
            <a:endParaRPr lang="en-US" sz="900" dirty="0"/>
          </a:p>
        </p:txBody>
      </p:sp>
      <p:sp>
        <p:nvSpPr>
          <p:cNvPr id="95" name="Shape 93"/>
          <p:cNvSpPr/>
          <p:nvPr/>
        </p:nvSpPr>
        <p:spPr>
          <a:xfrm>
            <a:off x="9555480" y="5486400"/>
            <a:ext cx="336042" cy="0"/>
          </a:xfrm>
          <a:prstGeom prst="line">
            <a:avLst/>
          </a:prstGeom>
          <a:noFill/>
          <a:ln w="63500">
            <a:solidFill>
              <a:srgbClr val="2563EB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781794" y="5376672"/>
            <a:ext cx="219456" cy="219456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781794" y="5596128"/>
            <a:ext cx="219456" cy="-219456"/>
          </a:xfrm>
          <a:prstGeom prst="line">
            <a:avLst/>
          </a:prstGeom>
          <a:noFill/>
          <a:ln w="38100">
            <a:solidFill>
              <a:srgbClr val="2563EB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Retrieved-Dropout MI for TTE — Part 1</dc:title>
  <dc:subject>PptxGenJS Presentation</dc:subject>
  <dc:creator>PptxGenJS</dc:creator>
  <cp:lastModifiedBy>PptxGenJS</cp:lastModifiedBy>
  <cp:revision>1</cp:revision>
  <dcterms:created xsi:type="dcterms:W3CDTF">2026-07-02T01:31:22Z</dcterms:created>
  <dcterms:modified xsi:type="dcterms:W3CDTF">2026-07-02T01:31:22Z</dcterms:modified>
</cp:coreProperties>
</file>