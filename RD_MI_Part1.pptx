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2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62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12192000"/>
  <p:custDataLst>
    <p:tags r:id="rId15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 " initials="CV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4.xml"/><Relationship Id="rId14" Type="http://schemas.openxmlformats.org/officeDocument/2006/relationships/commentAuthors" Target="commentAuthors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76250" y="611188"/>
            <a:ext cx="5903913" cy="332105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sz="800">
                <a:solidFill>
                  <a:schemeClr val="bg2"/>
                </a:solidFill>
              </a:rPr>
              <a:t>Presentation title    |    ONLY FOR INTERNAL USE</a:t>
            </a:r>
            <a:endParaRPr lang="en-US" sz="800" dirty="0">
              <a:solidFill>
                <a:schemeClr val="bg2"/>
              </a:solidFill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88EF01-4040-4B6C-80FD-9D313BD6F632}" type="slidenum">
              <a:rPr lang="en-US" sz="800" smtClean="0">
                <a:solidFill>
                  <a:schemeClr val="bg2"/>
                </a:solidFill>
              </a:rPr>
            </a:fld>
            <a:endParaRPr lang="en-US" sz="8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dar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>
          <a:xfrm>
            <a:off x="479424" y="477000"/>
            <a:ext cx="11233151" cy="720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 err="1"/>
              <a:t>Folientitel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gray">
          <a:xfrm>
            <a:off x="479424" y="1412876"/>
            <a:ext cx="11233151" cy="4392000"/>
          </a:xfrm>
        </p:spPr>
        <p:txBody>
          <a:bodyPr/>
          <a:lstStyle>
            <a:lvl1pPr>
              <a:buClr>
                <a:schemeClr val="tx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tx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tx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tx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tx2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tx2"/>
              </a:buClr>
              <a:defRPr>
                <a:solidFill>
                  <a:schemeClr val="bg1"/>
                </a:solidFill>
              </a:defRPr>
            </a:lvl6pPr>
            <a:lvl7pPr>
              <a:buClr>
                <a:schemeClr val="tx2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tx2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tx2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Edit text by clicking. Use the "Increase/decrease list level" buttons on the Start tab to switch between the set up text levels. For an optional subheading, set the text in bold.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  <a:p>
            <a:pPr lvl="5"/>
            <a:r>
              <a:rPr lang="en-US"/>
              <a:t>Sixth level</a:t>
            </a:r>
            <a:endParaRPr lang="en-US"/>
          </a:p>
          <a:p>
            <a:pPr lvl="6"/>
            <a:r>
              <a:rPr lang="en-US"/>
              <a:t>Seventh level</a:t>
            </a:r>
            <a:endParaRPr lang="en-US"/>
          </a:p>
          <a:p>
            <a:pPr lvl="7"/>
            <a:r>
              <a:rPr lang="en-US"/>
              <a:t>Eighth level</a:t>
            </a:r>
            <a:endParaRPr lang="en-US"/>
          </a:p>
          <a:p>
            <a:pPr lvl="8"/>
            <a:r>
              <a:rPr lang="en-US"/>
              <a:t>Ninth level</a:t>
            </a:r>
            <a:endParaRPr lang="en-US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80000" y="5805280"/>
            <a:ext cx="11232000" cy="144000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800" b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800" b="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Footnote/Source</a:t>
            </a:r>
            <a:endParaRPr lang="en-US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4"/>
          </p:nvPr>
        </p:nvSpPr>
        <p:spPr bwMode="gray">
          <a:xfrm>
            <a:off x="6312024" y="6246836"/>
            <a:ext cx="5040560" cy="28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    |    ONLY FOR INTERNAL USE</a:t>
            </a:r>
            <a:endParaRPr lang="en-US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5"/>
          </p:nvPr>
        </p:nvSpPr>
        <p:spPr bwMode="gray">
          <a:xfrm>
            <a:off x="11424592" y="6246836"/>
            <a:ext cx="288000" cy="28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en-US" smtClean="0"/>
            </a:fld>
            <a:endParaRPr lang="en-US" dirty="0"/>
          </a:p>
        </p:txBody>
      </p: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479424" y="6165000"/>
            <a:ext cx="1234800" cy="372727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6.svg"/><Relationship Id="rId7" Type="http://schemas.openxmlformats.org/officeDocument/2006/relationships/image" Target="../media/image5.png"/><Relationship Id="rId6" Type="http://schemas.openxmlformats.org/officeDocument/2006/relationships/tags" Target="../tags/tag3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1.bin"/><Relationship Id="rId3" Type="http://schemas.openxmlformats.org/officeDocument/2006/relationships/tags" Target="../tags/tag2.xml"/><Relationship Id="rId2" Type="http://schemas.openxmlformats.org/officeDocument/2006/relationships/image" Target="../media/image3.jpeg"/><Relationship Id="rId11" Type="http://schemas.openxmlformats.org/officeDocument/2006/relationships/notesSlide" Target="../notesSlides/notesSlide2.xml"/><Relationship Id="rId10" Type="http://schemas.openxmlformats.org/officeDocument/2006/relationships/vmlDrawing" Target="../drawings/vmlDrawing1.v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80160"/>
            <a:ext cx="219456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" y="1207008"/>
            <a:ext cx="146304" cy="14630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35808" y="1207008"/>
            <a:ext cx="146304" cy="1463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11680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Retrieved-Dropout Multiple Imputation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i="1" dirty="0">
                <a:solidFill>
                  <a:srgbClr val="CADCF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for Time-to-Event Endpoints in CVOTs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14400" y="3931920"/>
            <a:ext cx="182880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11480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</a:rPr>
              <a:t>A method review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52628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</a:rPr>
              <a:t>He et al. (2023) · J Biopharm Stat 33:233–251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58521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Katrina Jiang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61722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2026-07-01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Bildplatzhalter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496" t="1582" r="-496" b="27007"/>
          <a:stretch>
            <a:fillRect/>
          </a:stretch>
        </p:blipFill>
        <p:spPr bwMode="gray">
          <a:xfrm>
            <a:off x="366409" y="1223807"/>
            <a:ext cx="2277803" cy="2277227"/>
          </a:xfrm>
          <a:prstGeom prst="ellipse">
            <a:avLst/>
          </a:prstGeom>
        </p:spPr>
      </p:pic>
      <p:graphicFrame>
        <p:nvGraphicFramePr>
          <p:cNvPr id="5" name="Obiekt 4" hidden="1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Folie" r:id="rId4" imgW="5715" imgH="5715" progId="TCLayout.ActiveDocument.1">
                  <p:embed/>
                </p:oleObj>
              </mc:Choice>
              <mc:Fallback>
                <p:oleObj name="think-cell Folie" r:id="rId4" imgW="5715" imgH="5715" progId="TCLayout.ActiveDocument.1">
                  <p:embed/>
                  <p:pic>
                    <p:nvPicPr>
                      <p:cNvPr id="0" name="Obiek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Rectangle 49" hidden="1"/>
          <p:cNvSpPr/>
          <p:nvPr>
            <p:custDataLst>
              <p:tags r:id="rId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 w="635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en-US" sz="3000" dirty="0">
              <a:latin typeface="Open Sans Extrabold" panose="020B0906030804020204" pitchFamily="34" charset="0"/>
              <a:ea typeface="Open Sans Extrabold" panose="020B0906030804020204" pitchFamily="34" charset="0"/>
              <a:cs typeface="Open Sans Extrabold" panose="020B0906030804020204" pitchFamily="34" charset="0"/>
              <a:sym typeface="Open Sans Extrabold" panose="020B0906030804020204" pitchFamily="34" charset="0"/>
            </a:endParaRPr>
          </a:p>
        </p:txBody>
      </p:sp>
      <p:sp>
        <p:nvSpPr>
          <p:cNvPr id="19" name="Titel 18"/>
          <p:cNvSpPr>
            <a:spLocks noGrp="1"/>
          </p:cNvSpPr>
          <p:nvPr>
            <p:ph type="title"/>
          </p:nvPr>
        </p:nvSpPr>
        <p:spPr bwMode="gray">
          <a:xfrm>
            <a:off x="367652" y="558728"/>
            <a:ext cx="1612490" cy="576000"/>
          </a:xfrm>
        </p:spPr>
        <p:txBody>
          <a:bodyPr/>
          <a:lstStyle/>
          <a:p>
            <a:r>
              <a:rPr lang="en-US" dirty="0"/>
              <a:t>About Me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 bwMode="invGray"/>
        <p:txBody>
          <a:bodyPr/>
          <a:lstStyle/>
          <a:p>
            <a:fld id="{8FF9B0DE-3FEB-4AA0-B465-B80EF7C1333D}" type="slidenum">
              <a:rPr lang="en-US" smtClean="0"/>
            </a:fld>
            <a:endParaRPr lang="en-US" dirty="0"/>
          </a:p>
        </p:txBody>
      </p:sp>
      <p:cxnSp>
        <p:nvCxnSpPr>
          <p:cNvPr id="15" name="Gerader Verbinder 26"/>
          <p:cNvCxnSpPr/>
          <p:nvPr/>
        </p:nvCxnSpPr>
        <p:spPr bwMode="gray">
          <a:xfrm flipV="1">
            <a:off x="408003" y="2564999"/>
            <a:ext cx="0" cy="864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9" name="Textplatzhalter 2"/>
          <p:cNvSpPr txBox="1"/>
          <p:nvPr/>
        </p:nvSpPr>
        <p:spPr bwMode="invGray">
          <a:xfrm>
            <a:off x="4954387" y="3449274"/>
            <a:ext cx="2665613" cy="81650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15900" indent="-21590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6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31800" indent="-21590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75945" indent="-21590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791845" indent="-21590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44145" indent="-144145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88290" indent="-142875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431800" indent="-144145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575945" indent="-144145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575945" indent="-144145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4" indent="0">
              <a:buNone/>
            </a:pPr>
            <a:r>
              <a:rPr lang="en-US" b="1" dirty="0"/>
              <a:t>MS in </a:t>
            </a:r>
            <a:r>
              <a:rPr lang="en-US" b="1" u="sng" dirty="0"/>
              <a:t>Medical Statistics</a:t>
            </a:r>
            <a:endParaRPr lang="en-US" b="1" u="sng" dirty="0"/>
          </a:p>
          <a:p>
            <a:pPr marL="0" lvl="4" indent="0">
              <a:buNone/>
            </a:pPr>
            <a:r>
              <a:rPr lang="en-US" b="1" dirty="0"/>
              <a:t>University of Southampton</a:t>
            </a:r>
            <a:endParaRPr lang="en-US" b="1" dirty="0"/>
          </a:p>
          <a:p>
            <a:pPr marL="0" lvl="4" indent="0">
              <a:buNone/>
            </a:pPr>
            <a:r>
              <a:rPr lang="en-US" b="1" dirty="0"/>
              <a:t>      Southampton, UK</a:t>
            </a:r>
            <a:endParaRPr lang="en-US" b="1" dirty="0"/>
          </a:p>
        </p:txBody>
      </p:sp>
      <p:sp>
        <p:nvSpPr>
          <p:cNvPr id="1110" name="Textplatzhalter 8"/>
          <p:cNvSpPr txBox="1"/>
          <p:nvPr/>
        </p:nvSpPr>
        <p:spPr bwMode="gray">
          <a:xfrm>
            <a:off x="2941688" y="1639064"/>
            <a:ext cx="754462" cy="341731"/>
          </a:xfrm>
          <a:prstGeom prst="rect">
            <a:avLst/>
          </a:prstGeom>
          <a:noFill/>
          <a:effectLst/>
        </p:spPr>
        <p:txBody>
          <a:bodyPr wrap="none" lIns="144000" tIns="0" rIns="0" bIns="0" anchor="b" anchorCtr="0"/>
          <a:lstStyle>
            <a:lvl1pPr marL="0" indent="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44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44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44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44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44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44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44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44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44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1400" dirty="0"/>
              <a:t>2017-2021</a:t>
            </a:r>
            <a:endParaRPr lang="en-US" sz="1400" dirty="0"/>
          </a:p>
        </p:txBody>
      </p:sp>
      <p:cxnSp>
        <p:nvCxnSpPr>
          <p:cNvPr id="1111" name="Gerader Verbinder 50"/>
          <p:cNvCxnSpPr/>
          <p:nvPr/>
        </p:nvCxnSpPr>
        <p:spPr bwMode="gray">
          <a:xfrm flipV="1">
            <a:off x="5686504" y="2679226"/>
            <a:ext cx="0" cy="864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2" name="Gerader Verbinder 315394"/>
          <p:cNvCxnSpPr/>
          <p:nvPr/>
        </p:nvCxnSpPr>
        <p:spPr bwMode="gray">
          <a:xfrm flipV="1">
            <a:off x="9502853" y="2679226"/>
            <a:ext cx="0" cy="864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3" name="Diamond 1112"/>
          <p:cNvSpPr/>
          <p:nvPr/>
        </p:nvSpPr>
        <p:spPr bwMode="gray">
          <a:xfrm>
            <a:off x="2854821" y="1777050"/>
            <a:ext cx="173736" cy="146304"/>
          </a:xfrm>
          <a:prstGeom prst="diamond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40000"/>
              </a:lnSpc>
            </a:pP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114" name="Textplatzhalter 8"/>
          <p:cNvSpPr txBox="1"/>
          <p:nvPr/>
        </p:nvSpPr>
        <p:spPr bwMode="gray">
          <a:xfrm>
            <a:off x="4803872" y="3101157"/>
            <a:ext cx="754462" cy="341731"/>
          </a:xfrm>
          <a:prstGeom prst="rect">
            <a:avLst/>
          </a:prstGeom>
          <a:noFill/>
          <a:effectLst/>
        </p:spPr>
        <p:txBody>
          <a:bodyPr wrap="none" lIns="144000" tIns="0" rIns="0" bIns="0" anchor="b" anchorCtr="0"/>
          <a:lstStyle>
            <a:lvl1pPr marL="0" indent="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44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44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44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44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44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44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44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44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44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1400" dirty="0"/>
              <a:t>2021-2022</a:t>
            </a:r>
            <a:endParaRPr lang="en-US" sz="1400" dirty="0"/>
          </a:p>
        </p:txBody>
      </p:sp>
      <p:sp>
        <p:nvSpPr>
          <p:cNvPr id="1115" name="Textplatzhalter 8"/>
          <p:cNvSpPr txBox="1"/>
          <p:nvPr/>
        </p:nvSpPr>
        <p:spPr bwMode="gray">
          <a:xfrm>
            <a:off x="6487668" y="1295400"/>
            <a:ext cx="754462" cy="341731"/>
          </a:xfrm>
          <a:prstGeom prst="rect">
            <a:avLst/>
          </a:prstGeom>
          <a:noFill/>
          <a:effectLst/>
        </p:spPr>
        <p:txBody>
          <a:bodyPr wrap="none" lIns="144000" tIns="0" rIns="0" bIns="0" anchor="b" anchorCtr="0"/>
          <a:lstStyle>
            <a:lvl1pPr marL="0" indent="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44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44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44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44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44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44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44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44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44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1400" dirty="0"/>
              <a:t>Jan 2023</a:t>
            </a:r>
            <a:endParaRPr lang="en-US" sz="1400" dirty="0"/>
          </a:p>
        </p:txBody>
      </p:sp>
      <p:sp>
        <p:nvSpPr>
          <p:cNvPr id="1117" name="Diamond 1116"/>
          <p:cNvSpPr/>
          <p:nvPr/>
        </p:nvSpPr>
        <p:spPr bwMode="gray">
          <a:xfrm>
            <a:off x="4717004" y="3256404"/>
            <a:ext cx="173736" cy="146304"/>
          </a:xfrm>
          <a:prstGeom prst="diamond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40000"/>
              </a:lnSpc>
            </a:pP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118" name="Textplatzhalter 2"/>
          <p:cNvSpPr txBox="1"/>
          <p:nvPr/>
        </p:nvSpPr>
        <p:spPr bwMode="invGray">
          <a:xfrm>
            <a:off x="3041129" y="2026457"/>
            <a:ext cx="2565463" cy="81650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15900" indent="-21590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6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31800" indent="-21590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75945" indent="-21590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791845" indent="-21590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44145" indent="-144145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88290" indent="-142875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431800" indent="-144145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575945" indent="-144145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575945" indent="-144145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4" indent="0">
              <a:buNone/>
            </a:pPr>
            <a:r>
              <a:rPr lang="en-US" b="1" dirty="0"/>
              <a:t>BS in </a:t>
            </a:r>
            <a:r>
              <a:rPr lang="en-US" b="1" u="sng" dirty="0"/>
              <a:t>Biostatistics</a:t>
            </a:r>
            <a:endParaRPr lang="en-US" b="1" u="sng" dirty="0"/>
          </a:p>
          <a:p>
            <a:pPr marL="0" lvl="4" indent="0">
              <a:buNone/>
            </a:pPr>
            <a:r>
              <a:rPr lang="en-US" b="1" dirty="0"/>
              <a:t>Nanjing Medical University</a:t>
            </a:r>
            <a:endParaRPr lang="en-US" b="1" dirty="0"/>
          </a:p>
          <a:p>
            <a:pPr marL="0" lvl="4" indent="0">
              <a:buNone/>
            </a:pPr>
            <a:r>
              <a:rPr lang="en-US" b="1" dirty="0"/>
              <a:t>      Nanjing, China</a:t>
            </a:r>
            <a:endParaRPr lang="en-US" b="1" dirty="0"/>
          </a:p>
        </p:txBody>
      </p:sp>
      <p:sp>
        <p:nvSpPr>
          <p:cNvPr id="1120" name="Diamond 1119"/>
          <p:cNvSpPr/>
          <p:nvPr/>
        </p:nvSpPr>
        <p:spPr bwMode="gray">
          <a:xfrm>
            <a:off x="6400799" y="1490827"/>
            <a:ext cx="173736" cy="146304"/>
          </a:xfrm>
          <a:prstGeom prst="diamond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40000"/>
              </a:lnSpc>
            </a:pP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127" name="Textplatzhalter 2"/>
          <p:cNvSpPr txBox="1"/>
          <p:nvPr/>
        </p:nvSpPr>
        <p:spPr bwMode="invGray">
          <a:xfrm>
            <a:off x="6567581" y="1659690"/>
            <a:ext cx="2556749" cy="81650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15900" indent="-21590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6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31800" indent="-21590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75945" indent="-21590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791845" indent="-21590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44145" indent="-144145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88290" indent="-142875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431800" indent="-144145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575945" indent="-144145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575945" indent="-144145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4" indent="0">
              <a:buNone/>
            </a:pPr>
            <a:r>
              <a:rPr lang="en-US" b="1" dirty="0"/>
              <a:t>PhD program in </a:t>
            </a:r>
            <a:r>
              <a:rPr lang="en-US" b="1" u="sng" dirty="0"/>
              <a:t>Biostatistics</a:t>
            </a:r>
            <a:endParaRPr lang="en-US" b="1" u="sng" dirty="0"/>
          </a:p>
          <a:p>
            <a:pPr marL="0" lvl="4" indent="0">
              <a:buNone/>
            </a:pPr>
            <a:r>
              <a:rPr lang="en-US" b="1" dirty="0"/>
              <a:t>Graduate Research Assistant</a:t>
            </a:r>
            <a:endParaRPr lang="en-US" b="1" dirty="0"/>
          </a:p>
          <a:p>
            <a:pPr marL="0" lvl="4" indent="0">
              <a:buNone/>
            </a:pPr>
            <a:r>
              <a:rPr lang="en-US" b="1" dirty="0"/>
              <a:t>The University of Iowa</a:t>
            </a:r>
            <a:endParaRPr lang="en-US" b="1" dirty="0"/>
          </a:p>
          <a:p>
            <a:pPr marL="0" lvl="4" indent="0">
              <a:buNone/>
            </a:pPr>
            <a:r>
              <a:rPr lang="en-US" b="1" dirty="0"/>
              <a:t>      Iowa City, IA, USA</a:t>
            </a:r>
            <a:endParaRPr lang="en-US" b="1" dirty="0"/>
          </a:p>
        </p:txBody>
      </p:sp>
      <p:sp>
        <p:nvSpPr>
          <p:cNvPr id="1129" name="Diamond 1128"/>
          <p:cNvSpPr/>
          <p:nvPr/>
        </p:nvSpPr>
        <p:spPr bwMode="gray">
          <a:xfrm>
            <a:off x="8450538" y="3267965"/>
            <a:ext cx="173736" cy="146304"/>
          </a:xfrm>
          <a:prstGeom prst="diamond">
            <a:avLst/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40000"/>
              </a:lnSpc>
            </a:pP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130" name="Textplatzhalter 2"/>
          <p:cNvSpPr txBox="1"/>
          <p:nvPr/>
        </p:nvSpPr>
        <p:spPr bwMode="invGray">
          <a:xfrm>
            <a:off x="8715817" y="3501835"/>
            <a:ext cx="2280759" cy="81650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15900" indent="-21590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6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31800" indent="-21590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75945" indent="-21590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791845" indent="-21590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44145" indent="-144145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88290" indent="-142875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431800" indent="-144145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575945" indent="-144145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575945" indent="-144145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4" indent="0">
              <a:buNone/>
            </a:pPr>
            <a:r>
              <a:rPr lang="en-US" b="1" dirty="0"/>
              <a:t>Clinical Data Scientist Co-Op</a:t>
            </a:r>
            <a:endParaRPr lang="en-US" b="1" dirty="0"/>
          </a:p>
          <a:p>
            <a:pPr marL="0" lvl="4" indent="0">
              <a:buNone/>
            </a:pPr>
            <a:r>
              <a:rPr lang="en-US" b="1" dirty="0"/>
              <a:t>      Remote</a:t>
            </a:r>
            <a:endParaRPr lang="en-US" b="1" dirty="0"/>
          </a:p>
        </p:txBody>
      </p:sp>
      <p:cxnSp>
        <p:nvCxnSpPr>
          <p:cNvPr id="1131" name="Straight Connector 1130"/>
          <p:cNvCxnSpPr/>
          <p:nvPr/>
        </p:nvCxnSpPr>
        <p:spPr bwMode="gray">
          <a:xfrm flipV="1">
            <a:off x="2957934" y="2957154"/>
            <a:ext cx="7691016" cy="6267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2" name="Straight Connector 1131"/>
          <p:cNvCxnSpPr/>
          <p:nvPr/>
        </p:nvCxnSpPr>
        <p:spPr bwMode="gray">
          <a:xfrm flipV="1">
            <a:off x="6487668" y="1619250"/>
            <a:ext cx="0" cy="1375183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3" name="Straight Connector 1132"/>
          <p:cNvCxnSpPr/>
          <p:nvPr/>
        </p:nvCxnSpPr>
        <p:spPr bwMode="gray">
          <a:xfrm flipH="1" flipV="1">
            <a:off x="2941689" y="1890864"/>
            <a:ext cx="6955" cy="1119115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4" name="Straight Connector 1133"/>
          <p:cNvCxnSpPr/>
          <p:nvPr/>
        </p:nvCxnSpPr>
        <p:spPr bwMode="gray">
          <a:xfrm flipV="1">
            <a:off x="8540953" y="2983874"/>
            <a:ext cx="0" cy="292726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5" name="Straight Connector 1134"/>
          <p:cNvCxnSpPr>
            <a:stCxn id="1114" idx="1"/>
          </p:cNvCxnSpPr>
          <p:nvPr/>
        </p:nvCxnSpPr>
        <p:spPr bwMode="gray">
          <a:xfrm flipV="1">
            <a:off x="4803872" y="3009429"/>
            <a:ext cx="0" cy="262594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8" name="Textplatzhalter 8"/>
          <p:cNvSpPr txBox="1"/>
          <p:nvPr/>
        </p:nvSpPr>
        <p:spPr bwMode="gray">
          <a:xfrm>
            <a:off x="10042097" y="1977186"/>
            <a:ext cx="1235503" cy="525841"/>
          </a:xfrm>
          <a:prstGeom prst="rect">
            <a:avLst/>
          </a:prstGeom>
          <a:noFill/>
          <a:effectLst/>
        </p:spPr>
        <p:txBody>
          <a:bodyPr wrap="none" lIns="144000" tIns="0" rIns="0" bIns="0" anchor="b" anchorCtr="0"/>
          <a:lstStyle>
            <a:lvl1pPr marL="0" indent="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44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44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44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44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44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44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44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44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44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1400" dirty="0"/>
              <a:t>Graduating</a:t>
            </a:r>
            <a:endParaRPr lang="en-US" sz="14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1400" dirty="0"/>
              <a:t>May 2027</a:t>
            </a:r>
            <a:endParaRPr lang="en-US" sz="1400" dirty="0"/>
          </a:p>
        </p:txBody>
      </p:sp>
      <p:cxnSp>
        <p:nvCxnSpPr>
          <p:cNvPr id="1139" name="Straight Connector 1138"/>
          <p:cNvCxnSpPr/>
          <p:nvPr/>
        </p:nvCxnSpPr>
        <p:spPr bwMode="gray">
          <a:xfrm flipV="1">
            <a:off x="10648950" y="2667000"/>
            <a:ext cx="0" cy="292608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0" name="Diamond 1139"/>
          <p:cNvSpPr/>
          <p:nvPr/>
        </p:nvSpPr>
        <p:spPr bwMode="gray">
          <a:xfrm>
            <a:off x="10562082" y="2520696"/>
            <a:ext cx="173736" cy="146304"/>
          </a:xfrm>
          <a:prstGeom prst="diamond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40000"/>
              </a:lnSpc>
            </a:pP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" name="Textplatzhalter 8"/>
          <p:cNvSpPr txBox="1"/>
          <p:nvPr/>
        </p:nvSpPr>
        <p:spPr bwMode="gray">
          <a:xfrm>
            <a:off x="8569779" y="3115160"/>
            <a:ext cx="754462" cy="341731"/>
          </a:xfrm>
          <a:prstGeom prst="rect">
            <a:avLst/>
          </a:prstGeom>
          <a:noFill/>
          <a:effectLst/>
        </p:spPr>
        <p:txBody>
          <a:bodyPr wrap="none" lIns="144000" tIns="0" rIns="0" bIns="0" anchor="b" anchorCtr="0"/>
          <a:lstStyle>
            <a:lvl1pPr marL="0" indent="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44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44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44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44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44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44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44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44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44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1400" dirty="0"/>
              <a:t>Jul 2025</a:t>
            </a:r>
            <a:endParaRPr lang="en-US" sz="1400" dirty="0"/>
          </a:p>
        </p:txBody>
      </p:sp>
      <p:pic>
        <p:nvPicPr>
          <p:cNvPr id="3" name="Graphic 2" descr="Marker with solid fill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74778" y="2677067"/>
            <a:ext cx="262018" cy="262018"/>
          </a:xfrm>
          <a:prstGeom prst="rect">
            <a:avLst/>
          </a:prstGeom>
        </p:spPr>
      </p:pic>
      <p:pic>
        <p:nvPicPr>
          <p:cNvPr id="4" name="Graphic 3" descr="Marker with solid fill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3541" y="2658468"/>
            <a:ext cx="262018" cy="262018"/>
          </a:xfrm>
          <a:prstGeom prst="rect">
            <a:avLst/>
          </a:prstGeom>
        </p:spPr>
      </p:pic>
      <p:pic>
        <p:nvPicPr>
          <p:cNvPr id="7" name="Graphic 6" descr="Marker with solid fill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90740" y="4096521"/>
            <a:ext cx="262018" cy="26201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 bwMode="gray">
          <a:xfrm>
            <a:off x="605817" y="4377230"/>
            <a:ext cx="6180666" cy="1256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lnSpc>
                <a:spcPct val="150000"/>
              </a:lnSpc>
              <a:buNone/>
            </a:pPr>
            <a:r>
              <a:rPr lang="en-US" sz="1600" b="1" i="0" u="none" strike="noStrike" dirty="0">
                <a:solidFill>
                  <a:srgbClr val="00E47C"/>
                </a:solidFill>
                <a:effectLst/>
                <a:latin typeface="Boehringer Forward Text" panose="02000500000000020000" pitchFamily="2" charset="0"/>
              </a:rPr>
              <a:t>Fangfang Jiang</a:t>
            </a:r>
            <a:endParaRPr lang="en-US" sz="105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fontAlgn="base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Boehringer Forward Text" panose="02000500000000020000" pitchFamily="2" charset="0"/>
              </a:rPr>
              <a:t>Clinical Data Science Co-Op​ at Biostatistics &amp; Data Sciences Team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Boehringer Forward Text" panose="02000500000000020000" pitchFamily="2" charset="0"/>
              </a:rPr>
              <a:t> </a:t>
            </a:r>
            <a:endParaRPr lang="en-US" sz="105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rtl="0" fontAlgn="base">
              <a:lnSpc>
                <a:spcPct val="150000"/>
              </a:lnSpc>
            </a:pPr>
            <a:r>
              <a:rPr lang="en-US" sz="1100" b="0" i="0" u="none" strike="noStrike" dirty="0">
                <a:solidFill>
                  <a:srgbClr val="FFFFFF"/>
                </a:solidFill>
                <a:effectLst/>
                <a:latin typeface="Boehringer Forward Text" panose="02000500000000020000" pitchFamily="2" charset="0"/>
              </a:rPr>
              <a:t>[ July 2025 – December 2025 ]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Boehringer Forward Text" panose="02000500000000020000" pitchFamily="2" charset="0"/>
              </a:rPr>
              <a:t>​</a:t>
            </a:r>
            <a:br>
              <a:rPr lang="en-US" sz="1050" b="0" i="0" dirty="0">
                <a:solidFill>
                  <a:srgbClr val="000000"/>
                </a:solidFill>
                <a:effectLst/>
                <a:latin typeface="Boehringer Forward Text" panose="02000500000000020000" pitchFamily="2" charset="0"/>
              </a:rPr>
            </a:br>
            <a:r>
              <a:rPr lang="en-US" sz="1050" dirty="0">
                <a:solidFill>
                  <a:srgbClr val="FFFFFF"/>
                </a:solidFill>
                <a:latin typeface="Boehringer Forward Text" panose="02000500000000020000" pitchFamily="2" charset="0"/>
              </a:rPr>
              <a:t>fangfang.jiang</a:t>
            </a:r>
            <a:r>
              <a:rPr lang="en-US" sz="1050" b="0" i="0" u="none" strike="noStrike" dirty="0">
                <a:solidFill>
                  <a:srgbClr val="FFFFFF"/>
                </a:solidFill>
                <a:effectLst/>
                <a:latin typeface="Boehringer Forward Text" panose="02000500000000020000" pitchFamily="2" charset="0"/>
              </a:rPr>
              <a:t>@boehringer-ingelheim.com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Boehringer Forward Text" panose="02000500000000020000" pitchFamily="2" charset="0"/>
              </a:rPr>
              <a:t>​</a:t>
            </a:r>
            <a:endParaRPr lang="en-US" sz="105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12" name="Graphic 11" descr="Marker with solid fill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35301" y="3825552"/>
            <a:ext cx="262018" cy="2620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problem: naive censoring is not enough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572000" cy="2377440"/>
          </a:xfrm>
          <a:prstGeom prst="roundRect">
            <a:avLst>
              <a:gd name="adj" fmla="val 30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23444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Cox PH's key assumption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645920"/>
            <a:ext cx="411480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93B"/>
                </a:solidFill>
              </a:rPr>
              <a:t>Non-informative censoring: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34155"/>
                </a:solidFill>
              </a:rPr>
              <a:t>given covariates X, censoring time C ⊥ event time T.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34155"/>
                </a:solidFill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34155"/>
                </a:solidFill>
              </a:rPr>
              <a:t>When this fails → hazard-ratio estimates are biased, </a:t>
            </a:r>
            <a:r>
              <a:rPr lang="en-US" sz="1300" b="1" dirty="0">
                <a:solidFill>
                  <a:srgbClr val="B91C1C"/>
                </a:solidFill>
              </a:rPr>
              <a:t>typically toward the null</a:t>
            </a:r>
            <a:r>
              <a:rPr lang="en-US" sz="1300" dirty="0">
                <a:solidFill>
                  <a:srgbClr val="334155"/>
                </a:solidFill>
              </a:rPr>
              <a:t> (high-risk patients get treated as if they were random censoring).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0" y="10972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When does dropout break this assumption?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03520" y="1554480"/>
            <a:ext cx="6400800" cy="777240"/>
          </a:xfrm>
          <a:prstGeom prst="roundRect">
            <a:avLst>
              <a:gd name="adj" fmla="val 705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40680" y="1627632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</a:rPr>
              <a:t>MCAR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55080" y="1627632"/>
            <a:ext cx="5257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Dropout independent of everything. </a:t>
            </a:r>
            <a:r>
              <a:rPr lang="en-US" sz="1200" i="1" dirty="0">
                <a:solidFill>
                  <a:srgbClr val="64748B"/>
                </a:solidFill>
              </a:rPr>
              <a:t>CVOT example: </a:t>
            </a:r>
            <a:r>
              <a:rPr lang="en-US" sz="1200" dirty="0">
                <a:solidFill>
                  <a:srgbClr val="334155"/>
                </a:solidFill>
              </a:rPr>
              <a:t>patient moves abroad, unrelated to health.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520" y="2423160"/>
            <a:ext cx="6400800" cy="777240"/>
          </a:xfrm>
          <a:prstGeom prst="roundRect">
            <a:avLst>
              <a:gd name="adj" fmla="val 7059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40680" y="2496312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</a:rPr>
              <a:t>MAR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5080" y="2496312"/>
            <a:ext cx="5257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Dropout depends only on observed covariates. </a:t>
            </a:r>
            <a:r>
              <a:rPr lang="en-US" sz="1200" i="1" dirty="0">
                <a:solidFill>
                  <a:srgbClr val="64748B"/>
                </a:solidFill>
              </a:rPr>
              <a:t>CVOT example: </a:t>
            </a:r>
            <a:r>
              <a:rPr lang="en-US" sz="1200" dirty="0">
                <a:solidFill>
                  <a:srgbClr val="334155"/>
                </a:solidFill>
              </a:rPr>
              <a:t>protocol-mandated dose reduction based on baseline eGFR.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03520" y="3291840"/>
            <a:ext cx="6400800" cy="91440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25400">
            <a:solidFill>
              <a:srgbClr val="FCA5A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40680" y="338328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</a:rPr>
              <a:t>MNAR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40680" y="37033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91C1C"/>
                </a:solidFill>
              </a:rPr>
              <a:t>this is us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37960" y="3401568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Dropout depends on </a:t>
            </a:r>
            <a:r>
              <a:rPr lang="en-US" sz="1200" i="1" dirty="0">
                <a:solidFill>
                  <a:srgbClr val="334155"/>
                </a:solidFill>
              </a:rPr>
              <a:t>unobserved </a:t>
            </a:r>
            <a:r>
              <a:rPr lang="en-US" sz="1200" dirty="0">
                <a:solidFill>
                  <a:srgbClr val="334155"/>
                </a:solidFill>
              </a:rPr>
              <a:t>event risk. 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CVOT example: </a:t>
            </a:r>
            <a:r>
              <a:rPr lang="en-US" sz="1200" dirty="0">
                <a:solidFill>
                  <a:srgbClr val="334155"/>
                </a:solidFill>
              </a:rPr>
              <a:t>SGLT2 trial — patient discontinues due to worsening renal function, </a:t>
            </a:r>
            <a:r>
              <a:rPr lang="en-US" sz="1200" dirty="0">
                <a:solidFill>
                  <a:srgbClr val="334155"/>
                </a:solidFill>
              </a:rPr>
              <a:t>which is on the causal pathway to the CV event.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617720"/>
            <a:ext cx="11247120" cy="1691640"/>
          </a:xfrm>
          <a:prstGeom prst="roundRect">
            <a:avLst>
              <a:gd name="adj" fmla="val 432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7548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706"/>
                </a:solidFill>
              </a:rPr>
              <a:t>Bottom line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5074920"/>
            <a:ext cx="1060704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In CVOTs, treatment discontinuation is almost always </a:t>
            </a:r>
            <a:r>
              <a:rPr lang="en-US" sz="1400" b="1" dirty="0">
                <a:solidFill>
                  <a:srgbClr val="D97706"/>
                </a:solidFill>
              </a:rPr>
              <a:t>MNAR</a:t>
            </a:r>
            <a:r>
              <a:rPr lang="en-US" sz="1400" dirty="0">
                <a:solidFill>
                  <a:srgbClr val="FFFFFF"/>
                </a:solidFill>
              </a:rPr>
              <a:t>. Naive censoring at discontinuation treats it as non-informative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→ biased HR (typically toward the null) and over-confident CIs.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CADCFC"/>
                </a:solidFill>
              </a:rPr>
              <a:t>We need a method that </a:t>
            </a:r>
            <a:r>
              <a:rPr lang="en-US" sz="1400" b="1" dirty="0">
                <a:solidFill>
                  <a:srgbClr val="FFFFFF"/>
                </a:solidFill>
              </a:rPr>
              <a:t>borrows information </a:t>
            </a:r>
            <a:r>
              <a:rPr lang="en-US" sz="1400" dirty="0">
                <a:solidFill>
                  <a:srgbClr val="CADCFC"/>
                </a:solidFill>
              </a:rPr>
              <a:t>from patients who discontinued but stayed in follow-up.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subject's timeline: what can happen on treatment?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Blue = on-treatment period. Each row shows one possible ending during on-tx.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Subject 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event on-tx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46504" y="1837944"/>
            <a:ext cx="164592" cy="16459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14173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972800" y="1719072"/>
            <a:ext cx="0" cy="402336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10607040" y="141732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EOS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0" y="1920240"/>
            <a:ext cx="4114800" cy="0"/>
          </a:xfrm>
          <a:prstGeom prst="line">
            <a:avLst/>
          </a:prstGeom>
          <a:noFill/>
          <a:ln w="6350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33872" y="1810512"/>
            <a:ext cx="219456" cy="219456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33872" y="1810512"/>
            <a:ext cx="219456" cy="219456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0" y="1627632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563EB"/>
                </a:solidFill>
              </a:rPr>
              <a:t>CV event on-treatment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063240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Subject 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33756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admin. censored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746504" y="3163824"/>
            <a:ext cx="164592" cy="16459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54480" y="27432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972800" y="3044952"/>
            <a:ext cx="0" cy="402336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0607040" y="27432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EOS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828800" y="3246120"/>
            <a:ext cx="9144000" cy="0"/>
          </a:xfrm>
          <a:prstGeom prst="line">
            <a:avLst/>
          </a:prstGeom>
          <a:noFill/>
          <a:ln w="63500">
            <a:solidFill>
              <a:srgbClr val="2563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863072" y="3136392"/>
            <a:ext cx="219456" cy="21945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0" y="2953512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563EB"/>
                </a:solidFill>
              </a:rPr>
              <a:t>censored at EOS on-tx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389120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Subject C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466344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discontinued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746504" y="4489704"/>
            <a:ext cx="164592" cy="16459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54480" y="4069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972800" y="4370832"/>
            <a:ext cx="0" cy="402336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0607040" y="406908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EOS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28800" y="4572000"/>
            <a:ext cx="3657600" cy="0"/>
          </a:xfrm>
          <a:prstGeom prst="line">
            <a:avLst/>
          </a:prstGeom>
          <a:noFill/>
          <a:ln w="63500">
            <a:solidFill>
              <a:srgbClr val="2563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0" y="4425696"/>
            <a:ext cx="0" cy="292608"/>
          </a:xfrm>
          <a:prstGeom prst="line">
            <a:avLst/>
          </a:prstGeom>
          <a:noFill/>
          <a:ln w="38100">
            <a:solidFill>
              <a:srgbClr val="64748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0" y="4572000"/>
            <a:ext cx="54864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4937760" y="4279392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93B"/>
                </a:solidFill>
              </a:rPr>
              <a:t>treatment discontinuation at offipday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035040" y="470916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97706"/>
                </a:solidFill>
              </a:rPr>
              <a:t>? what happens next →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5669280"/>
            <a:ext cx="1124712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6080760"/>
            <a:ext cx="457200" cy="0"/>
          </a:xfrm>
          <a:prstGeom prst="line">
            <a:avLst/>
          </a:prstGeom>
          <a:noFill/>
          <a:ln w="6350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25880" y="59436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on-tx period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70632" y="5971032"/>
            <a:ext cx="219456" cy="219456"/>
          </a:xfrm>
          <a:prstGeom prst="line">
            <a:avLst/>
          </a:prstGeom>
          <a:noFill/>
          <a:ln w="38100">
            <a:solidFill>
              <a:srgbClr val="3341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70632" y="5971032"/>
            <a:ext cx="219456" cy="219456"/>
          </a:xfrm>
          <a:prstGeom prst="line">
            <a:avLst/>
          </a:prstGeom>
          <a:noFill/>
          <a:ln w="3810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63240" y="59436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event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959352" y="5971032"/>
            <a:ext cx="219456" cy="21945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3341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51960" y="59436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censoring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532120" y="5934456"/>
            <a:ext cx="0" cy="292608"/>
          </a:xfrm>
          <a:prstGeom prst="line">
            <a:avLst/>
          </a:prstGeom>
          <a:noFill/>
          <a:ln w="38100">
            <a:solidFill>
              <a:srgbClr val="64748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69280" y="594360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tx discontinuation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543800" y="6080760"/>
            <a:ext cx="4572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8092440" y="594360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unknown / lost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9838944" y="5998464"/>
            <a:ext cx="164592" cy="164592"/>
          </a:xfrm>
          <a:prstGeom prst="ellipse">
            <a:avLst/>
          </a:prstGeom>
          <a:solidFill>
            <a:srgbClr val="1E293B"/>
          </a:solidFill>
        </p:spPr>
      </p:sp>
      <p:sp>
        <p:nvSpPr>
          <p:cNvPr id="49" name="Text 47"/>
          <p:cNvSpPr/>
          <p:nvPr/>
        </p:nvSpPr>
        <p:spPr>
          <a:xfrm>
            <a:off x="10104120" y="59436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R = randomization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After treatment discontinuation: two roads, then three fates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Red = off-treatment period. The dropout branch is where we lose information — that's what we need to impute.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Path 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drops out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46504" y="1792224"/>
            <a:ext cx="164592" cy="16459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13716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972800" y="1673352"/>
            <a:ext cx="0" cy="402336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10607040" y="13716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EOS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0" y="1874520"/>
            <a:ext cx="3200400" cy="0"/>
          </a:xfrm>
          <a:prstGeom prst="line">
            <a:avLst/>
          </a:prstGeom>
          <a:noFill/>
          <a:ln w="6350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1728216"/>
            <a:ext cx="0" cy="292608"/>
          </a:xfrm>
          <a:prstGeom prst="line">
            <a:avLst/>
          </a:prstGeom>
          <a:noFill/>
          <a:ln w="381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1874520"/>
            <a:ext cx="5943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4937760" y="1581912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91C1C"/>
                </a:solidFill>
              </a:rPr>
              <a:t>no post-disc data → RECIPIENT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834640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Path 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10896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event off-tx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746504" y="2935224"/>
            <a:ext cx="164592" cy="16459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54480" y="25146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972800" y="2816352"/>
            <a:ext cx="0" cy="402336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0607040" y="25146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EOS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828800" y="3017520"/>
            <a:ext cx="3200400" cy="0"/>
          </a:xfrm>
          <a:prstGeom prst="line">
            <a:avLst/>
          </a:prstGeom>
          <a:noFill/>
          <a:ln w="63500">
            <a:solidFill>
              <a:srgbClr val="2563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0" y="2871216"/>
            <a:ext cx="0" cy="292608"/>
          </a:xfrm>
          <a:prstGeom prst="line">
            <a:avLst/>
          </a:prstGeom>
          <a:noFill/>
          <a:ln w="3810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0" y="3017520"/>
            <a:ext cx="2743200" cy="0"/>
          </a:xfrm>
          <a:prstGeom prst="line">
            <a:avLst/>
          </a:prstGeom>
          <a:noFill/>
          <a:ln w="63500">
            <a:solidFill>
              <a:srgbClr val="DC26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62672" y="2907792"/>
            <a:ext cx="219456" cy="219456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62672" y="2907792"/>
            <a:ext cx="219456" cy="219456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0" y="2724912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C2626"/>
                </a:solidFill>
              </a:rPr>
              <a:t>CV event off-tx → DONOR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3977640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Path C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425196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censored off-tx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746504" y="4078224"/>
            <a:ext cx="164592" cy="16459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54480" y="36576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972800" y="3959352"/>
            <a:ext cx="0" cy="402336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0607040" y="36576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EOS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28800" y="4160520"/>
            <a:ext cx="3200400" cy="0"/>
          </a:xfrm>
          <a:prstGeom prst="line">
            <a:avLst/>
          </a:prstGeom>
          <a:noFill/>
          <a:ln w="63500">
            <a:solidFill>
              <a:srgbClr val="2563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0" y="4014216"/>
            <a:ext cx="0" cy="292608"/>
          </a:xfrm>
          <a:prstGeom prst="line">
            <a:avLst/>
          </a:prstGeom>
          <a:noFill/>
          <a:ln w="38100">
            <a:solidFill>
              <a:srgbClr val="64748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0" y="4160520"/>
            <a:ext cx="5943600" cy="0"/>
          </a:xfrm>
          <a:prstGeom prst="line">
            <a:avLst/>
          </a:prstGeom>
          <a:noFill/>
          <a:ln w="63500">
            <a:solidFill>
              <a:srgbClr val="DC262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863072" y="4050792"/>
            <a:ext cx="219456" cy="21945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0" y="3867912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C2626"/>
                </a:solidFill>
              </a:rPr>
              <a:t>censored at EOS off-tx → DONOR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5120640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Path D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7200" y="539496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drops out later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746504" y="5221224"/>
            <a:ext cx="164592" cy="16459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554480" y="48006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R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0972800" y="5102352"/>
            <a:ext cx="0" cy="402336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10607040" y="48006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EOS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828800" y="5303520"/>
            <a:ext cx="3200400" cy="0"/>
          </a:xfrm>
          <a:prstGeom prst="line">
            <a:avLst/>
          </a:prstGeom>
          <a:noFill/>
          <a:ln w="63500">
            <a:solidFill>
              <a:srgbClr val="2563E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29200" y="5157216"/>
            <a:ext cx="0" cy="292608"/>
          </a:xfrm>
          <a:prstGeom prst="line">
            <a:avLst/>
          </a:prstGeom>
          <a:noFill/>
          <a:ln w="38100">
            <a:solidFill>
              <a:srgbClr val="64748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029200" y="5303520"/>
            <a:ext cx="2286000" cy="0"/>
          </a:xfrm>
          <a:prstGeom prst="line">
            <a:avLst/>
          </a:prstGeom>
          <a:noFill/>
          <a:ln w="63500">
            <a:solidFill>
              <a:srgbClr val="DC262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315200" y="5303520"/>
            <a:ext cx="3657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dash"/>
          </a:ln>
        </p:spPr>
      </p:sp>
      <p:sp>
        <p:nvSpPr>
          <p:cNvPr id="49" name="Text 47"/>
          <p:cNvSpPr/>
          <p:nvPr/>
        </p:nvSpPr>
        <p:spPr>
          <a:xfrm>
            <a:off x="6400800" y="5010912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97706"/>
                </a:solidFill>
              </a:rPr>
              <a:t>partial off-tx obs., then lost → DONOR + RECIPIENT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57200" y="6172200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7240" y="621792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</a:rPr>
              <a:t>Key idea:  </a:t>
            </a:r>
            <a:r>
              <a:rPr lang="en-US" sz="1300" dirty="0">
                <a:solidFill>
                  <a:srgbClr val="334155"/>
                </a:solidFill>
              </a:rPr>
              <a:t>Paths B / C / D give us direct off-treatment observations we can use to impute what would happen to Path A.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Eight patterns (P1–P8) — option A: table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Rows correspond to Figure 1 of He et al. (2023). Donor set = {P2, P4, P6, P7} with offipday &gt; 0.  Recipient set = {P5, P6}.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457200" y="1417320"/>
          <a:ext cx="11247120" cy="3703320"/>
        </p:xfrm>
        <a:graphic>
          <a:graphicData uri="http://schemas.openxmlformats.org/drawingml/2006/table">
            <a:tbl>
              <a:tblPr/>
              <a:tblGrid>
                <a:gridCol w="914400"/>
                <a:gridCol w="2194560"/>
                <a:gridCol w="2468880"/>
                <a:gridCol w="3200400"/>
                <a:gridCol w="2468880"/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Pattern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On-treatment segment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Off-treatment segment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Terminal event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Role in imputation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P1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CV event on-tx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P2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observed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CV event off-tx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Donor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P3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censored at EOS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P4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observed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censored at EOS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Donor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P5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offipday = 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none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 follow-up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Recipient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P6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partial, then dropout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unknown after dropout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7C3AE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Donor + Recipient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P7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observed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non-CV death off-tx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Donor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P8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very short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negligible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event with essentially no off-tx obs.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598932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64748B"/>
                </a:solidFill>
              </a:rPr>
              <a:t>Note: </a:t>
            </a:r>
            <a:r>
              <a:rPr lang="en-US" sz="1100" i="1" dirty="0">
                <a:solidFill>
                  <a:srgbClr val="64748B"/>
                </a:solidFill>
              </a:rPr>
              <a:t>Rows P7 vs P8 differ in the length of the prior on-tx segment; only P7 contributes usable off-tx observation to the imputation model.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6446520"/>
            <a:ext cx="5394960" cy="320040"/>
          </a:xfrm>
          <a:prstGeom prst="roundRect">
            <a:avLst>
              <a:gd name="adj" fmla="val 14286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644652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1C1C"/>
                </a:solidFill>
              </a:rPr>
              <a:t>Donor set  </a:t>
            </a:r>
            <a:r>
              <a:rPr lang="en-US" sz="1100" dirty="0">
                <a:solidFill>
                  <a:srgbClr val="334155"/>
                </a:solidFill>
              </a:rPr>
              <a:t>→ used to fit the piecewise-exp imputation model (Step 1).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309360" y="6446520"/>
            <a:ext cx="5394960" cy="320040"/>
          </a:xfrm>
          <a:prstGeom prst="roundRect">
            <a:avLst>
              <a:gd name="adj" fmla="val 14286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46520" y="644652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Recipient set  </a:t>
            </a:r>
            <a:r>
              <a:rPr lang="en-US" sz="1100" dirty="0">
                <a:solidFill>
                  <a:srgbClr val="334155"/>
                </a:solidFill>
              </a:rPr>
              <a:t>→ their post-dropout survival is imputed (Step 2).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Eight patterns (P1–P8) — option B: mini-timelines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Same eight rows, drawn as thumbnail timelines. Colored badge = role in imputation.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880360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55448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P1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600200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event on-tx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31720" y="1554480"/>
            <a:ext cx="868680" cy="320040"/>
          </a:xfrm>
          <a:prstGeom prst="roundRect">
            <a:avLst>
              <a:gd name="adj" fmla="val 4285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1554480"/>
            <a:ext cx="868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4748B"/>
                </a:solidFill>
              </a:rPr>
              <a:t>—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" y="3520440"/>
            <a:ext cx="2423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520440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834640" y="3520440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EOS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77240" y="2971800"/>
            <a:ext cx="1232154" cy="0"/>
          </a:xfrm>
          <a:prstGeom prst="line">
            <a:avLst/>
          </a:prstGeom>
          <a:noFill/>
          <a:ln w="6350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99666" y="2862072"/>
            <a:ext cx="219456" cy="219456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99666" y="2862072"/>
            <a:ext cx="219456" cy="219456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83280" y="1417320"/>
            <a:ext cx="2880360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566160" y="155448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P2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206240" y="1600200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event off-tx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257800" y="1554480"/>
            <a:ext cx="868680" cy="320040"/>
          </a:xfrm>
          <a:prstGeom prst="roundRect">
            <a:avLst>
              <a:gd name="adj" fmla="val 42857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1554480"/>
            <a:ext cx="868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91C1C"/>
                </a:solidFill>
              </a:rPr>
              <a:t>Donor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11880" y="3520440"/>
            <a:ext cx="2423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3520440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760720" y="3520440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EOS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03320" y="2971800"/>
            <a:ext cx="784098" cy="0"/>
          </a:xfrm>
          <a:prstGeom prst="line">
            <a:avLst/>
          </a:prstGeom>
          <a:noFill/>
          <a:ln w="63500">
            <a:solidFill>
              <a:srgbClr val="2563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7418" y="2825496"/>
            <a:ext cx="0" cy="292608"/>
          </a:xfrm>
          <a:prstGeom prst="line">
            <a:avLst/>
          </a:prstGeom>
          <a:noFill/>
          <a:ln w="3810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87418" y="2971800"/>
            <a:ext cx="896112" cy="0"/>
          </a:xfrm>
          <a:prstGeom prst="line">
            <a:avLst/>
          </a:prstGeom>
          <a:noFill/>
          <a:ln w="63500">
            <a:solidFill>
              <a:srgbClr val="DC262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73802" y="2862072"/>
            <a:ext cx="219456" cy="219456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73802" y="2862072"/>
            <a:ext cx="219456" cy="219456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1417320"/>
            <a:ext cx="2880360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92240" y="155448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P3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132320" y="1600200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censored on-tx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183880" y="1554480"/>
            <a:ext cx="868680" cy="320040"/>
          </a:xfrm>
          <a:prstGeom prst="roundRect">
            <a:avLst>
              <a:gd name="adj" fmla="val 4285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83880" y="1554480"/>
            <a:ext cx="868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4748B"/>
                </a:solidFill>
              </a:rPr>
              <a:t>—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537960" y="3520440"/>
            <a:ext cx="2423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0" y="3520440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0" y="3520440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EOS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629400" y="2971800"/>
            <a:ext cx="2240280" cy="0"/>
          </a:xfrm>
          <a:prstGeom prst="line">
            <a:avLst/>
          </a:prstGeom>
          <a:noFill/>
          <a:ln w="63500">
            <a:solidFill>
              <a:srgbClr val="2563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759952" y="2862072"/>
            <a:ext cx="219456" cy="21945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563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235440" y="1417320"/>
            <a:ext cx="2880360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418320" y="155448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P4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058400" y="1600200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censored off-tx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1109960" y="1554480"/>
            <a:ext cx="868680" cy="320040"/>
          </a:xfrm>
          <a:prstGeom prst="roundRect">
            <a:avLst>
              <a:gd name="adj" fmla="val 42857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109960" y="1554480"/>
            <a:ext cx="868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91C1C"/>
                </a:solidFill>
              </a:rPr>
              <a:t>Donor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464040" y="3520440"/>
            <a:ext cx="2423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418320" y="3520440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R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612880" y="3520440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EOS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9555480" y="2971800"/>
            <a:ext cx="896112" cy="0"/>
          </a:xfrm>
          <a:prstGeom prst="line">
            <a:avLst/>
          </a:prstGeom>
          <a:noFill/>
          <a:ln w="63500">
            <a:solidFill>
              <a:srgbClr val="2563E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451592" y="2825496"/>
            <a:ext cx="0" cy="292608"/>
          </a:xfrm>
          <a:prstGeom prst="line">
            <a:avLst/>
          </a:prstGeom>
          <a:noFill/>
          <a:ln w="38100">
            <a:solidFill>
              <a:srgbClr val="64748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451592" y="2971800"/>
            <a:ext cx="1344168" cy="0"/>
          </a:xfrm>
          <a:prstGeom prst="line">
            <a:avLst/>
          </a:prstGeom>
          <a:noFill/>
          <a:ln w="63500">
            <a:solidFill>
              <a:srgbClr val="DC262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686032" y="2862072"/>
            <a:ext cx="219456" cy="21945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DC262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7200" y="3931920"/>
            <a:ext cx="2880360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40080" y="406908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P5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280160" y="4114800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offipday = 0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331720" y="4069080"/>
            <a:ext cx="868680" cy="320040"/>
          </a:xfrm>
          <a:prstGeom prst="roundRect">
            <a:avLst>
              <a:gd name="adj" fmla="val 42857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331720" y="4069080"/>
            <a:ext cx="868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97706"/>
                </a:solidFill>
              </a:rPr>
              <a:t>Recipient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85800" y="6035040"/>
            <a:ext cx="2423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0080" y="6035040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R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2834640" y="6035040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EOS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77240" y="5340096"/>
            <a:ext cx="0" cy="292608"/>
          </a:xfrm>
          <a:prstGeom prst="line">
            <a:avLst/>
          </a:prstGeom>
          <a:noFill/>
          <a:ln w="38100">
            <a:solidFill>
              <a:srgbClr val="64748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77240" y="5486400"/>
            <a:ext cx="22402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dash"/>
          </a:ln>
        </p:spPr>
      </p:sp>
      <p:sp>
        <p:nvSpPr>
          <p:cNvPr id="62" name="Shape 60"/>
          <p:cNvSpPr/>
          <p:nvPr/>
        </p:nvSpPr>
        <p:spPr>
          <a:xfrm>
            <a:off x="3383280" y="3931920"/>
            <a:ext cx="2880360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3566160" y="406908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P6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4206240" y="4114800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off-tx dropout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5257800" y="4069080"/>
            <a:ext cx="868680" cy="320040"/>
          </a:xfrm>
          <a:prstGeom prst="roundRect">
            <a:avLst>
              <a:gd name="adj" fmla="val 42857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257800" y="4069080"/>
            <a:ext cx="868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</a:rPr>
              <a:t>Donor + Recip.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3611880" y="6035040"/>
            <a:ext cx="2423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566160" y="6035040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R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760720" y="6035040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EOS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703320" y="5486400"/>
            <a:ext cx="672084" cy="0"/>
          </a:xfrm>
          <a:prstGeom prst="line">
            <a:avLst/>
          </a:prstGeom>
          <a:noFill/>
          <a:ln w="63500">
            <a:solidFill>
              <a:srgbClr val="2563E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375404" y="5340096"/>
            <a:ext cx="0" cy="292608"/>
          </a:xfrm>
          <a:prstGeom prst="line">
            <a:avLst/>
          </a:prstGeom>
          <a:noFill/>
          <a:ln w="38100">
            <a:solidFill>
              <a:srgbClr val="64748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375404" y="5486400"/>
            <a:ext cx="784098" cy="0"/>
          </a:xfrm>
          <a:prstGeom prst="line">
            <a:avLst/>
          </a:prstGeom>
          <a:noFill/>
          <a:ln w="63500">
            <a:solidFill>
              <a:srgbClr val="DC262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159502" y="5486400"/>
            <a:ext cx="78409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dash"/>
          </a:ln>
        </p:spPr>
      </p:sp>
      <p:sp>
        <p:nvSpPr>
          <p:cNvPr id="74" name="Shape 72"/>
          <p:cNvSpPr/>
          <p:nvPr/>
        </p:nvSpPr>
        <p:spPr>
          <a:xfrm>
            <a:off x="6309360" y="3931920"/>
            <a:ext cx="2880360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6492240" y="406908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P7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7132320" y="4114800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non-CV death off-tx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8183880" y="4069080"/>
            <a:ext cx="868680" cy="320040"/>
          </a:xfrm>
          <a:prstGeom prst="roundRect">
            <a:avLst>
              <a:gd name="adj" fmla="val 42857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183880" y="4069080"/>
            <a:ext cx="868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91C1C"/>
                </a:solidFill>
              </a:rPr>
              <a:t>Donor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6537960" y="6035040"/>
            <a:ext cx="2423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492240" y="6035040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R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8686800" y="6035040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EOS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629400" y="5486400"/>
            <a:ext cx="784098" cy="0"/>
          </a:xfrm>
          <a:prstGeom prst="line">
            <a:avLst/>
          </a:prstGeom>
          <a:noFill/>
          <a:ln w="63500">
            <a:solidFill>
              <a:srgbClr val="2563E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413498" y="5340096"/>
            <a:ext cx="0" cy="292608"/>
          </a:xfrm>
          <a:prstGeom prst="line">
            <a:avLst/>
          </a:prstGeom>
          <a:noFill/>
          <a:ln w="38100">
            <a:solidFill>
              <a:srgbClr val="64748B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413498" y="5486400"/>
            <a:ext cx="784098" cy="0"/>
          </a:xfrm>
          <a:prstGeom prst="line">
            <a:avLst/>
          </a:prstGeom>
          <a:noFill/>
          <a:ln w="63500">
            <a:solidFill>
              <a:srgbClr val="DC262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087868" y="5376672"/>
            <a:ext cx="219456" cy="219456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087868" y="5376672"/>
            <a:ext cx="219456" cy="219456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235440" y="3931920"/>
            <a:ext cx="2880360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8" name="Text 86"/>
          <p:cNvSpPr/>
          <p:nvPr/>
        </p:nvSpPr>
        <p:spPr>
          <a:xfrm>
            <a:off x="9418320" y="406908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P8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10058400" y="4114800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very short on-tx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11109960" y="4069080"/>
            <a:ext cx="868680" cy="320040"/>
          </a:xfrm>
          <a:prstGeom prst="roundRect">
            <a:avLst>
              <a:gd name="adj" fmla="val 4285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1109960" y="4069080"/>
            <a:ext cx="868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4748B"/>
                </a:solidFill>
              </a:rPr>
              <a:t>—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9464040" y="6035040"/>
            <a:ext cx="2423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418320" y="6035040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R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11612880" y="6035040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EOS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9555480" y="5486400"/>
            <a:ext cx="336042" cy="0"/>
          </a:xfrm>
          <a:prstGeom prst="line">
            <a:avLst/>
          </a:prstGeom>
          <a:noFill/>
          <a:ln w="63500">
            <a:solidFill>
              <a:srgbClr val="2563EB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781794" y="5376672"/>
            <a:ext cx="219456" cy="219456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781794" y="5376672"/>
            <a:ext cx="219456" cy="219456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VCTCREATESHAPEHANDLED" val="0"/>
</p:tagLst>
</file>

<file path=ppt/tags/tag2.xml><?xml version="1.0" encoding="utf-8"?>
<p:tagLst xmlns:p="http://schemas.openxmlformats.org/presentationml/2006/main">
  <p:tag name="THINKCELLSHAPEDONOTDELETE" val="thinkcellActiveDocDoNotDelete"/>
</p:tagLst>
</file>

<file path=ppt/tags/tag3.xml><?xml version="1.0" encoding="utf-8"?>
<p:tagLst xmlns:p="http://schemas.openxmlformats.org/presentationml/2006/main">
  <p:tag name="THINKCELLSHAPEDONOTDELETE" val="trqd2V2Org5mpMtT4zjNzDA"/>
</p:tagLst>
</file>

<file path=ppt/tags/tag4.xml><?xml version="1.0" encoding="utf-8"?>
<p:tagLst xmlns:p="http://schemas.openxmlformats.org/presentationml/2006/main">
  <p:tag name="commondata" val="eyJoZGlkIjoiZTYxNjUyMTQ2NjdhYWQzODIyOGVkZDMwNTQxOGIyNjI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3720</Words>
  <Application>WPS 演示</Application>
  <PresentationFormat>On-screen Show (16:9)</PresentationFormat>
  <Paragraphs>368</Paragraphs>
  <Slides>7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30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DengXian</vt:lpstr>
      <vt:lpstr>Open Sans Extrabold</vt:lpstr>
      <vt:lpstr>Boehringer Forward Text</vt:lpstr>
      <vt:lpstr>Segoe UI Symbol</vt:lpstr>
      <vt:lpstr>Segoe UI</vt:lpstr>
      <vt:lpstr>Calibri Light</vt:lpstr>
      <vt:lpstr>Yu Gothic UI Semibold</vt:lpstr>
      <vt:lpstr>MiSans Normal</vt:lpstr>
      <vt:lpstr>演示秋鸿楷</vt:lpstr>
      <vt:lpstr>汉仪大宋简</vt:lpstr>
      <vt:lpstr>Office Theme</vt:lpstr>
      <vt:lpstr>TCLayout.ActiveDocument.1</vt:lpstr>
      <vt:lpstr>PowerPoint 演示文稿</vt:lpstr>
      <vt:lpstr>About 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Retrieved-Dropout MI for TTE — Part 1</dc:title>
  <dc:creator>PptxGenJS</dc:creator>
  <dc:subject>PptxGenJS Presentation</dc:subject>
  <cp:lastModifiedBy>姜竹本</cp:lastModifiedBy>
  <cp:revision>3</cp:revision>
  <dcterms:created xsi:type="dcterms:W3CDTF">2026-07-02T01:31:00Z</dcterms:created>
  <dcterms:modified xsi:type="dcterms:W3CDTF">2026-07-07T07:09:24Z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55850B87D1F44CDBA5AF8B1137E85C62_12</vt:lpwstr>
  </property>
  <property fmtid="{D5CDD505-2E9C-101B-9397-08002B2CF9AE}" pid="3" name="KSOProductBuildVer">
    <vt:lpwstr>2052-12.1.0.16929</vt:lpwstr>
  </property>
</Properties>
</file>